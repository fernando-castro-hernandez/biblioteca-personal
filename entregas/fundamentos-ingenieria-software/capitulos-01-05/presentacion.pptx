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xml version='1.0' encoding='utf-8'?>
<ns0:Relationships xmlns:ns0="http://schemas.openxmlformats.org/package/2006/relationships"><ns0:Relationship Id="rId3" Type="http://schemas.openxmlformats.org/package/2006/relationships/metadata/core-properties" Target="docProps/core.xml" /><ns0:Relationship Id="rId1" Type="http://schemas.openxmlformats.org/officeDocument/2006/relationships/officeDocument" Target="ppt/presentation.xml" /><ns0:Relationship Id="rId5" Type="http://schemas.openxmlformats.org/officeDocument/2006/relationships/custom-properties" Target="docProps/custom.xml" /><ns0:Relationship Id="rId4" Type="http://schemas.openxmlformats.org/officeDocument/2006/relationships/extended-properties" Target="docProps/app.xml" /></ns0:Relationships>
</file>

<file path=ppt/presentation.xml><?xml version="1.0" encoding="utf-8"?>
<p:presentation xmlns:a="http://schemas.openxmlformats.org/drawingml/2006/main" xmlns:ns3="http://schemas.microsoft.com/office/powerpoint/2012/main" xmlns:p="http://schemas.openxmlformats.org/presentationml/2006/main" xmlns:r="http://schemas.openxmlformats.org/officeDocument/2006/relationships" showSpecialPlsOnTitleSld="0" saveSubsetFonts="1" autoCompressPictures="0">
  <p:sldMasterIdLst>
    <p:sldMasterId id="2147483693" r:id="rId5"/>
  </p:sldMasterIdLst>
  <p:notesMasterIdLst>
    <p:notesMasterId r:id="rId14"/>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 id="271" r:id="rIdSlide16"/>
    <p:sldId id="272" r:id="rIdSlide17"/>
    <p:sldId id="273" r:id="rIdSlide18"/>
    <p:sldId id="274" r:id="rIdSlide19"/>
    <p:sldId id="275" r:id="rIdSlide20"/>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ns3: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204E"/>
    <a:srgbClr val="002060"/>
    <a:srgbClr val="752D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5902D2-1422-4D73-A01F-19A151E08B5E}" v="3" dt="2025-11-19T14:28:52.0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6327"/>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2008" cy="72008"/>
</p:viewPr>
</file>

<file path=ppt/_rels/presentation.xml.rels><?xml version='1.0' encoding='utf-8'?>
<ns0:Relationships xmlns:ns0="http://schemas.openxmlformats.org/package/2006/relationships"><ns0:Relationship Id="rId18" Type="http://schemas.openxmlformats.org/officeDocument/2006/relationships/tableStyles" Target="tableStyles.xml" /><ns0:Relationship Id="rId3" Type="http://schemas.openxmlformats.org/officeDocument/2006/relationships/customXml" Target="../customXml/item3.xml" /><ns0:Relationship Id="rId17" Type="http://schemas.openxmlformats.org/officeDocument/2006/relationships/theme" Target="theme/theme1.xml" /><ns0:Relationship Id="rId2" Type="http://schemas.openxmlformats.org/officeDocument/2006/relationships/customXml" Target="../customXml/item2.xml" /><ns0:Relationship Id="rId16" Type="http://schemas.openxmlformats.org/officeDocument/2006/relationships/viewProps" Target="viewProps.xml" /><ns0:Relationship Id="rId20" Type="http://schemas.microsoft.com/office/2015/10/relationships/revisionInfo" Target="revisionInfo.xml" /><ns0:Relationship Id="rId5" Type="http://schemas.openxmlformats.org/officeDocument/2006/relationships/slideMaster" Target="slideMasters/slideMaster1.xml" /><ns0:Relationship Id="rId15" Type="http://schemas.openxmlformats.org/officeDocument/2006/relationships/presProps" Target="presProps.xml" /><ns0:Relationship Id="rId19" Type="http://schemas.microsoft.com/office/2016/11/relationships/changesInfo" Target="changesInfos/changesInfo1.xml" /><ns0:Relationship Id="rId4" Type="http://schemas.openxmlformats.org/officeDocument/2006/relationships/customXml" Target="../customXml/item4.xml" /><ns0:Relationship Id="rId14" Type="http://schemas.openxmlformats.org/officeDocument/2006/relationships/notesMaster" Target="notesMasters/notesMaster1.xml" /><ns0:Relationship Id="rIdSlide1" Type="http://schemas.openxmlformats.org/officeDocument/2006/relationships/slide" Target="slides/slide1.xml" /><ns0:Relationship Id="rIdSlide2" Type="http://schemas.openxmlformats.org/officeDocument/2006/relationships/slide" Target="slides/slide2.xml" /><ns0:Relationship Id="rIdSlide3" Type="http://schemas.openxmlformats.org/officeDocument/2006/relationships/slide" Target="slides/slide3.xml" /><ns0:Relationship Id="rIdSlide4" Type="http://schemas.openxmlformats.org/officeDocument/2006/relationships/slide" Target="slides/slide4.xml" /><ns0:Relationship Id="rIdSlide5" Type="http://schemas.openxmlformats.org/officeDocument/2006/relationships/slide" Target="slides/slide5.xml" /><ns0:Relationship Id="rIdSlide6" Type="http://schemas.openxmlformats.org/officeDocument/2006/relationships/slide" Target="slides/slide6.xml" /><ns0:Relationship Id="rIdSlide7" Type="http://schemas.openxmlformats.org/officeDocument/2006/relationships/slide" Target="slides/slide7.xml" /><ns0:Relationship Id="rIdSlide8" Type="http://schemas.openxmlformats.org/officeDocument/2006/relationships/slide" Target="slides/slide8.xml" /><ns0:Relationship Id="rIdSlide9" Type="http://schemas.openxmlformats.org/officeDocument/2006/relationships/slide" Target="slides/slide9.xml" /><ns0:Relationship Id="rIdSlide10" Type="http://schemas.openxmlformats.org/officeDocument/2006/relationships/slide" Target="slides/slide10.xml" /><ns0:Relationship Id="rIdSlide11" Type="http://schemas.openxmlformats.org/officeDocument/2006/relationships/slide" Target="slides/slide11.xml" /><ns0:Relationship Id="rIdSlide12" Type="http://schemas.openxmlformats.org/officeDocument/2006/relationships/slide" Target="slides/slide12.xml" /><ns0:Relationship Id="rIdSlide13" Type="http://schemas.openxmlformats.org/officeDocument/2006/relationships/slide" Target="slides/slide13.xml" /><ns0:Relationship Id="rIdSlide14" Type="http://schemas.openxmlformats.org/officeDocument/2006/relationships/slide" Target="slides/slide14.xml" /><ns0:Relationship Id="rIdSlide15" Type="http://schemas.openxmlformats.org/officeDocument/2006/relationships/slide" Target="slides/slide15.xml" /><ns0:Relationship Id="rIdSlide16" Type="http://schemas.openxmlformats.org/officeDocument/2006/relationships/slide" Target="slides/slide16.xml" /><ns0:Relationship Id="rIdSlide17" Type="http://schemas.openxmlformats.org/officeDocument/2006/relationships/slide" Target="slides/slide17.xml" /><ns0:Relationship Id="rIdSlide18" Type="http://schemas.openxmlformats.org/officeDocument/2006/relationships/slide" Target="slides/slide18.xml" /><ns0:Relationship Id="rIdSlide19" Type="http://schemas.openxmlformats.org/officeDocument/2006/relationships/slide" Target="slides/slide19.xml" /><ns0:Relationship Id="rIdSlide20" Type="http://schemas.openxmlformats.org/officeDocument/2006/relationships/slide" Target="slides/slide20.xml" /></ns0: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ina Isabel Carrillo Espadas" userId="b41b3460-1540-4679-a92b-f0b65460a6b3" providerId="ADAL" clId="{3E502E24-2A8D-4B2B-928A-CA86D2F8E810}"/>
    <pc:docChg chg="custSel addSld delSld modSld">
      <pc:chgData name="Paulina Isabel Carrillo Espadas" userId="b41b3460-1540-4679-a92b-f0b65460a6b3" providerId="ADAL" clId="{3E502E24-2A8D-4B2B-928A-CA86D2F8E810}" dt="2025-11-19T14:29:23.194" v="2016" actId="47"/>
      <pc:docMkLst>
        <pc:docMk/>
      </pc:docMkLst>
      <pc:sldChg chg="modSp mod">
        <pc:chgData name="Paulina Isabel Carrillo Espadas" userId="b41b3460-1540-4679-a92b-f0b65460a6b3" providerId="ADAL" clId="{3E502E24-2A8D-4B2B-928A-CA86D2F8E810}" dt="2025-11-19T14:16:20.627" v="108" actId="1076"/>
        <pc:sldMkLst>
          <pc:docMk/>
          <pc:sldMk cId="2485575833" sldId="256"/>
        </pc:sldMkLst>
        <pc:spChg chg="mod">
          <ac:chgData name="Paulina Isabel Carrillo Espadas" userId="b41b3460-1540-4679-a92b-f0b65460a6b3" providerId="ADAL" clId="{3E502E24-2A8D-4B2B-928A-CA86D2F8E810}" dt="2025-11-19T14:16:17.143" v="106" actId="1076"/>
          <ac:spMkLst>
            <pc:docMk/>
            <pc:sldMk cId="2485575833" sldId="256"/>
            <ac:spMk id="2" creationId="{4586CCDD-9D6A-6543-95CA-ABE9EF886A9A}"/>
          </ac:spMkLst>
        </pc:spChg>
        <pc:spChg chg="mod">
          <ac:chgData name="Paulina Isabel Carrillo Espadas" userId="b41b3460-1540-4679-a92b-f0b65460a6b3" providerId="ADAL" clId="{3E502E24-2A8D-4B2B-928A-CA86D2F8E810}" dt="2025-11-19T14:16:20.627" v="108" actId="1076"/>
          <ac:spMkLst>
            <pc:docMk/>
            <pc:sldMk cId="2485575833" sldId="256"/>
            <ac:spMk id="3" creationId="{3C6AD877-2192-8D4E-BA0F-C53F31132824}"/>
          </ac:spMkLst>
        </pc:spChg>
      </pc:sldChg>
      <pc:sldChg chg="modSp mod">
        <pc:chgData name="Paulina Isabel Carrillo Espadas" userId="b41b3460-1540-4679-a92b-f0b65460a6b3" providerId="ADAL" clId="{3E502E24-2A8D-4B2B-928A-CA86D2F8E810}" dt="2025-11-19T14:19:24.198" v="553" actId="20577"/>
        <pc:sldMkLst>
          <pc:docMk/>
          <pc:sldMk cId="3588295322" sldId="257"/>
        </pc:sldMkLst>
        <pc:spChg chg="mod">
          <ac:chgData name="Paulina Isabel Carrillo Espadas" userId="b41b3460-1540-4679-a92b-f0b65460a6b3" providerId="ADAL" clId="{3E502E24-2A8D-4B2B-928A-CA86D2F8E810}" dt="2025-11-19T14:16:34.687" v="128" actId="113"/>
          <ac:spMkLst>
            <pc:docMk/>
            <pc:sldMk cId="3588295322" sldId="257"/>
            <ac:spMk id="2" creationId="{81EFD757-28B9-5F49-918A-F777E357C8A3}"/>
          </ac:spMkLst>
        </pc:spChg>
        <pc:spChg chg="mod">
          <ac:chgData name="Paulina Isabel Carrillo Espadas" userId="b41b3460-1540-4679-a92b-f0b65460a6b3" providerId="ADAL" clId="{3E502E24-2A8D-4B2B-928A-CA86D2F8E810}" dt="2025-11-19T14:19:24.198" v="553" actId="20577"/>
          <ac:spMkLst>
            <pc:docMk/>
            <pc:sldMk cId="3588295322" sldId="257"/>
            <ac:spMk id="3" creationId="{25E04E84-3415-3048-BAED-0306408247F5}"/>
          </ac:spMkLst>
        </pc:spChg>
        <pc:spChg chg="mod">
          <ac:chgData name="Paulina Isabel Carrillo Espadas" userId="b41b3460-1540-4679-a92b-f0b65460a6b3" providerId="ADAL" clId="{3E502E24-2A8D-4B2B-928A-CA86D2F8E810}" dt="2025-11-19T14:15:47.511" v="79" actId="255"/>
          <ac:spMkLst>
            <pc:docMk/>
            <pc:sldMk cId="3588295322" sldId="257"/>
            <ac:spMk id="4" creationId="{5DB78AC3-3A86-5D49-B56A-B4CE195F6EC7}"/>
          </ac:spMkLst>
        </pc:spChg>
      </pc:sldChg>
      <pc:sldChg chg="del">
        <pc:chgData name="Paulina Isabel Carrillo Espadas" userId="b41b3460-1540-4679-a92b-f0b65460a6b3" providerId="ADAL" clId="{3E502E24-2A8D-4B2B-928A-CA86D2F8E810}" dt="2025-11-19T14:27:05.396" v="1773" actId="47"/>
        <pc:sldMkLst>
          <pc:docMk/>
          <pc:sldMk cId="2225780764" sldId="258"/>
        </pc:sldMkLst>
      </pc:sldChg>
      <pc:sldChg chg="modSp mod">
        <pc:chgData name="Paulina Isabel Carrillo Espadas" userId="b41b3460-1540-4679-a92b-f0b65460a6b3" providerId="ADAL" clId="{3E502E24-2A8D-4B2B-928A-CA86D2F8E810}" dt="2025-11-19T14:28:08.284" v="1969" actId="20577"/>
        <pc:sldMkLst>
          <pc:docMk/>
          <pc:sldMk cId="2644391213" sldId="259"/>
        </pc:sldMkLst>
        <pc:spChg chg="mod">
          <ac:chgData name="Paulina Isabel Carrillo Espadas" userId="b41b3460-1540-4679-a92b-f0b65460a6b3" providerId="ADAL" clId="{3E502E24-2A8D-4B2B-928A-CA86D2F8E810}" dt="2025-11-19T14:27:42.496" v="1866" actId="113"/>
          <ac:spMkLst>
            <pc:docMk/>
            <pc:sldMk cId="2644391213" sldId="259"/>
            <ac:spMk id="2" creationId="{93780307-A870-0249-AB2E-ECCD25D45D48}"/>
          </ac:spMkLst>
        </pc:spChg>
        <pc:spChg chg="mod">
          <ac:chgData name="Paulina Isabel Carrillo Espadas" userId="b41b3460-1540-4679-a92b-f0b65460a6b3" providerId="ADAL" clId="{3E502E24-2A8D-4B2B-928A-CA86D2F8E810}" dt="2025-11-19T14:28:08.284" v="1969" actId="20577"/>
          <ac:spMkLst>
            <pc:docMk/>
            <pc:sldMk cId="2644391213" sldId="259"/>
            <ac:spMk id="3" creationId="{93B53EA1-1EF8-E249-84AB-911AA33104FA}"/>
          </ac:spMkLst>
        </pc:spChg>
      </pc:sldChg>
      <pc:sldChg chg="del">
        <pc:chgData name="Paulina Isabel Carrillo Espadas" userId="b41b3460-1540-4679-a92b-f0b65460a6b3" providerId="ADAL" clId="{3E502E24-2A8D-4B2B-928A-CA86D2F8E810}" dt="2025-11-19T14:27:04.002" v="1772" actId="47"/>
        <pc:sldMkLst>
          <pc:docMk/>
          <pc:sldMk cId="1186277475" sldId="260"/>
        </pc:sldMkLst>
      </pc:sldChg>
      <pc:sldChg chg="addSp delSp modSp mod modClrScheme chgLayout">
        <pc:chgData name="Paulina Isabel Carrillo Espadas" userId="b41b3460-1540-4679-a92b-f0b65460a6b3" providerId="ADAL" clId="{3E502E24-2A8D-4B2B-928A-CA86D2F8E810}" dt="2025-11-19T14:22:24.433" v="1093" actId="20577"/>
        <pc:sldMkLst>
          <pc:docMk/>
          <pc:sldMk cId="810799469" sldId="261"/>
        </pc:sldMkLst>
        <pc:spChg chg="mod ord">
          <ac:chgData name="Paulina Isabel Carrillo Espadas" userId="b41b3460-1540-4679-a92b-f0b65460a6b3" providerId="ADAL" clId="{3E502E24-2A8D-4B2B-928A-CA86D2F8E810}" dt="2025-11-19T14:17:06.560" v="142" actId="700"/>
          <ac:spMkLst>
            <pc:docMk/>
            <pc:sldMk cId="810799469" sldId="261"/>
            <ac:spMk id="2" creationId="{5053A4B8-603E-834E-BF31-EE35C0FA2CDE}"/>
          </ac:spMkLst>
        </pc:spChg>
        <pc:spChg chg="del mod ord">
          <ac:chgData name="Paulina Isabel Carrillo Espadas" userId="b41b3460-1540-4679-a92b-f0b65460a6b3" providerId="ADAL" clId="{3E502E24-2A8D-4B2B-928A-CA86D2F8E810}" dt="2025-11-19T14:17:06.560" v="142" actId="700"/>
          <ac:spMkLst>
            <pc:docMk/>
            <pc:sldMk cId="810799469" sldId="261"/>
            <ac:spMk id="3" creationId="{77E1F696-FC6A-E346-8EC4-F7F7701562CF}"/>
          </ac:spMkLst>
        </pc:spChg>
        <pc:spChg chg="del">
          <ac:chgData name="Paulina Isabel Carrillo Espadas" userId="b41b3460-1540-4679-a92b-f0b65460a6b3" providerId="ADAL" clId="{3E502E24-2A8D-4B2B-928A-CA86D2F8E810}" dt="2025-11-19T14:17:06.560" v="142" actId="700"/>
          <ac:spMkLst>
            <pc:docMk/>
            <pc:sldMk cId="810799469" sldId="261"/>
            <ac:spMk id="4" creationId="{9EA45C17-936B-7E4B-B44C-D1792ABD2C5E}"/>
          </ac:spMkLst>
        </pc:spChg>
        <pc:spChg chg="mod ord">
          <ac:chgData name="Paulina Isabel Carrillo Espadas" userId="b41b3460-1540-4679-a92b-f0b65460a6b3" providerId="ADAL" clId="{3E502E24-2A8D-4B2B-928A-CA86D2F8E810}" dt="2025-11-19T14:17:06.560" v="142" actId="700"/>
          <ac:spMkLst>
            <pc:docMk/>
            <pc:sldMk cId="810799469" sldId="261"/>
            <ac:spMk id="5" creationId="{5CCE3BA6-6DB6-5A42-BF0A-A8E9D10E64A1}"/>
          </ac:spMkLst>
        </pc:spChg>
        <pc:spChg chg="add mod ord">
          <ac:chgData name="Paulina Isabel Carrillo Espadas" userId="b41b3460-1540-4679-a92b-f0b65460a6b3" providerId="ADAL" clId="{3E502E24-2A8D-4B2B-928A-CA86D2F8E810}" dt="2025-11-19T14:22:24.433" v="1093" actId="20577"/>
          <ac:spMkLst>
            <pc:docMk/>
            <pc:sldMk cId="810799469" sldId="261"/>
            <ac:spMk id="6" creationId="{C44EE42E-65C5-C661-7092-8E43DADAA259}"/>
          </ac:spMkLst>
        </pc:spChg>
      </pc:sldChg>
      <pc:sldChg chg="modSp mod">
        <pc:chgData name="Paulina Isabel Carrillo Espadas" userId="b41b3460-1540-4679-a92b-f0b65460a6b3" providerId="ADAL" clId="{3E502E24-2A8D-4B2B-928A-CA86D2F8E810}" dt="2025-11-19T14:25:42.176" v="1505" actId="20577"/>
        <pc:sldMkLst>
          <pc:docMk/>
          <pc:sldMk cId="1493559750" sldId="262"/>
        </pc:sldMkLst>
        <pc:spChg chg="mod">
          <ac:chgData name="Paulina Isabel Carrillo Espadas" userId="b41b3460-1540-4679-a92b-f0b65460a6b3" providerId="ADAL" clId="{3E502E24-2A8D-4B2B-928A-CA86D2F8E810}" dt="2025-11-19T14:17:34.207" v="174" actId="113"/>
          <ac:spMkLst>
            <pc:docMk/>
            <pc:sldMk cId="1493559750" sldId="262"/>
            <ac:spMk id="2" creationId="{FC784410-DFD4-7647-B98E-04F1D7CBB6F3}"/>
          </ac:spMkLst>
        </pc:spChg>
        <pc:spChg chg="mod">
          <ac:chgData name="Paulina Isabel Carrillo Espadas" userId="b41b3460-1540-4679-a92b-f0b65460a6b3" providerId="ADAL" clId="{3E502E24-2A8D-4B2B-928A-CA86D2F8E810}" dt="2025-11-19T14:17:39.762" v="192" actId="20577"/>
          <ac:spMkLst>
            <pc:docMk/>
            <pc:sldMk cId="1493559750" sldId="262"/>
            <ac:spMk id="3" creationId="{C6CAA39C-C3AA-A14C-B582-DBB3CB79E8DD}"/>
          </ac:spMkLst>
        </pc:spChg>
        <pc:spChg chg="mod">
          <ac:chgData name="Paulina Isabel Carrillo Espadas" userId="b41b3460-1540-4679-a92b-f0b65460a6b3" providerId="ADAL" clId="{3E502E24-2A8D-4B2B-928A-CA86D2F8E810}" dt="2025-11-19T14:23:55.803" v="1342" actId="20577"/>
          <ac:spMkLst>
            <pc:docMk/>
            <pc:sldMk cId="1493559750" sldId="262"/>
            <ac:spMk id="4" creationId="{FEFF784B-E699-E048-A6B9-81D64ADF95BC}"/>
          </ac:spMkLst>
        </pc:spChg>
        <pc:spChg chg="mod">
          <ac:chgData name="Paulina Isabel Carrillo Espadas" userId="b41b3460-1540-4679-a92b-f0b65460a6b3" providerId="ADAL" clId="{3E502E24-2A8D-4B2B-928A-CA86D2F8E810}" dt="2025-11-19T14:17:46.046" v="209" actId="20577"/>
          <ac:spMkLst>
            <pc:docMk/>
            <pc:sldMk cId="1493559750" sldId="262"/>
            <ac:spMk id="5" creationId="{999F10AA-683E-7B47-8FAF-9683119B1BB9}"/>
          </ac:spMkLst>
        </pc:spChg>
        <pc:spChg chg="mod">
          <ac:chgData name="Paulina Isabel Carrillo Espadas" userId="b41b3460-1540-4679-a92b-f0b65460a6b3" providerId="ADAL" clId="{3E502E24-2A8D-4B2B-928A-CA86D2F8E810}" dt="2025-11-19T14:25:42.176" v="1505" actId="20577"/>
          <ac:spMkLst>
            <pc:docMk/>
            <pc:sldMk cId="1493559750" sldId="262"/>
            <ac:spMk id="6" creationId="{B0ECDBFE-E495-B145-A9D7-484B20B75860}"/>
          </ac:spMkLst>
        </pc:spChg>
      </pc:sldChg>
      <pc:sldChg chg="addSp delSp modSp mod modClrScheme chgLayout">
        <pc:chgData name="Paulina Isabel Carrillo Espadas" userId="b41b3460-1540-4679-a92b-f0b65460a6b3" providerId="ADAL" clId="{3E502E24-2A8D-4B2B-928A-CA86D2F8E810}" dt="2025-11-19T14:26:54.773" v="1770" actId="20577"/>
        <pc:sldMkLst>
          <pc:docMk/>
          <pc:sldMk cId="3700459716" sldId="263"/>
        </pc:sldMkLst>
        <pc:spChg chg="del mod ord">
          <ac:chgData name="Paulina Isabel Carrillo Espadas" userId="b41b3460-1540-4679-a92b-f0b65460a6b3" providerId="ADAL" clId="{3E502E24-2A8D-4B2B-928A-CA86D2F8E810}" dt="2025-11-19T14:17:58.374" v="210" actId="700"/>
          <ac:spMkLst>
            <pc:docMk/>
            <pc:sldMk cId="3700459716" sldId="263"/>
            <ac:spMk id="2" creationId="{5D732B19-87E2-E94A-B4E4-D8E9751F6B6F}"/>
          </ac:spMkLst>
        </pc:spChg>
        <pc:spChg chg="mod ord">
          <ac:chgData name="Paulina Isabel Carrillo Espadas" userId="b41b3460-1540-4679-a92b-f0b65460a6b3" providerId="ADAL" clId="{3E502E24-2A8D-4B2B-928A-CA86D2F8E810}" dt="2025-11-19T14:18:03.404" v="211" actId="700"/>
          <ac:spMkLst>
            <pc:docMk/>
            <pc:sldMk cId="3700459716" sldId="263"/>
            <ac:spMk id="3" creationId="{191C6AC7-D5FA-484F-BE3C-72A5E42C4E8F}"/>
          </ac:spMkLst>
        </pc:spChg>
        <pc:spChg chg="add del mod ord">
          <ac:chgData name="Paulina Isabel Carrillo Espadas" userId="b41b3460-1540-4679-a92b-f0b65460a6b3" providerId="ADAL" clId="{3E502E24-2A8D-4B2B-928A-CA86D2F8E810}" dt="2025-11-19T14:18:03.404" v="211" actId="700"/>
          <ac:spMkLst>
            <pc:docMk/>
            <pc:sldMk cId="3700459716" sldId="263"/>
            <ac:spMk id="4" creationId="{8B5F1647-9C5D-8912-61C1-593C732905E8}"/>
          </ac:spMkLst>
        </pc:spChg>
        <pc:spChg chg="add del mod ord">
          <ac:chgData name="Paulina Isabel Carrillo Espadas" userId="b41b3460-1540-4679-a92b-f0b65460a6b3" providerId="ADAL" clId="{3E502E24-2A8D-4B2B-928A-CA86D2F8E810}" dt="2025-11-19T14:18:03.404" v="211" actId="700"/>
          <ac:spMkLst>
            <pc:docMk/>
            <pc:sldMk cId="3700459716" sldId="263"/>
            <ac:spMk id="5" creationId="{C2D340D9-EF31-E931-81F0-23A3D974B922}"/>
          </ac:spMkLst>
        </pc:spChg>
        <pc:spChg chg="add del mod ord">
          <ac:chgData name="Paulina Isabel Carrillo Espadas" userId="b41b3460-1540-4679-a92b-f0b65460a6b3" providerId="ADAL" clId="{3E502E24-2A8D-4B2B-928A-CA86D2F8E810}" dt="2025-11-19T14:18:03.404" v="211" actId="700"/>
          <ac:spMkLst>
            <pc:docMk/>
            <pc:sldMk cId="3700459716" sldId="263"/>
            <ac:spMk id="6" creationId="{2693F2E9-F30A-7F82-21CE-61FA2E9C5352}"/>
          </ac:spMkLst>
        </pc:spChg>
        <pc:spChg chg="add mod ord">
          <ac:chgData name="Paulina Isabel Carrillo Espadas" userId="b41b3460-1540-4679-a92b-f0b65460a6b3" providerId="ADAL" clId="{3E502E24-2A8D-4B2B-928A-CA86D2F8E810}" dt="2025-11-19T14:18:09.505" v="226" actId="113"/>
          <ac:spMkLst>
            <pc:docMk/>
            <pc:sldMk cId="3700459716" sldId="263"/>
            <ac:spMk id="7" creationId="{31C77CB4-E563-89FA-7D3C-6DCA85D1EDB8}"/>
          </ac:spMkLst>
        </pc:spChg>
        <pc:spChg chg="add mod ord">
          <ac:chgData name="Paulina Isabel Carrillo Espadas" userId="b41b3460-1540-4679-a92b-f0b65460a6b3" providerId="ADAL" clId="{3E502E24-2A8D-4B2B-928A-CA86D2F8E810}" dt="2025-11-19T14:26:54.773" v="1770" actId="20577"/>
          <ac:spMkLst>
            <pc:docMk/>
            <pc:sldMk cId="3700459716" sldId="263"/>
            <ac:spMk id="8" creationId="{2AC88508-AD0C-12B7-36C3-167987D9170C}"/>
          </ac:spMkLst>
        </pc:spChg>
      </pc:sldChg>
      <pc:sldChg chg="del">
        <pc:chgData name="Paulina Isabel Carrillo Espadas" userId="b41b3460-1540-4679-a92b-f0b65460a6b3" providerId="ADAL" clId="{3E502E24-2A8D-4B2B-928A-CA86D2F8E810}" dt="2025-11-19T14:27:02.030" v="1771" actId="47"/>
        <pc:sldMkLst>
          <pc:docMk/>
          <pc:sldMk cId="962228952" sldId="264"/>
        </pc:sldMkLst>
      </pc:sldChg>
      <pc:sldChg chg="modSp new mod">
        <pc:chgData name="Paulina Isabel Carrillo Espadas" userId="b41b3460-1540-4679-a92b-f0b65460a6b3" providerId="ADAL" clId="{3E502E24-2A8D-4B2B-928A-CA86D2F8E810}" dt="2025-11-19T14:23:25.767" v="1269" actId="20577"/>
        <pc:sldMkLst>
          <pc:docMk/>
          <pc:sldMk cId="546679577" sldId="265"/>
        </pc:sldMkLst>
        <pc:spChg chg="mod">
          <ac:chgData name="Paulina Isabel Carrillo Espadas" userId="b41b3460-1540-4679-a92b-f0b65460a6b3" providerId="ADAL" clId="{3E502E24-2A8D-4B2B-928A-CA86D2F8E810}" dt="2025-11-19T14:17:20.486" v="155" actId="113"/>
          <ac:spMkLst>
            <pc:docMk/>
            <pc:sldMk cId="546679577" sldId="265"/>
            <ac:spMk id="2" creationId="{C834904C-6880-0A34-7F04-966F0E099902}"/>
          </ac:spMkLst>
        </pc:spChg>
        <pc:spChg chg="mod">
          <ac:chgData name="Paulina Isabel Carrillo Espadas" userId="b41b3460-1540-4679-a92b-f0b65460a6b3" providerId="ADAL" clId="{3E502E24-2A8D-4B2B-928A-CA86D2F8E810}" dt="2025-11-19T14:23:25.767" v="1269" actId="20577"/>
          <ac:spMkLst>
            <pc:docMk/>
            <pc:sldMk cId="546679577" sldId="265"/>
            <ac:spMk id="3" creationId="{FA9DE631-E499-B15F-1B88-E1C634DA2F9C}"/>
          </ac:spMkLst>
        </pc:spChg>
      </pc:sldChg>
      <pc:sldChg chg="modSp new del mod">
        <pc:chgData name="Paulina Isabel Carrillo Espadas" userId="b41b3460-1540-4679-a92b-f0b65460a6b3" providerId="ADAL" clId="{3E502E24-2A8D-4B2B-928A-CA86D2F8E810}" dt="2025-11-19T14:28:24.168" v="1971" actId="47"/>
        <pc:sldMkLst>
          <pc:docMk/>
          <pc:sldMk cId="3586741337" sldId="266"/>
        </pc:sldMkLst>
        <pc:spChg chg="mod">
          <ac:chgData name="Paulina Isabel Carrillo Espadas" userId="b41b3460-1540-4679-a92b-f0b65460a6b3" providerId="ADAL" clId="{3E502E24-2A8D-4B2B-928A-CA86D2F8E810}" dt="2025-11-19T14:27:38.150" v="1865" actId="113"/>
          <ac:spMkLst>
            <pc:docMk/>
            <pc:sldMk cId="3586741337" sldId="266"/>
            <ac:spMk id="2" creationId="{10C7D77E-B85A-7011-E73A-4725450C78EE}"/>
          </ac:spMkLst>
        </pc:spChg>
      </pc:sldChg>
      <pc:sldChg chg="addSp modSp add mod">
        <pc:chgData name="Paulina Isabel Carrillo Espadas" userId="b41b3460-1540-4679-a92b-f0b65460a6b3" providerId="ADAL" clId="{3E502E24-2A8D-4B2B-928A-CA86D2F8E810}" dt="2025-11-19T14:29:15.467" v="2014" actId="1076"/>
        <pc:sldMkLst>
          <pc:docMk/>
          <pc:sldMk cId="3747970109" sldId="267"/>
        </pc:sldMkLst>
        <pc:spChg chg="mod">
          <ac:chgData name="Paulina Isabel Carrillo Espadas" userId="b41b3460-1540-4679-a92b-f0b65460a6b3" providerId="ADAL" clId="{3E502E24-2A8D-4B2B-928A-CA86D2F8E810}" dt="2025-11-19T14:29:13.009" v="2013" actId="1076"/>
          <ac:spMkLst>
            <pc:docMk/>
            <pc:sldMk cId="3747970109" sldId="267"/>
            <ac:spMk id="2" creationId="{9A541188-56CC-2FB5-8B60-D345223AEA3C}"/>
          </ac:spMkLst>
        </pc:spChg>
        <pc:spChg chg="mod">
          <ac:chgData name="Paulina Isabel Carrillo Espadas" userId="b41b3460-1540-4679-a92b-f0b65460a6b3" providerId="ADAL" clId="{3E502E24-2A8D-4B2B-928A-CA86D2F8E810}" dt="2025-11-19T14:29:15.467" v="2014" actId="1076"/>
          <ac:spMkLst>
            <pc:docMk/>
            <pc:sldMk cId="3747970109" sldId="267"/>
            <ac:spMk id="3" creationId="{A7CC3623-301C-01BF-E210-F8E61B56BB25}"/>
          </ac:spMkLst>
        </pc:spChg>
        <pc:spChg chg="add mod">
          <ac:chgData name="Paulina Isabel Carrillo Espadas" userId="b41b3460-1540-4679-a92b-f0b65460a6b3" providerId="ADAL" clId="{3E502E24-2A8D-4B2B-928A-CA86D2F8E810}" dt="2025-11-19T14:29:09.994" v="2012" actId="207"/>
          <ac:spMkLst>
            <pc:docMk/>
            <pc:sldMk cId="3747970109" sldId="267"/>
            <ac:spMk id="4" creationId="{6247323F-B09D-FF4D-C9CD-A8D90CF4D07C}"/>
          </ac:spMkLst>
        </pc:spChg>
      </pc:sldChg>
      <pc:sldChg chg="new del">
        <pc:chgData name="Paulina Isabel Carrillo Espadas" userId="b41b3460-1540-4679-a92b-f0b65460a6b3" providerId="ADAL" clId="{3E502E24-2A8D-4B2B-928A-CA86D2F8E810}" dt="2025-11-19T14:29:23.194" v="2016" actId="47"/>
        <pc:sldMkLst>
          <pc:docMk/>
          <pc:sldMk cId="1430615076" sldId="26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04C516-C7A7-484B-B909-D0DADAA94480}" type="datetimeFigureOut">
              <a:rPr lang="es-MX" smtClean="0"/>
              <a:t>19/11/2025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B20C55-E592-8542-AE9B-8D9ED904DB4F}" type="slidenum">
              <a:rPr lang="es-MX" smtClean="0"/>
              <a:t>‹Nº›</a:t>
            </a:fld>
            <a:endParaRPr lang="es-MX"/>
          </a:p>
        </p:txBody>
      </p:sp>
    </p:spTree>
    <p:extLst>
      <p:ext uri="{BB962C8B-B14F-4D97-AF65-F5344CB8AC3E}">
        <p14:creationId xmlns:p14="http://schemas.microsoft.com/office/powerpoint/2010/main" val="168018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ns0:Relationships xmlns:ns0="http://schemas.openxmlformats.org/package/2006/relationships"><ns0:Relationship Id="rId1" Type="http://schemas.openxmlformats.org/officeDocument/2006/relationships/slide" Target="../slides/slide1.xml" /><ns0:Relationship Id="rId2" Type="http://schemas.openxmlformats.org/officeDocument/2006/relationships/notesMaster" Target="../notesMasters/notesMaster1.xml" /></ns0:Relationships>
</file>

<file path=ppt/notesSlides/_rels/notesSlide2.xml.rels><?xml version='1.0' encoding='utf-8'?>
<ns0:Relationships xmlns:ns0="http://schemas.openxmlformats.org/package/2006/relationships"><ns0:Relationship Id="rId1" Type="http://schemas.openxmlformats.org/officeDocument/2006/relationships/slide" Target="../slides/slide2.xml" /><ns0:Relationship Id="rId2" Type="http://schemas.openxmlformats.org/officeDocument/2006/relationships/notesMaster" Target="../notesMasters/notesMaster1.xml" /></ns0:Relationships>
</file>

<file path=ppt/notesSlides/_rels/notesSlide3.xml.rels><?xml version='1.0' encoding='utf-8'?>
<ns0:Relationships xmlns:ns0="http://schemas.openxmlformats.org/package/2006/relationships"><ns0:Relationship Id="rId1" Type="http://schemas.openxmlformats.org/officeDocument/2006/relationships/slide" Target="../slides/slide3.xml" /><ns0:Relationship Id="rId2" Type="http://schemas.openxmlformats.org/officeDocument/2006/relationships/notesMaster" Target="../notesMasters/notesMaster1.xml" /></ns0:Relationships>
</file>

<file path=ppt/notesSlides/_rels/notesSlide4.xml.rels><?xml version='1.0' encoding='utf-8'?>
<ns0:Relationships xmlns:ns0="http://schemas.openxmlformats.org/package/2006/relationships"><ns0:Relationship Id="rId1" Type="http://schemas.openxmlformats.org/officeDocument/2006/relationships/slide" Target="../slides/slide4.xml" /><ns0:Relationship Id="rId2" Type="http://schemas.openxmlformats.org/officeDocument/2006/relationships/notesMaster" Target="../notesMasters/notesMaster1.xml" /></ns0:Relationships>
</file>

<file path=ppt/notesSlides/_rels/notesSlide5.xml.rels><?xml version='1.0' encoding='utf-8'?>
<ns0:Relationships xmlns:ns0="http://schemas.openxmlformats.org/package/2006/relationships"><ns0:Relationship Id="rId1" Type="http://schemas.openxmlformats.org/officeDocument/2006/relationships/slide" Target="../slides/slide5.xml" /><ns0:Relationship Id="rId2" Type="http://schemas.openxmlformats.org/officeDocument/2006/relationships/notesMaster" Target="../notesMasters/notesMaster1.xml" /></ns0:Relationships>
</file>

<file path=ppt/notesSlides/_rels/notesSlide6.xml.rels><?xml version='1.0' encoding='utf-8'?>
<ns0:Relationships xmlns:ns0="http://schemas.openxmlformats.org/package/2006/relationships"><ns0:Relationship Id="rId1" Type="http://schemas.openxmlformats.org/officeDocument/2006/relationships/slide" Target="../slides/slide6.xml" /><ns0:Relationship Id="rId2" Type="http://schemas.openxmlformats.org/officeDocument/2006/relationships/notesMaster" Target="../notesMasters/notesMaster1.xml" /></ns0:Relationships>
</file>

<file path=ppt/notesSlides/_rels/notesSlide7.xml.rels><?xml version='1.0' encoding='utf-8'?>
<ns0:Relationships xmlns:ns0="http://schemas.openxmlformats.org/package/2006/relationships"><ns0:Relationship Id="rId1" Type="http://schemas.openxmlformats.org/officeDocument/2006/relationships/slide" Target="../slides/slide7.xml" /><ns0:Relationship Id="rId2" Type="http://schemas.openxmlformats.org/officeDocument/2006/relationships/notesMaster" Target="../notesMasters/notesMaster1.xml" /></ns0:Relationships>
</file>

<file path=ppt/notesSlides/_rels/notesSlide8.xml.rels><?xml version='1.0' encoding='utf-8'?>
<ns0:Relationships xmlns:ns0="http://schemas.openxmlformats.org/package/2006/relationships"><ns0:Relationship Id="rId1" Type="http://schemas.openxmlformats.org/officeDocument/2006/relationships/slide" Target="../slides/slide8.xml" /><ns0:Relationship Id="rId2" Type="http://schemas.openxmlformats.org/officeDocument/2006/relationships/notesMaster" Target="../notesMasters/notesMaster1.xml" /></ns0:Relationships>
</file>

<file path=ppt/notesSlides/_rels/notesSlide9.xml.rels><?xml version='1.0' encoding='utf-8'?>
<ns0:Relationships xmlns:ns0="http://schemas.openxmlformats.org/package/2006/relationships"><ns0:Relationship Id="rId1" Type="http://schemas.openxmlformats.org/officeDocument/2006/relationships/slide" Target="../slides/slide9.xml" /><ns0:Relationship Id="rId2" Type="http://schemas.openxmlformats.org/officeDocument/2006/relationships/notesMaster" Target="../notesMasters/notesMaster1.xml" /></ns0:Relationships>
</file>

<file path=ppt/notesSlides/_rels/notesSlide10.xml.rels><?xml version='1.0' encoding='utf-8'?>
<ns0:Relationships xmlns:ns0="http://schemas.openxmlformats.org/package/2006/relationships"><ns0:Relationship Id="rId1" Type="http://schemas.openxmlformats.org/officeDocument/2006/relationships/slide" Target="../slides/slide10.xml" /><ns0:Relationship Id="rId2" Type="http://schemas.openxmlformats.org/officeDocument/2006/relationships/notesMaster" Target="../notesMasters/notesMaster1.xml" /></ns0:Relationships>
</file>

<file path=ppt/notesSlides/_rels/notesSlide11.xml.rels><?xml version='1.0' encoding='utf-8'?>
<ns0:Relationships xmlns:ns0="http://schemas.openxmlformats.org/package/2006/relationships"><ns0:Relationship Id="rId1" Type="http://schemas.openxmlformats.org/officeDocument/2006/relationships/slide" Target="../slides/slide11.xml" /><ns0:Relationship Id="rId2" Type="http://schemas.openxmlformats.org/officeDocument/2006/relationships/notesMaster" Target="../notesMasters/notesMaster1.xml" /></ns0:Relationships>
</file>

<file path=ppt/notesSlides/_rels/notesSlide12.xml.rels><?xml version='1.0' encoding='utf-8'?>
<ns0:Relationships xmlns:ns0="http://schemas.openxmlformats.org/package/2006/relationships"><ns0:Relationship Id="rId1" Type="http://schemas.openxmlformats.org/officeDocument/2006/relationships/slide" Target="../slides/slide12.xml" /><ns0:Relationship Id="rId2" Type="http://schemas.openxmlformats.org/officeDocument/2006/relationships/notesMaster" Target="../notesMasters/notesMaster1.xml" /></ns0:Relationships>
</file>

<file path=ppt/notesSlides/_rels/notesSlide13.xml.rels><?xml version='1.0' encoding='utf-8'?>
<ns0:Relationships xmlns:ns0="http://schemas.openxmlformats.org/package/2006/relationships"><ns0:Relationship Id="rId1" Type="http://schemas.openxmlformats.org/officeDocument/2006/relationships/slide" Target="../slides/slide13.xml" /><ns0:Relationship Id="rId2" Type="http://schemas.openxmlformats.org/officeDocument/2006/relationships/notesMaster" Target="../notesMasters/notesMaster1.xml" /></ns0:Relationships>
</file>

<file path=ppt/notesSlides/_rels/notesSlide14.xml.rels><?xml version='1.0' encoding='utf-8'?>
<ns0:Relationships xmlns:ns0="http://schemas.openxmlformats.org/package/2006/relationships"><ns0:Relationship Id="rId1" Type="http://schemas.openxmlformats.org/officeDocument/2006/relationships/slide" Target="../slides/slide14.xml" /><ns0:Relationship Id="rId2" Type="http://schemas.openxmlformats.org/officeDocument/2006/relationships/notesMaster" Target="../notesMasters/notesMaster1.xml" /></ns0:Relationships>
</file>

<file path=ppt/notesSlides/_rels/notesSlide15.xml.rels><?xml version='1.0' encoding='utf-8'?>
<ns0:Relationships xmlns:ns0="http://schemas.openxmlformats.org/package/2006/relationships"><ns0:Relationship Id="rId1" Type="http://schemas.openxmlformats.org/officeDocument/2006/relationships/slide" Target="../slides/slide15.xml" /><ns0:Relationship Id="rId2" Type="http://schemas.openxmlformats.org/officeDocument/2006/relationships/notesMaster" Target="../notesMasters/notesMaster1.xml" /></ns0:Relationships>
</file>

<file path=ppt/notesSlides/_rels/notesSlide16.xml.rels><?xml version='1.0' encoding='utf-8'?>
<ns0:Relationships xmlns:ns0="http://schemas.openxmlformats.org/package/2006/relationships"><ns0:Relationship Id="rId1" Type="http://schemas.openxmlformats.org/officeDocument/2006/relationships/slide" Target="../slides/slide16.xml" /><ns0:Relationship Id="rId2" Type="http://schemas.openxmlformats.org/officeDocument/2006/relationships/notesMaster" Target="../notesMasters/notesMaster1.xml" /></ns0:Relationships>
</file>

<file path=ppt/notesSlides/_rels/notesSlide17.xml.rels><?xml version='1.0' encoding='utf-8'?>
<ns0:Relationships xmlns:ns0="http://schemas.openxmlformats.org/package/2006/relationships"><ns0:Relationship Id="rId1" Type="http://schemas.openxmlformats.org/officeDocument/2006/relationships/slide" Target="../slides/slide17.xml" /><ns0:Relationship Id="rId2" Type="http://schemas.openxmlformats.org/officeDocument/2006/relationships/notesMaster" Target="../notesMasters/notesMaster1.xml" /></ns0:Relationships>
</file>

<file path=ppt/notesSlides/_rels/notesSlide18.xml.rels><?xml version='1.0' encoding='utf-8'?>
<ns0:Relationships xmlns:ns0="http://schemas.openxmlformats.org/package/2006/relationships"><ns0:Relationship Id="rId1" Type="http://schemas.openxmlformats.org/officeDocument/2006/relationships/slide" Target="../slides/slide18.xml" /><ns0:Relationship Id="rId2" Type="http://schemas.openxmlformats.org/officeDocument/2006/relationships/notesMaster" Target="../notesMasters/notesMaster1.xml" /></ns0:Relationships>
</file>

<file path=ppt/notesSlides/_rels/notesSlide19.xml.rels><?xml version='1.0' encoding='utf-8'?>
<ns0:Relationships xmlns:ns0="http://schemas.openxmlformats.org/package/2006/relationships"><ns0:Relationship Id="rId1" Type="http://schemas.openxmlformats.org/officeDocument/2006/relationships/slide" Target="../slides/slide19.xml" /><ns0:Relationship Id="rId2" Type="http://schemas.openxmlformats.org/officeDocument/2006/relationships/notesMaster" Target="../notesMasters/notesMaster1.xml" /></ns0:Relationships>
</file>

<file path=ppt/notesSlides/_rels/notesSlide20.xml.rels><?xml version='1.0' encoding='utf-8'?>
<ns0:Relationships xmlns:ns0="http://schemas.openxmlformats.org/package/2006/relationships"><ns0:Relationship Id="rId1" Type="http://schemas.openxmlformats.org/officeDocument/2006/relationships/slide" Target="../slides/slide20.xml" /><ns0:Relationship Id="rId2" Type="http://schemas.openxmlformats.org/officeDocument/2006/relationships/notesMaster" Target="../notesMasters/notesMaster1.xml" /></ns0:Relationships>
</file>

<file path=ppt/notesSlides/notesSlide1.xml><?xml version="1.0" encoding="utf-8"?>
<p:notes xmlns:a="http://schemas.openxmlformats.org/drawingml/2006/main" xmlns:p="http://schemas.openxmlformats.org/presentationml/2006/main">
  <p:cSld>
    <p:spTree>
      <p:nvGrpSpPr>
        <p:cNvPr id="1" name=""/>
        <p:cNvGrpSpPr/>
        <p:nvPr/>
      </p:nvGrpSpPr>
      <p:grpSpPr/>
      <p:sp>
        <p:nvSpPr>
          <p:cNvPr id="2" name="Notas del presentador"/>
          <p:cNvSpPr txBox="1"/>
          <p:nvPr>
            <p:ph type="body" idx="1"/>
          </p:nvPr>
        </p:nvSpPr>
        <p:spPr>
          <a:xfrm>
            <a:off x="635000" y="1270000"/>
            <a:ext cx="7874000" cy="9652000"/>
          </a:xfrm>
          <a:prstGeom prst="rect">
            <a:avLst/>
          </a:prstGeom>
          <a:noFill/>
          <a:ln>
            <a:noFill/>
          </a:ln>
        </p:spPr>
        <p:txBody>
          <a:bodyPr wrap="square" lIns="0" tIns="0" rIns="0" bIns="0" anchor="t">
            <a:noAutofit/>
          </a:bodyPr>
          <a:lstStyle/>
          <a:p>
            <a:pPr algn="l" marL="0" indent="0">
              <a:lnSpc>
                <a:spcPct val="110000"/>
              </a:lnSpc>
              <a:buNone/>
            </a:pPr>
            <a:r>
              <a:rPr lang="es-MX" sz="1400" b="0">
                <a:solidFill>
                  <a:srgbClr val="000000"/>
                </a:solidFill>
                <a:latin typeface="Arial"/>
              </a:rPr>
              <a:t>Soy Fernando, programador junior. Trabajo con agentes de IA a diario y me entusiasman las herramientas nuevas. Este libro nace de una inquietud personal: quiero entender cómo se aprende a cuidar software que otras personas usan y mantienen. Esta exposición recoge mis aprendizajes de los primeros cinco capítulos, no una experiencia de senior que todavía no tengo.</a:t>
            </a:r>
          </a:p>
          <a:p>
            <a:pPr algn="l" marL="0" indent="0">
              <a:lnSpc>
                <a:spcPct val="110000"/>
              </a:lnSpc>
              <a:buNone/>
            </a:pPr>
            <a:r>
              <a:rPr lang="es-MX" sz="1400" b="0">
                <a:solidFill>
                  <a:srgbClr val="000000"/>
                </a:solidFill>
                <a:latin typeface="Arial"/>
              </a:rPr>
              <a:t>Fuente: brief personal del expositor y prefacio del libro de Nathaniel Schutta y Dan Vega, O’Reilly, 2026.</a:t>
            </a:r>
          </a:p>
          <a:p>
            <a:pPr algn="l" marL="0" indent="0">
              <a:lnSpc>
                <a:spcPct val="110000"/>
              </a:lnSpc>
              <a:buNone/>
            </a:pPr>
            <a:r>
              <a:rPr lang="es-MX" sz="1400" b="0">
                <a:solidFill>
                  <a:srgbClr val="000000"/>
                </a:solidFill>
                <a:latin typeface="Arial"/>
              </a:rPr>
              <a:t>Imagen: portada original extraída del PDF suministrado por el expositor (lector/assets/00-002-000.png).</a:t>
            </a:r>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p:sp>
        <p:nvSpPr>
          <p:cNvPr id="2" name="Notas del presentador"/>
          <p:cNvSpPr txBox="1"/>
          <p:nvPr>
            <p:ph type="body" idx="1"/>
          </p:nvPr>
        </p:nvSpPr>
        <p:spPr>
          <a:xfrm>
            <a:off x="635000" y="1270000"/>
            <a:ext cx="7874000" cy="9652000"/>
          </a:xfrm>
          <a:prstGeom prst="rect">
            <a:avLst/>
          </a:prstGeom>
          <a:noFill/>
          <a:ln>
            <a:noFill/>
          </a:ln>
        </p:spPr>
        <p:txBody>
          <a:bodyPr wrap="square" lIns="0" tIns="0" rIns="0" bIns="0" anchor="t">
            <a:noAutofit/>
          </a:bodyPr>
          <a:lstStyle/>
          <a:p>
            <a:pPr algn="l" marL="0" indent="0">
              <a:lnSpc>
                <a:spcPct val="110000"/>
              </a:lnSpc>
              <a:buNone/>
            </a:pPr>
            <a:r>
              <a:rPr lang="es-MX" sz="1400" b="0">
                <a:solidFill>
                  <a:srgbClr val="000000"/>
                </a:solidFill>
                <a:latin typeface="Arial"/>
              </a:rPr>
              <a:t>Uso Claude Code y Codex para trabajar. Mi inquietud no es rechazar la IA ni idealizar el pasado. Me preocupa avanzar en velocidad sin construir la comprensión que permite evaluar lo generado. Quiero aprender a reconocer cuándo una solución tiene sentido, qué podría romper y cómo explicarla. Las imágenes son capturas oficiales de los proyectos, no capturas de mi trabajo.</a:t>
            </a:r>
          </a:p>
          <a:p>
            <a:pPr algn="l" marL="0" indent="0">
              <a:lnSpc>
                <a:spcPct val="110000"/>
              </a:lnSpc>
              <a:buNone/>
            </a:pPr>
            <a:r>
              <a:rPr lang="es-MX" sz="1400" b="0">
                <a:solidFill>
                  <a:srgbClr val="000000"/>
                </a:solidFill>
                <a:latin typeface="Arial"/>
              </a:rPr>
              <a:t>Imágenes: https://github.com/anthropics/claude-code/blob/main/demo.gif y https://github.com/openai/codex/blob/main/.github/codex-cli-splash.png. Mi uso diario procede del brief personal.</a:t>
            </a:r>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p:sp>
        <p:nvSpPr>
          <p:cNvPr id="2" name="Notas del presentador"/>
          <p:cNvSpPr txBox="1"/>
          <p:nvPr>
            <p:ph type="body" idx="1"/>
          </p:nvPr>
        </p:nvSpPr>
        <p:spPr>
          <a:xfrm>
            <a:off x="635000" y="1270000"/>
            <a:ext cx="7874000" cy="9652000"/>
          </a:xfrm>
          <a:prstGeom prst="rect">
            <a:avLst/>
          </a:prstGeom>
          <a:noFill/>
          <a:ln>
            <a:noFill/>
          </a:ln>
        </p:spPr>
        <p:txBody>
          <a:bodyPr wrap="square" lIns="0" tIns="0" rIns="0" bIns="0" anchor="t">
            <a:noAutofit/>
          </a:bodyPr>
          <a:lstStyle/>
          <a:p>
            <a:pPr algn="l" marL="0" indent="0">
              <a:lnSpc>
                <a:spcPct val="110000"/>
              </a:lnSpc>
              <a:buNone/>
            </a:pPr>
            <a:r>
              <a:rPr lang="es-MX" sz="1400" b="0">
                <a:solidFill>
                  <a:srgbClr val="000000"/>
                </a:solidFill>
                <a:latin typeface="Arial"/>
              </a:rPr>
              <a:t>El libro distingue el foco de cada término, pero advierte que el vocabulario es ambiguo. Por eso junto codificador o codeador con programador, sin inventar una separación estricta entre ambos. Desarrollador amplía la mirada a la entrega del producto. La ingeniería aplica disciplina a todo el ciclo de vida. Los puestos reales se solapan: esta comparación sirve para pensar en responsabilidades, no para asignar valor a las personas ni certificar seniority.</a:t>
            </a:r>
          </a:p>
          <a:p>
            <a:pPr algn="l" marL="0" indent="0">
              <a:lnSpc>
                <a:spcPct val="110000"/>
              </a:lnSpc>
              <a:buNone/>
            </a:pPr>
            <a:r>
              <a:rPr lang="es-MX" sz="1400" b="0">
                <a:solidFill>
                  <a:srgbClr val="000000"/>
                </a:solidFill>
                <a:latin typeface="Arial"/>
              </a:rPr>
              <a:t>Fundamentos de la ingeniería de software. Capítulo 1. Un ingeniero con cualquier otro nombre.</a:t>
            </a:r>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p:sp>
        <p:nvSpPr>
          <p:cNvPr id="2" name="Notas del presentador"/>
          <p:cNvSpPr txBox="1"/>
          <p:nvPr>
            <p:ph type="body" idx="1"/>
          </p:nvPr>
        </p:nvSpPr>
        <p:spPr>
          <a:xfrm>
            <a:off x="635000" y="1270000"/>
            <a:ext cx="7874000" cy="9652000"/>
          </a:xfrm>
          <a:prstGeom prst="rect">
            <a:avLst/>
          </a:prstGeom>
          <a:noFill/>
          <a:ln>
            <a:noFill/>
          </a:ln>
        </p:spPr>
        <p:txBody>
          <a:bodyPr wrap="square" lIns="0" tIns="0" rIns="0" bIns="0" anchor="t">
            <a:noAutofit/>
          </a:bodyPr>
          <a:lstStyle/>
          <a:p>
            <a:pPr algn="l" marL="0" indent="0">
              <a:lnSpc>
                <a:spcPct val="110000"/>
              </a:lnSpc>
              <a:buNone/>
            </a:pPr>
            <a:r>
              <a:rPr lang="es-MX" sz="1400" b="0">
                <a:solidFill>
                  <a:srgbClr val="000000"/>
                </a:solidFill>
                <a:latin typeface="Arial"/>
              </a:rPr>
              <a:t>La ilustración del prefacio muestra la distancia entre aprender a producir código y desarrollar las habilidades de ingeniería. El capítulo 1 explica que los ejercicios educativos suelen empezar desde cero, mientras que el trabajo profesional exige mantener sistemas existentes y colaborar. No hay una sola ruta para convertirse en senior. Me interesa recuperar esa práctica sostenida: leer, cambiar, recibir retroalimentación y responsabilizarme del resultado.</a:t>
            </a:r>
          </a:p>
          <a:p>
            <a:pPr algn="l" marL="0" indent="0">
              <a:lnSpc>
                <a:spcPct val="110000"/>
              </a:lnSpc>
              <a:buNone/>
            </a:pPr>
            <a:r>
              <a:rPr lang="es-MX" sz="1400" b="0">
                <a:solidFill>
                  <a:srgbClr val="000000"/>
                </a:solidFill>
                <a:latin typeface="Arial"/>
              </a:rPr>
              <a:t>Figura P-1 del prefacio, PDF suministrado, página 3. Fundamentos de la ingeniería de software. Capítulo 1. Lo que te enseñaron frente a lo que necesitas saber.</a:t>
            </a:r>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p:sp>
        <p:nvSpPr>
          <p:cNvPr id="2" name="Notas del presentador"/>
          <p:cNvSpPr txBox="1"/>
          <p:nvPr>
            <p:ph type="body" idx="1"/>
          </p:nvPr>
        </p:nvSpPr>
        <p:spPr>
          <a:xfrm>
            <a:off x="635000" y="1270000"/>
            <a:ext cx="7874000" cy="9652000"/>
          </a:xfrm>
          <a:prstGeom prst="rect">
            <a:avLst/>
          </a:prstGeom>
          <a:noFill/>
          <a:ln>
            <a:noFill/>
          </a:ln>
        </p:spPr>
        <p:txBody>
          <a:bodyPr wrap="square" lIns="0" tIns="0" rIns="0" bIns="0" anchor="t">
            <a:noAutofit/>
          </a:bodyPr>
          <a:lstStyle/>
          <a:p>
            <a:pPr algn="l" marL="0" indent="0">
              <a:lnSpc>
                <a:spcPct val="110000"/>
              </a:lnSpc>
              <a:buNone/>
            </a:pPr>
            <a:r>
              <a:rPr lang="es-MX" sz="1400" b="0">
                <a:solidFill>
                  <a:srgbClr val="000000"/>
                </a:solidFill>
                <a:latin typeface="Arial"/>
              </a:rPr>
              <a:t>Me gusta probar herramientas nuevas, pero el capítulo me recuerda que ir directo a una solución puede generar trabajo innecesario. Antes de implementar, necesito entender la necesidad del usuario y las restricciones. La filosofía del programador perezoso se refiere a eficiencia: dedicar tiempo a pensar y automatizar trabajo repetitivo. También quiero conservar la curiosidad de junior, preguntar y aprovechar una perspectiva nueva.</a:t>
            </a:r>
          </a:p>
          <a:p>
            <a:pPr algn="l" marL="0" indent="0">
              <a:lnSpc>
                <a:spcPct val="110000"/>
              </a:lnSpc>
              <a:buNone/>
            </a:pPr>
            <a:r>
              <a:rPr lang="es-MX" sz="1400" b="0">
                <a:solidFill>
                  <a:srgbClr val="000000"/>
                </a:solidFill>
                <a:latin typeface="Arial"/>
              </a:rPr>
              <a:t>Fundamentos de la ingeniería de software. Capítulo 1. Adopta la filosofía del programador perezoso. No busques soluciones demasiado rápido. El valor de una nueva perspectiva.</a:t>
            </a:r>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p:sp>
        <p:nvSpPr>
          <p:cNvPr id="2" name="Notas del presentador"/>
          <p:cNvSpPr txBox="1"/>
          <p:nvPr>
            <p:ph type="body" idx="1"/>
          </p:nvPr>
        </p:nvSpPr>
        <p:spPr>
          <a:xfrm>
            <a:off x="635000" y="1270000"/>
            <a:ext cx="7874000" cy="9652000"/>
          </a:xfrm>
          <a:prstGeom prst="rect">
            <a:avLst/>
          </a:prstGeom>
          <a:noFill/>
          <a:ln>
            <a:noFill/>
          </a:ln>
        </p:spPr>
        <p:txBody>
          <a:bodyPr wrap="square" lIns="0" tIns="0" rIns="0" bIns="0" anchor="t">
            <a:noAutofit/>
          </a:bodyPr>
          <a:lstStyle/>
          <a:p>
            <a:pPr algn="l" marL="0" indent="0">
              <a:lnSpc>
                <a:spcPct val="110000"/>
              </a:lnSpc>
              <a:buNone/>
            </a:pPr>
            <a:r>
              <a:rPr lang="es-MX" sz="1400" b="0">
                <a:solidFill>
                  <a:srgbClr val="000000"/>
                </a:solidFill>
                <a:latin typeface="Arial"/>
              </a:rPr>
              <a:t>El capítulo sostiene que el código se lee mucho más de lo que se escribe. No uso un porcentaje porque el libro no aporta una cifra universal. Leer código existente implica descubrir intención, contexto e historia. Conviene suspender el juicio inicial: lo que hoy parece extraño pudo responder a restricciones que todavía desconozco. La imagen ilustra cómo observar la estructura de una clase ayuda a orientarse antes de estudiar cada línea.</a:t>
            </a:r>
          </a:p>
          <a:p>
            <a:pPr algn="l" marL="0" indent="0">
              <a:lnSpc>
                <a:spcPct val="110000"/>
              </a:lnSpc>
              <a:buNone/>
            </a:pPr>
            <a:r>
              <a:rPr lang="es-MX" sz="1400" b="0">
                <a:solidFill>
                  <a:srgbClr val="000000"/>
                </a:solidFill>
                <a:latin typeface="Arial"/>
              </a:rPr>
              <a:t>Figura 2-12, PDF del capítulo 2, página 29. Fundamentos de la ingeniería de software. Capítulo 2. Estrategias eficaces para leer código. Sesgos cognitivos.</a:t>
            </a:r>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p:sp>
        <p:nvSpPr>
          <p:cNvPr id="2" name="Notas del presentador"/>
          <p:cNvSpPr txBox="1"/>
          <p:nvPr>
            <p:ph type="body" idx="1"/>
          </p:nvPr>
        </p:nvSpPr>
        <p:spPr>
          <a:xfrm>
            <a:off x="635000" y="1270000"/>
            <a:ext cx="7874000" cy="9652000"/>
          </a:xfrm>
          <a:prstGeom prst="rect">
            <a:avLst/>
          </a:prstGeom>
          <a:noFill/>
          <a:ln>
            <a:noFill/>
          </a:ln>
        </p:spPr>
        <p:txBody>
          <a:bodyPr wrap="square" lIns="0" tIns="0" rIns="0" bIns="0" anchor="t">
            <a:noAutofit/>
          </a:bodyPr>
          <a:lstStyle/>
          <a:p>
            <a:pPr algn="l" marL="0" indent="0">
              <a:lnSpc>
                <a:spcPct val="110000"/>
              </a:lnSpc>
              <a:buNone/>
            </a:pPr>
            <a:r>
              <a:rPr lang="es-MX" sz="1400" b="0">
                <a:solidFill>
                  <a:srgbClr val="000000"/>
                </a:solidFill>
                <a:latin typeface="Arial"/>
              </a:rPr>
              <a:t>Primero ejecuto una funcionalidad y sigo un recorrido pequeño. Busco la entrada, sus llamadas y las pruebas que describen su comportamiento. Un punto de interrupción permite contrastar mi interpretación con el estado real. También reviso el historial para entender decisiones anteriores. IntelliJ IDEA es la herramienta que aparece en los ejemplos del libro, no una exigencia para aplicar este método.</a:t>
            </a:r>
          </a:p>
          <a:p>
            <a:pPr algn="l" marL="0" indent="0">
              <a:lnSpc>
                <a:spcPct val="110000"/>
              </a:lnSpc>
              <a:buNone/>
            </a:pPr>
            <a:r>
              <a:rPr lang="es-MX" sz="1400" b="0">
                <a:solidFill>
                  <a:srgbClr val="000000"/>
                </a:solidFill>
                <a:latin typeface="Arial"/>
              </a:rPr>
              <a:t>Figura 2-2 del libro, PDF del capítulo 2, página 14. Logo oficial: https://github.com/JetBrains/logos/blob/master/web/intellij-idea/intellij-idea.svg. Fundamentos de la ingeniería de software. Capítulo 2. Arqueología del software. Aprovechamiento de las funciones del IDE. Leer pruebas para obtener información.</a:t>
            </a:r>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p:sp>
        <p:nvSpPr>
          <p:cNvPr id="2" name="Notas del presentador"/>
          <p:cNvSpPr txBox="1"/>
          <p:nvPr>
            <p:ph type="body" idx="1"/>
          </p:nvPr>
        </p:nvSpPr>
        <p:spPr>
          <a:xfrm>
            <a:off x="635000" y="1270000"/>
            <a:ext cx="7874000" cy="9652000"/>
          </a:xfrm>
          <a:prstGeom prst="rect">
            <a:avLst/>
          </a:prstGeom>
          <a:noFill/>
          <a:ln>
            <a:noFill/>
          </a:ln>
        </p:spPr>
        <p:txBody>
          <a:bodyPr wrap="square" lIns="0" tIns="0" rIns="0" bIns="0" anchor="t">
            <a:noAutofit/>
          </a:bodyPr>
          <a:lstStyle/>
          <a:p>
            <a:pPr algn="l" marL="0" indent="0">
              <a:lnSpc>
                <a:spcPct val="110000"/>
              </a:lnSpc>
              <a:buNone/>
            </a:pPr>
            <a:r>
              <a:rPr lang="es-MX" sz="1400" b="0">
                <a:solidFill>
                  <a:srgbClr val="000000"/>
                </a:solidFill>
                <a:latin typeface="Arial"/>
              </a:rPr>
              <a:t>La legibilidad importa junto con la corrección, el diseño y las restricciones del problema. No estoy diciendo que la estructura o la planificación sean irrelevantes. El capítulo propone comunicar intención y evitar el ingenio que obliga al siguiente desarrollador a descifrar el código. Este ejemplo didáctico es propio: ambas expresiones suman el mismo conjunto de pagos, pero los nombres de la segunda explican qué representan.</a:t>
            </a:r>
          </a:p>
          <a:p>
            <a:pPr algn="l" marL="0" indent="0">
              <a:lnSpc>
                <a:spcPct val="110000"/>
              </a:lnSpc>
              <a:buNone/>
            </a:pPr>
            <a:r>
              <a:rPr lang="es-MX" sz="1400" b="0">
                <a:solidFill>
                  <a:srgbClr val="000000"/>
                </a:solidFill>
                <a:latin typeface="Arial"/>
              </a:rPr>
              <a:t>Fundamentos de la ingeniería de software. Capítulo 3. Escribe código para ser leído. Evita el código ingenioso.</a:t>
            </a:r>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p:sp>
        <p:nvSpPr>
          <p:cNvPr id="2" name="Notas del presentador"/>
          <p:cNvSpPr txBox="1"/>
          <p:nvPr>
            <p:ph type="body" idx="1"/>
          </p:nvPr>
        </p:nvSpPr>
        <p:spPr>
          <a:xfrm>
            <a:off x="635000" y="1270000"/>
            <a:ext cx="7874000" cy="9652000"/>
          </a:xfrm>
          <a:prstGeom prst="rect">
            <a:avLst/>
          </a:prstGeom>
          <a:noFill/>
          <a:ln>
            <a:noFill/>
          </a:ln>
        </p:spPr>
        <p:txBody>
          <a:bodyPr wrap="square" lIns="0" tIns="0" rIns="0" bIns="0" anchor="t">
            <a:noAutofit/>
          </a:bodyPr>
          <a:lstStyle/>
          <a:p>
            <a:pPr algn="l" marL="0" indent="0">
              <a:lnSpc>
                <a:spcPct val="110000"/>
              </a:lnSpc>
              <a:buNone/>
            </a:pPr>
            <a:r>
              <a:rPr lang="es-MX" sz="1400" b="0">
                <a:solidFill>
                  <a:srgbClr val="000000"/>
                </a:solidFill>
                <a:latin typeface="Arial"/>
              </a:rPr>
              <a:t>Mi criterio para estas prácticas es facilitar la vida de quien venga después. Busco funciones con una responsabilidad clara, nombres del dominio y convenciones compartidas. Evito duplicar conocimiento y crear abstracciones antes de entender el problema. Las revisiones sirven para encontrar problemas y aprender, no para demostrar superioridad. El libro recomienda mantener los métodos cortos y preferir composición, pero también exige contexto al aplicar reglas y métricas.</a:t>
            </a:r>
          </a:p>
          <a:p>
            <a:pPr algn="l" marL="0" indent="0">
              <a:lnSpc>
                <a:spcPct val="110000"/>
              </a:lnSpc>
              <a:buNone/>
            </a:pPr>
            <a:r>
              <a:rPr lang="es-MX" sz="1400" b="0">
                <a:solidFill>
                  <a:srgbClr val="000000"/>
                </a:solidFill>
                <a:latin typeface="Arial"/>
              </a:rPr>
              <a:t>Fundamentos de la ingeniería de software. Capítulo 1. Aplica la regla de oro al software.</a:t>
            </a:r>
          </a:p>
          <a:p>
            <a:pPr algn="l" marL="0" indent="0">
              <a:lnSpc>
                <a:spcPct val="110000"/>
              </a:lnSpc>
              <a:buNone/>
            </a:pPr>
            <a:r>
              <a:rPr lang="es-MX" sz="1400" b="0">
                <a:solidFill>
                  <a:srgbClr val="000000"/>
                </a:solidFill>
                <a:latin typeface="Arial"/>
              </a:rPr>
              <a:t>Fundamentos de la ingeniería de software. Capítulo 3. Menos es más. Prefiere los métodos cortos. Revisiones de código.</a:t>
            </a:r>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p:sp>
        <p:nvSpPr>
          <p:cNvPr id="2" name="Notas del presentador"/>
          <p:cNvSpPr txBox="1"/>
          <p:nvPr>
            <p:ph type="body" idx="1"/>
          </p:nvPr>
        </p:nvSpPr>
        <p:spPr>
          <a:xfrm>
            <a:off x="635000" y="1270000"/>
            <a:ext cx="7874000" cy="9652000"/>
          </a:xfrm>
          <a:prstGeom prst="rect">
            <a:avLst/>
          </a:prstGeom>
          <a:noFill/>
          <a:ln>
            <a:noFill/>
          </a:ln>
        </p:spPr>
        <p:txBody>
          <a:bodyPr wrap="square" lIns="0" tIns="0" rIns="0" bIns="0" anchor="t">
            <a:noAutofit/>
          </a:bodyPr>
          <a:lstStyle/>
          <a:p>
            <a:pPr algn="l" marL="0" indent="0">
              <a:lnSpc>
                <a:spcPct val="110000"/>
              </a:lnSpc>
              <a:buNone/>
            </a:pPr>
            <a:r>
              <a:rPr lang="es-MX" sz="1400" b="0">
                <a:solidFill>
                  <a:srgbClr val="000000"/>
                </a:solidFill>
                <a:latin typeface="Arial"/>
              </a:rPr>
              <a:t>Una buena documentación permite arrancar el proyecto y entender decisiones que el código por sí solo no explica. El libro advierte que los comentarios pueden quedar desactualizados y recomienda concentrarse en el porqué. Las pruebas documentan comportamiento y los modelos ayudan a entender el sistema. Como aplicación personal, propongo actualizar la documentación en el mismo cambio que modifica ese comportamiento. El ejemplo de decisión es propio, no un caso real del expositor.</a:t>
            </a:r>
          </a:p>
          <a:p>
            <a:pPr algn="l" marL="0" indent="0">
              <a:lnSpc>
                <a:spcPct val="110000"/>
              </a:lnSpc>
              <a:buNone/>
            </a:pPr>
            <a:r>
              <a:rPr lang="es-MX" sz="1400" b="0">
                <a:solidFill>
                  <a:srgbClr val="000000"/>
                </a:solidFill>
                <a:latin typeface="Arial"/>
              </a:rPr>
              <a:t>Fundamentos de la ingeniería de software. Capítulo 2. Afrontar código desconocido.</a:t>
            </a:r>
          </a:p>
          <a:p>
            <a:pPr algn="l" marL="0" indent="0">
              <a:lnSpc>
                <a:spcPct val="110000"/>
              </a:lnSpc>
              <a:buNone/>
            </a:pPr>
            <a:r>
              <a:rPr lang="es-MX" sz="1400" b="0">
                <a:solidFill>
                  <a:srgbClr val="000000"/>
                </a:solidFill>
                <a:latin typeface="Arial"/>
              </a:rPr>
              <a:t>Fundamentos de la ingeniería de software. Capítulo 3. El problema de los comentarios en el código. Las pruebas como documentación.</a:t>
            </a:r>
          </a:p>
          <a:p>
            <a:pPr algn="l" marL="0" indent="0">
              <a:lnSpc>
                <a:spcPct val="110000"/>
              </a:lnSpc>
              <a:buNone/>
            </a:pPr>
            <a:r>
              <a:rPr lang="es-MX" sz="1400" b="0">
                <a:solidFill>
                  <a:srgbClr val="000000"/>
                </a:solidFill>
                <a:latin typeface="Arial"/>
              </a:rPr>
              <a:t>Fundamentos de la ingeniería de software. Capítulo 4. Buenas prácticas de modelado.</a:t>
            </a:r>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p:sp>
        <p:nvSpPr>
          <p:cNvPr id="2" name="Notas del presentador"/>
          <p:cNvSpPr txBox="1"/>
          <p:nvPr>
            <p:ph type="body" idx="1"/>
          </p:nvPr>
        </p:nvSpPr>
        <p:spPr>
          <a:xfrm>
            <a:off x="635000" y="1270000"/>
            <a:ext cx="7874000" cy="9652000"/>
          </a:xfrm>
          <a:prstGeom prst="rect">
            <a:avLst/>
          </a:prstGeom>
          <a:noFill/>
          <a:ln>
            <a:noFill/>
          </a:ln>
        </p:spPr>
        <p:txBody>
          <a:bodyPr wrap="square" lIns="0" tIns="0" rIns="0" bIns="0" anchor="t">
            <a:noAutofit/>
          </a:bodyPr>
          <a:lstStyle/>
          <a:p>
            <a:pPr algn="l" marL="0" indent="0">
              <a:lnSpc>
                <a:spcPct val="110000"/>
              </a:lnSpc>
              <a:buNone/>
            </a:pPr>
            <a:r>
              <a:rPr lang="es-MX" sz="1400" b="0">
                <a:solidFill>
                  <a:srgbClr val="000000"/>
                </a:solidFill>
                <a:latin typeface="Arial"/>
              </a:rPr>
              <a:t>Un modelo reduce la cantidad de detalles para discutir una pregunta concreta. En este diagrama de contexto del libro vemos quién se relaciona con el sistema y qué información intercambia, sin abrir todavía todas sus clases. Puedo utilizar esa vista para alinear mi comprensión con el equipo y descubrir supuestos antes de implementar. Es un ejemplo del libro, no la arquitectura de un proyecto mío.</a:t>
            </a:r>
          </a:p>
          <a:p>
            <a:pPr algn="l" marL="0" indent="0">
              <a:lnSpc>
                <a:spcPct val="110000"/>
              </a:lnSpc>
              <a:buNone/>
            </a:pPr>
            <a:r>
              <a:rPr lang="es-MX" sz="1400" b="0">
                <a:solidFill>
                  <a:srgbClr val="000000"/>
                </a:solidFill>
                <a:latin typeface="Arial"/>
              </a:rPr>
              <a:t>Figura 4-2, PDF del capítulo 4, página 9. Fundamentos de la ingeniería de software. Capítulo 4. Qué es el modelado de software y por qué lo hacemos. Diagramas de contexto.</a:t>
            </a:r>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p:sp>
        <p:nvSpPr>
          <p:cNvPr id="2" name="Notas del presentador"/>
          <p:cNvSpPr txBox="1"/>
          <p:nvPr>
            <p:ph type="body" idx="1"/>
          </p:nvPr>
        </p:nvSpPr>
        <p:spPr>
          <a:xfrm>
            <a:off x="635000" y="1270000"/>
            <a:ext cx="7874000" cy="9652000"/>
          </a:xfrm>
          <a:prstGeom prst="rect">
            <a:avLst/>
          </a:prstGeom>
          <a:noFill/>
          <a:ln>
            <a:noFill/>
          </a:ln>
        </p:spPr>
        <p:txBody>
          <a:bodyPr wrap="square" lIns="0" tIns="0" rIns="0" bIns="0" anchor="t">
            <a:noAutofit/>
          </a:bodyPr>
          <a:lstStyle/>
          <a:p>
            <a:pPr algn="l" marL="0" indent="0">
              <a:lnSpc>
                <a:spcPct val="110000"/>
              </a:lnSpc>
              <a:buNone/>
            </a:pPr>
            <a:r>
              <a:rPr lang="es-MX" sz="1400" b="0">
                <a:solidFill>
                  <a:srgbClr val="000000"/>
                </a:solidFill>
                <a:latin typeface="Arial"/>
              </a:rPr>
              <a:t>No necesito incluir todos los diagramas posibles. Elijo la vista según la conversación. El contexto ubica actores y límites. Los componentes muestran responsabilidades. La secuencia ordena interacciones a lo largo del tiempo. El diagrama del libro muestra una búsqueda que pasa por autorización, servicio y persistencia. La notación debe acompañarse de una leyenda cuando el público no la conoce.</a:t>
            </a:r>
          </a:p>
          <a:p>
            <a:pPr algn="l" marL="0" indent="0">
              <a:lnSpc>
                <a:spcPct val="110000"/>
              </a:lnSpc>
              <a:buNone/>
            </a:pPr>
            <a:r>
              <a:rPr lang="es-MX" sz="1400" b="0">
                <a:solidFill>
                  <a:srgbClr val="000000"/>
                </a:solidFill>
                <a:latin typeface="Arial"/>
              </a:rPr>
              <a:t>Figura 4-5, PDF del capítulo 4, página 14. Fundamentos de la ingeniería de software. Capítulo 4. Qué diagramas necesitas. Diagramas de secuencia.</a:t>
            </a:r>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p:sp>
        <p:nvSpPr>
          <p:cNvPr id="2" name="Notas del presentador"/>
          <p:cNvSpPr txBox="1"/>
          <p:nvPr>
            <p:ph type="body" idx="1"/>
          </p:nvPr>
        </p:nvSpPr>
        <p:spPr>
          <a:xfrm>
            <a:off x="635000" y="1270000"/>
            <a:ext cx="7874000" cy="9652000"/>
          </a:xfrm>
          <a:prstGeom prst="rect">
            <a:avLst/>
          </a:prstGeom>
          <a:noFill/>
          <a:ln>
            <a:noFill/>
          </a:ln>
        </p:spPr>
        <p:txBody>
          <a:bodyPr wrap="square" lIns="0" tIns="0" rIns="0" bIns="0" anchor="t">
            <a:noAutofit/>
          </a:bodyPr>
          <a:lstStyle/>
          <a:p>
            <a:pPr algn="l" marL="0" indent="0">
              <a:lnSpc>
                <a:spcPct val="110000"/>
              </a:lnSpc>
              <a:buNone/>
            </a:pPr>
            <a:r>
              <a:rPr lang="es-MX" sz="1400" b="0">
                <a:solidFill>
                  <a:srgbClr val="000000"/>
                </a:solidFill>
                <a:latin typeface="Arial"/>
              </a:rPr>
              <a:t>La idea de hacer un modelo simple para cualquier persona necesita un matiz: no todos los públicos necesitan la misma vista. Un modelo de clases útil para un desarrollador puede ser innecesario para alguien de negocio. La meta es que el público previsto comprenda lo importante. El capítulo recomienda conocer a la audiencia, mantener sencillez, usar colores con cuidado y acordar convenciones. Una leyenda y nombres claros reducen ambigüedades.</a:t>
            </a:r>
          </a:p>
          <a:p>
            <a:pPr algn="l" marL="0" indent="0">
              <a:lnSpc>
                <a:spcPct val="110000"/>
              </a:lnSpc>
              <a:buNone/>
            </a:pPr>
            <a:r>
              <a:rPr lang="es-MX" sz="1400" b="0">
                <a:solidFill>
                  <a:srgbClr val="000000"/>
                </a:solidFill>
                <a:latin typeface="Arial"/>
              </a:rPr>
              <a:t>Fundamentos de la ingeniería de software. Capítulo 4. Mantén la sencillez. Conoce a tu público. Ten cuidado con la elección de los colores. Establece normas y plantillas.</a:t>
            </a:r>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p:sp>
        <p:nvSpPr>
          <p:cNvPr id="2" name="Notas del presentador"/>
          <p:cNvSpPr txBox="1"/>
          <p:nvPr>
            <p:ph type="body" idx="1"/>
          </p:nvPr>
        </p:nvSpPr>
        <p:spPr>
          <a:xfrm>
            <a:off x="635000" y="1270000"/>
            <a:ext cx="7874000" cy="9652000"/>
          </a:xfrm>
          <a:prstGeom prst="rect">
            <a:avLst/>
          </a:prstGeom>
          <a:noFill/>
          <a:ln>
            <a:noFill/>
          </a:ln>
        </p:spPr>
        <p:txBody>
          <a:bodyPr wrap="square" lIns="0" tIns="0" rIns="0" bIns="0" anchor="t">
            <a:noAutofit/>
          </a:bodyPr>
          <a:lstStyle/>
          <a:p>
            <a:pPr algn="l" marL="0" indent="0">
              <a:lnSpc>
                <a:spcPct val="110000"/>
              </a:lnSpc>
              <a:buNone/>
            </a:pPr>
            <a:r>
              <a:rPr lang="es-MX" sz="1400" b="0">
                <a:solidFill>
                  <a:srgbClr val="000000"/>
                </a:solidFill>
                <a:latin typeface="Arial"/>
              </a:rPr>
              <a:t>El aprendizaje central es la confianza para modificar software sin depender solo de la intuición. Una prueba repetible puede detectar una regresión y documentar el resultado esperado. Esa confianza no es garantía absoluta: depende de que las pruebas comprueben comportamientos relevantes y de que interpretemos sus resultados. El ciclo de verificar, cambiar y volver a verificar es mi aplicación práctica de lo leído.</a:t>
            </a:r>
          </a:p>
          <a:p>
            <a:pPr algn="l" marL="0" indent="0">
              <a:lnSpc>
                <a:spcPct val="110000"/>
              </a:lnSpc>
              <a:buNone/>
            </a:pPr>
            <a:r>
              <a:rPr lang="es-MX" sz="1400" b="0">
                <a:solidFill>
                  <a:srgbClr val="000000"/>
                </a:solidFill>
                <a:latin typeface="Arial"/>
              </a:rPr>
              <a:t>Fundamentos de la ingeniería de software. Capítulo 5. Aumenta tu confianza. Mejora la mantenibilidad. Conduce a la coherencia y la repetibilidad.</a:t>
            </a:r>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p:sp>
        <p:nvSpPr>
          <p:cNvPr id="2" name="Notas del presentador"/>
          <p:cNvSpPr txBox="1"/>
          <p:nvPr>
            <p:ph type="body" idx="1"/>
          </p:nvPr>
        </p:nvSpPr>
        <p:spPr>
          <a:xfrm>
            <a:off x="635000" y="1270000"/>
            <a:ext cx="7874000" cy="9652000"/>
          </a:xfrm>
          <a:prstGeom prst="rect">
            <a:avLst/>
          </a:prstGeom>
          <a:noFill/>
          <a:ln>
            <a:noFill/>
          </a:ln>
        </p:spPr>
        <p:txBody>
          <a:bodyPr wrap="square" lIns="0" tIns="0" rIns="0" bIns="0" anchor="t">
            <a:noAutofit/>
          </a:bodyPr>
          <a:lstStyle/>
          <a:p>
            <a:pPr algn="l" marL="0" indent="0">
              <a:lnSpc>
                <a:spcPct val="110000"/>
              </a:lnSpc>
              <a:buNone/>
            </a:pPr>
            <a:r>
              <a:rPr lang="es-MX" sz="1400" b="0">
                <a:solidFill>
                  <a:srgbClr val="000000"/>
                </a:solidFill>
                <a:latin typeface="Arial"/>
              </a:rPr>
              <a:t>La pirámide sugiere muchas pruebas pequeñas, un conjunto de integración y menos recorridos completos. Las pruebas unitarias aíslan unidades. Las de integración verifican colaboración. Las de extremo a extremo recorren el comportamiento que vive un usuario. La proporción depende del riesgo y del sistema. No presento porcentajes obligatorios. En general, las pruebas amplias cuestan más de ejecutar y mantener.</a:t>
            </a:r>
          </a:p>
          <a:p>
            <a:pPr algn="l" marL="0" indent="0">
              <a:lnSpc>
                <a:spcPct val="110000"/>
              </a:lnSpc>
              <a:buNone/>
            </a:pPr>
            <a:r>
              <a:rPr lang="es-MX" sz="1400" b="0">
                <a:solidFill>
                  <a:srgbClr val="000000"/>
                </a:solidFill>
                <a:latin typeface="Arial"/>
              </a:rPr>
              <a:t>Figura 5-1, PDF del capítulo 5, página 9. Fundamentos de la ingeniería de software. Capítulo 5. Tipos de pruebas automatizadas. Qué combinación de pruebas debes escribir.</a:t>
            </a:r>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p:sp>
        <p:nvSpPr>
          <p:cNvPr id="2" name="Notas del presentador"/>
          <p:cNvSpPr txBox="1"/>
          <p:nvPr>
            <p:ph type="body" idx="1"/>
          </p:nvPr>
        </p:nvSpPr>
        <p:spPr>
          <a:xfrm>
            <a:off x="635000" y="1270000"/>
            <a:ext cx="7874000" cy="9652000"/>
          </a:xfrm>
          <a:prstGeom prst="rect">
            <a:avLst/>
          </a:prstGeom>
          <a:noFill/>
          <a:ln>
            <a:noFill/>
          </a:ln>
        </p:spPr>
        <p:txBody>
          <a:bodyPr wrap="square" lIns="0" tIns="0" rIns="0" bIns="0" anchor="t">
            <a:noAutofit/>
          </a:bodyPr>
          <a:lstStyle/>
          <a:p>
            <a:pPr algn="l" marL="0" indent="0">
              <a:lnSpc>
                <a:spcPct val="110000"/>
              </a:lnSpc>
              <a:buNone/>
            </a:pPr>
            <a:r>
              <a:rPr lang="es-MX" sz="1400" b="0">
                <a:solidFill>
                  <a:srgbClr val="000000"/>
                </a:solidFill>
                <a:latin typeface="Arial"/>
              </a:rPr>
              <a:t>La cobertura cuenta código ejecutado. Una prueba puede recorrer una función sin comprobar un resultado importante. Por eso necesito aserciones que verifiquen la regla de negocio, casos límite y fallos relevantes. El ejemplo es pseudocódigo propio. JUnit aparece como herramienta de pruebas en el capítulo, pero el principio aplica a cualquier framework. No afirmo que la versión actual de JUnit sea la misma que la edición del libro.</a:t>
            </a:r>
          </a:p>
          <a:p>
            <a:pPr algn="l" marL="0" indent="0">
              <a:lnSpc>
                <a:spcPct val="110000"/>
              </a:lnSpc>
              <a:buNone/>
            </a:pPr>
            <a:r>
              <a:rPr lang="es-MX" sz="1400" b="0">
                <a:solidFill>
                  <a:srgbClr val="000000"/>
                </a:solidFill>
                <a:latin typeface="Arial"/>
              </a:rPr>
              <a:t>Fundamentos de la ingeniería de software. Capítulo 5. Cobertura del código. Aserciones.</a:t>
            </a:r>
          </a:p>
          <a:p>
            <a:pPr algn="l" marL="0" indent="0">
              <a:lnSpc>
                <a:spcPct val="110000"/>
              </a:lnSpc>
              <a:buNone/>
            </a:pPr>
            <a:r>
              <a:rPr lang="es-MX" sz="1400" b="0">
                <a:solidFill>
                  <a:srgbClr val="000000"/>
                </a:solidFill>
                <a:latin typeface="Arial"/>
              </a:rPr>
              <a:t>Logo oficial: https://junit.org/assets/img/junit-logo.svg</a:t>
            </a:r>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p:sp>
        <p:nvSpPr>
          <p:cNvPr id="2" name="Notas del presentador"/>
          <p:cNvSpPr txBox="1"/>
          <p:nvPr>
            <p:ph type="body" idx="1"/>
          </p:nvPr>
        </p:nvSpPr>
        <p:spPr>
          <a:xfrm>
            <a:off x="635000" y="1270000"/>
            <a:ext cx="7874000" cy="9652000"/>
          </a:xfrm>
          <a:prstGeom prst="rect">
            <a:avLst/>
          </a:prstGeom>
          <a:noFill/>
          <a:ln>
            <a:noFill/>
          </a:ln>
        </p:spPr>
        <p:txBody>
          <a:bodyPr wrap="square" lIns="0" tIns="0" rIns="0" bIns="0" anchor="t">
            <a:noAutofit/>
          </a:bodyPr>
          <a:lstStyle/>
          <a:p>
            <a:pPr algn="l" marL="0" indent="0">
              <a:lnSpc>
                <a:spcPct val="110000"/>
              </a:lnSpc>
              <a:buNone/>
            </a:pPr>
            <a:r>
              <a:rPr lang="es-MX" sz="1400" b="0">
                <a:solidFill>
                  <a:srgbClr val="000000"/>
                </a:solidFill>
                <a:latin typeface="Arial"/>
              </a:rPr>
              <a:t>Esta propuesta es una aplicación personal, no una receta textual del libro. Antes de delegar, redacto el problema, el contexto y los criterios de aceptación. Pido un cambio pequeño que pueda revisar. Leo el diff y explico el comportamiento con mis propias palabras. Después contrasto el resultado con pruebas y mantengo la documentación. Una explicación del agente es una hipótesis que debo verificar, no evidencia suficiente.</a:t>
            </a:r>
          </a:p>
          <a:p>
            <a:pPr algn="l" marL="0" indent="0">
              <a:lnSpc>
                <a:spcPct val="110000"/>
              </a:lnSpc>
              <a:buNone/>
            </a:pPr>
            <a:r>
              <a:rPr lang="es-MX" sz="1400" b="0">
                <a:solidFill>
                  <a:srgbClr val="000000"/>
                </a:solidFill>
                <a:latin typeface="Arial"/>
              </a:rPr>
              <a:t>Síntesis personal a partir de los capítulos 1 a 5 y del brief del expositor.</a:t>
            </a:r>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p:sp>
        <p:nvSpPr>
          <p:cNvPr id="2" name="Notas del presentador"/>
          <p:cNvSpPr txBox="1"/>
          <p:nvPr>
            <p:ph type="body" idx="1"/>
          </p:nvPr>
        </p:nvSpPr>
        <p:spPr>
          <a:xfrm>
            <a:off x="635000" y="1270000"/>
            <a:ext cx="7874000" cy="9652000"/>
          </a:xfrm>
          <a:prstGeom prst="rect">
            <a:avLst/>
          </a:prstGeom>
          <a:noFill/>
          <a:ln>
            <a:noFill/>
          </a:ln>
        </p:spPr>
        <p:txBody>
          <a:bodyPr wrap="square" lIns="0" tIns="0" rIns="0" bIns="0" anchor="t">
            <a:noAutofit/>
          </a:bodyPr>
          <a:lstStyle/>
          <a:p>
            <a:pPr algn="l" marL="0" indent="0">
              <a:lnSpc>
                <a:spcPct val="110000"/>
              </a:lnSpc>
              <a:buNone/>
            </a:pPr>
            <a:r>
              <a:rPr lang="es-MX" sz="1400" b="0">
                <a:solidFill>
                  <a:srgbClr val="000000"/>
                </a:solidFill>
                <a:latin typeface="Arial"/>
              </a:rPr>
              <a:t>No hay una única historia de cómo un junior se convertía en senior antes de la IA. Los equipos y trayectorias siempre han sido diferentes. Lo que identifico en el libro es un conjunto de experiencias formativas: leer sistemas ajenos, investigar errores, recibir revisión y mantener decisiones en el tiempo. Con IA puedo seguir practicándolas de forma deliberada. Esta lámina expresa mi interpretación y mis objetivos, no una investigación histórica ni una promesa de ascenso.</a:t>
            </a:r>
          </a:p>
          <a:p>
            <a:pPr algn="l" marL="0" indent="0">
              <a:lnSpc>
                <a:spcPct val="110000"/>
              </a:lnSpc>
              <a:buNone/>
            </a:pPr>
            <a:r>
              <a:rPr lang="es-MX" sz="1400" b="0">
                <a:solidFill>
                  <a:srgbClr val="000000"/>
                </a:solidFill>
                <a:latin typeface="Arial"/>
              </a:rPr>
              <a:t>Reflexión personal apoyada en el prefacio y los capítulos 1 a 5.</a:t>
            </a:r>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p:sp>
        <p:nvSpPr>
          <p:cNvPr id="2" name="Notas del presentador"/>
          <p:cNvSpPr txBox="1"/>
          <p:nvPr>
            <p:ph type="body" idx="1"/>
          </p:nvPr>
        </p:nvSpPr>
        <p:spPr>
          <a:xfrm>
            <a:off x="635000" y="1270000"/>
            <a:ext cx="7874000" cy="9652000"/>
          </a:xfrm>
          <a:prstGeom prst="rect">
            <a:avLst/>
          </a:prstGeom>
          <a:noFill/>
          <a:ln>
            <a:noFill/>
          </a:ln>
        </p:spPr>
        <p:txBody>
          <a:bodyPr wrap="square" lIns="0" tIns="0" rIns="0" bIns="0" anchor="t">
            <a:noAutofit/>
          </a:bodyPr>
          <a:lstStyle/>
          <a:p>
            <a:pPr algn="l" marL="0" indent="0">
              <a:lnSpc>
                <a:spcPct val="110000"/>
              </a:lnSpc>
              <a:buNone/>
            </a:pPr>
            <a:r>
              <a:rPr lang="es-MX" sz="1400" b="0">
                <a:solidFill>
                  <a:srgbClr val="000000"/>
                </a:solidFill>
                <a:latin typeface="Arial"/>
              </a:rPr>
              <a:t>Mi propósito es convertir estos aprendizajes en práctica. Quiero poder explicar una funcionalidad sin depender de la respuesta de un agente. También quiero pedir retroalimentación, revisar las pruebas que dan confianza y documentar las decisiones que dejan contexto a quien siga. Para cerrar, puedo invitar al público a contar qué experiencia les enseñó más sobre mantener software real. Estos compromisos son objetivos, no logros que ya esté atribuyéndome.</a:t>
            </a:r>
          </a:p>
          <a:p>
            <a:pPr algn="l" marL="0" indent="0">
              <a:lnSpc>
                <a:spcPct val="110000"/>
              </a:lnSpc>
              <a:buNone/>
            </a:pPr>
            <a:r>
              <a:rPr lang="es-MX" sz="1400" b="0">
                <a:solidFill>
                  <a:srgbClr val="000000"/>
                </a:solidFill>
                <a:latin typeface="Arial"/>
              </a:rPr>
              <a:t>Síntesis personal de los capítulos 1 a 5.</a:t>
            </a:r>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p:sp>
        <p:nvSpPr>
          <p:cNvPr id="2" name="Notas del presentador"/>
          <p:cNvSpPr txBox="1"/>
          <p:nvPr>
            <p:ph type="body" idx="1"/>
          </p:nvPr>
        </p:nvSpPr>
        <p:spPr>
          <a:xfrm>
            <a:off x="635000" y="1270000"/>
            <a:ext cx="7874000" cy="9652000"/>
          </a:xfrm>
          <a:prstGeom prst="rect">
            <a:avLst/>
          </a:prstGeom>
          <a:noFill/>
          <a:ln>
            <a:noFill/>
          </a:ln>
        </p:spPr>
        <p:txBody>
          <a:bodyPr wrap="square" lIns="0" tIns="0" rIns="0" bIns="0" anchor="t">
            <a:noAutofit/>
          </a:bodyPr>
          <a:lstStyle/>
          <a:p>
            <a:pPr algn="l" marL="0" indent="0">
              <a:lnSpc>
                <a:spcPct val="110000"/>
              </a:lnSpc>
              <a:buNone/>
            </a:pPr>
            <a:r>
              <a:rPr lang="es-MX" sz="1400" b="0">
                <a:solidFill>
                  <a:srgbClr val="000000"/>
                </a:solidFill>
                <a:latin typeface="Arial"/>
              </a:rPr>
              <a:t>Fuente principal: Nathaniel T. Schutta y Dan Vega. Fundamentos de la ingeniería de software. O’Reilly, 2026. Prefacio y capítulos 1 a 5, edición traducida con IA facilitada por el expositor. Las figuras conservan su contenido y están identificadas en las láminas correspondientes. Los ejemplos de código breves y la aplicación a agentes son síntesis didácticas propias. Diseño basado en la plantilla Formato presentaciones TSW.pptx suministrada por el expositor.</a:t>
            </a:r>
          </a:p>
          <a:p>
            <a:pPr algn="l" marL="0" indent="0">
              <a:lnSpc>
                <a:spcPct val="110000"/>
              </a:lnSpc>
              <a:buNone/>
            </a:pPr>
            <a:r>
              <a:rPr lang="es-MX" sz="1400" b="0">
                <a:solidFill>
                  <a:srgbClr val="000000"/>
                </a:solidFill>
                <a:latin typeface="Arial"/>
              </a:rPr>
              <a:t>Imágenes externas: https://github.com/anthropics/claude-code/blob/main/demo.gif ; https://github.com/openai/codex/blob/main/.github/codex-cli-splash.png ; https://github.com/JetBrains/logos/blob/master/web/intellij-idea/intellij-idea.svg ; https://junit.org/assets/img/junit-logo.svg . Consultadas el 23 de octubre de 2026.</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031073-D4AA-B645-8326-273AA5139BBC}"/>
              </a:ext>
            </a:extLst>
          </p:cNvPr>
          <p:cNvSpPr>
            <a:spLocks noGrp="1"/>
          </p:cNvSpPr>
          <p:nvPr>
            <p:ph type="ctrTitle"/>
          </p:nvPr>
        </p:nvSpPr>
        <p:spPr>
          <a:xfrm>
            <a:off x="2706757" y="1097033"/>
            <a:ext cx="9144000" cy="2387600"/>
          </a:xfrm>
        </p:spPr>
        <p:txBody>
          <a:bodyPr anchor="b">
            <a:normAutofit/>
          </a:bodyPr>
          <a:lstStyle>
            <a:lvl1pPr algn="ctr">
              <a:defRPr sz="3200"/>
            </a:lvl1pPr>
          </a:lstStyle>
          <a:p>
            <a:r>
              <a:rPr lang="es-MX"/>
              <a:t>Haz clic para modificar el estilo de título del patrón</a:t>
            </a:r>
            <a:endParaRPr lang="es-MX" dirty="0"/>
          </a:p>
        </p:txBody>
      </p:sp>
      <p:sp>
        <p:nvSpPr>
          <p:cNvPr id="3" name="Subtítulo 2">
            <a:extLst>
              <a:ext uri="{FF2B5EF4-FFF2-40B4-BE49-F238E27FC236}">
                <a16:creationId xmlns:a16="http://schemas.microsoft.com/office/drawing/2014/main" id="{AC1B5187-E3EA-F24D-8904-5D07B047F47F}"/>
              </a:ext>
            </a:extLst>
          </p:cNvPr>
          <p:cNvSpPr>
            <a:spLocks noGrp="1"/>
          </p:cNvSpPr>
          <p:nvPr>
            <p:ph type="subTitle" idx="1"/>
          </p:nvPr>
        </p:nvSpPr>
        <p:spPr>
          <a:xfrm>
            <a:off x="2706757" y="3568840"/>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p>
        </p:txBody>
      </p:sp>
      <p:sp>
        <p:nvSpPr>
          <p:cNvPr id="7" name="Rectángulo 6">
            <a:extLst>
              <a:ext uri="{FF2B5EF4-FFF2-40B4-BE49-F238E27FC236}">
                <a16:creationId xmlns:a16="http://schemas.microsoft.com/office/drawing/2014/main" id="{3B502292-FC81-0443-8933-BE8A8CFFBCF5}"/>
              </a:ext>
            </a:extLst>
          </p:cNvPr>
          <p:cNvSpPr/>
          <p:nvPr userDrawn="1"/>
        </p:nvSpPr>
        <p:spPr>
          <a:xfrm>
            <a:off x="0" y="6440557"/>
            <a:ext cx="12192000" cy="417443"/>
          </a:xfrm>
          <a:prstGeom prst="rect">
            <a:avLst/>
          </a:prstGeom>
          <a:solidFill>
            <a:srgbClr val="25204E"/>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1" name="Marcador de número de diapositiva 10">
            <a:extLst>
              <a:ext uri="{FF2B5EF4-FFF2-40B4-BE49-F238E27FC236}">
                <a16:creationId xmlns:a16="http://schemas.microsoft.com/office/drawing/2014/main" id="{6B981429-93E1-D34F-A0A5-B15EB215BA70}"/>
              </a:ext>
            </a:extLst>
          </p:cNvPr>
          <p:cNvSpPr>
            <a:spLocks noGrp="1"/>
          </p:cNvSpPr>
          <p:nvPr>
            <p:ph type="sldNum" sz="quarter" idx="12"/>
          </p:nvPr>
        </p:nvSpPr>
        <p:spPr>
          <a:xfrm>
            <a:off x="10108096" y="6440557"/>
            <a:ext cx="1245704" cy="365125"/>
          </a:xfrm>
        </p:spPr>
        <p:txBody>
          <a:bodyPr/>
          <a:lstStyle>
            <a:lvl1pPr>
              <a:defRPr>
                <a:solidFill>
                  <a:schemeClr val="bg1"/>
                </a:solidFill>
              </a:defRPr>
            </a:lvl1pPr>
          </a:lstStyle>
          <a:p>
            <a:fld id="{2A1628E6-CCA4-A443-9FF2-25F7FB63D0B6}" type="slidenum">
              <a:rPr lang="es-MX" smtClean="0"/>
              <a:pPr/>
              <a:t>‹Nº›</a:t>
            </a:fld>
            <a:endParaRPr lang="es-MX"/>
          </a:p>
        </p:txBody>
      </p:sp>
      <p:pic>
        <p:nvPicPr>
          <p:cNvPr id="13" name="Imagen 12">
            <a:extLst>
              <a:ext uri="{FF2B5EF4-FFF2-40B4-BE49-F238E27FC236}">
                <a16:creationId xmlns:a16="http://schemas.microsoft.com/office/drawing/2014/main" id="{B07F5DCB-7AAC-BC41-8A7D-3AE57A752367}"/>
              </a:ext>
            </a:extLst>
          </p:cNvPr>
          <p:cNvPicPr>
            <a:picLocks noChangeAspect="1"/>
          </p:cNvPicPr>
          <p:nvPr userDrawn="1"/>
        </p:nvPicPr>
        <p:blipFill>
          <a:blip r:embed="rId2"/>
          <a:stretch>
            <a:fillRect/>
          </a:stretch>
        </p:blipFill>
        <p:spPr>
          <a:xfrm>
            <a:off x="838200" y="310287"/>
            <a:ext cx="1868557" cy="1868557"/>
          </a:xfrm>
          <a:prstGeom prst="rect">
            <a:avLst/>
          </a:prstGeom>
        </p:spPr>
      </p:pic>
    </p:spTree>
    <p:extLst>
      <p:ext uri="{BB962C8B-B14F-4D97-AF65-F5344CB8AC3E}">
        <p14:creationId xmlns:p14="http://schemas.microsoft.com/office/powerpoint/2010/main" val="16284652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BA9283-E497-5243-A0F4-D3561F66913F}"/>
              </a:ext>
            </a:extLst>
          </p:cNvPr>
          <p:cNvSpPr>
            <a:spLocks noGrp="1"/>
          </p:cNvSpPr>
          <p:nvPr>
            <p:ph type="title"/>
          </p:nvPr>
        </p:nvSpPr>
        <p:spPr/>
        <p:txBody>
          <a:bodyPr>
            <a:normAutofit/>
          </a:bodyPr>
          <a:lstStyle>
            <a:lvl1pPr>
              <a:defRPr sz="3200"/>
            </a:lvl1p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B0F6552A-3267-2C42-BFBD-D54E2E407ADE}"/>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8" name="Rectángulo 7">
            <a:extLst>
              <a:ext uri="{FF2B5EF4-FFF2-40B4-BE49-F238E27FC236}">
                <a16:creationId xmlns:a16="http://schemas.microsoft.com/office/drawing/2014/main" id="{82908DC4-AE8B-7141-9F34-3EF78D71277B}"/>
              </a:ext>
            </a:extLst>
          </p:cNvPr>
          <p:cNvSpPr/>
          <p:nvPr userDrawn="1"/>
        </p:nvSpPr>
        <p:spPr>
          <a:xfrm>
            <a:off x="0" y="6440557"/>
            <a:ext cx="12192000" cy="417443"/>
          </a:xfrm>
          <a:prstGeom prst="rect">
            <a:avLst/>
          </a:prstGeom>
          <a:solidFill>
            <a:srgbClr val="25204E"/>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Marcador de número de diapositiva 5">
            <a:extLst>
              <a:ext uri="{FF2B5EF4-FFF2-40B4-BE49-F238E27FC236}">
                <a16:creationId xmlns:a16="http://schemas.microsoft.com/office/drawing/2014/main" id="{AEF6A2DB-55BD-D341-8C60-88593270F9DE}"/>
              </a:ext>
            </a:extLst>
          </p:cNvPr>
          <p:cNvSpPr>
            <a:spLocks noGrp="1"/>
          </p:cNvSpPr>
          <p:nvPr>
            <p:ph type="sldNum" sz="quarter" idx="12"/>
          </p:nvPr>
        </p:nvSpPr>
        <p:spPr>
          <a:xfrm>
            <a:off x="10525539" y="6466715"/>
            <a:ext cx="828261" cy="365125"/>
          </a:xfrm>
        </p:spPr>
        <p:txBody>
          <a:bodyPr/>
          <a:lstStyle>
            <a:lvl1pPr>
              <a:defRPr>
                <a:solidFill>
                  <a:schemeClr val="bg1"/>
                </a:solidFill>
              </a:defRPr>
            </a:lvl1pPr>
          </a:lstStyle>
          <a:p>
            <a:fld id="{1A36FF63-2152-7E40-8DEF-93BE75A438AE}" type="slidenum">
              <a:rPr lang="es-MX" smtClean="0"/>
              <a:pPr/>
              <a:t>‹Nº›</a:t>
            </a:fld>
            <a:endParaRPr lang="es-MX"/>
          </a:p>
        </p:txBody>
      </p:sp>
      <p:pic>
        <p:nvPicPr>
          <p:cNvPr id="10" name="Imagen 9">
            <a:extLst>
              <a:ext uri="{FF2B5EF4-FFF2-40B4-BE49-F238E27FC236}">
                <a16:creationId xmlns:a16="http://schemas.microsoft.com/office/drawing/2014/main" id="{98576B1A-1370-1244-B844-883D7FF55A5A}"/>
              </a:ext>
            </a:extLst>
          </p:cNvPr>
          <p:cNvPicPr>
            <a:picLocks noChangeAspect="1"/>
          </p:cNvPicPr>
          <p:nvPr userDrawn="1"/>
        </p:nvPicPr>
        <p:blipFill>
          <a:blip r:embed="rId2"/>
          <a:stretch>
            <a:fillRect/>
          </a:stretch>
        </p:blipFill>
        <p:spPr>
          <a:xfrm>
            <a:off x="10939669" y="5674502"/>
            <a:ext cx="348484" cy="343694"/>
          </a:xfrm>
          <a:prstGeom prst="rect">
            <a:avLst/>
          </a:prstGeom>
        </p:spPr>
      </p:pic>
    </p:spTree>
    <p:extLst>
      <p:ext uri="{BB962C8B-B14F-4D97-AF65-F5344CB8AC3E}">
        <p14:creationId xmlns:p14="http://schemas.microsoft.com/office/powerpoint/2010/main" val="15105939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FBFDBD-CA14-814A-BB3A-BD529F1075CF}"/>
              </a:ext>
            </a:extLst>
          </p:cNvPr>
          <p:cNvSpPr>
            <a:spLocks noGrp="1"/>
          </p:cNvSpPr>
          <p:nvPr>
            <p:ph type="title"/>
          </p:nvPr>
        </p:nvSpPr>
        <p:spPr>
          <a:xfrm>
            <a:off x="831850" y="1709738"/>
            <a:ext cx="10515600" cy="2852737"/>
          </a:xfrm>
        </p:spPr>
        <p:txBody>
          <a:bodyPr anchor="b">
            <a:normAutofit/>
          </a:bodyPr>
          <a:lstStyle>
            <a:lvl1pPr>
              <a:defRPr sz="3600"/>
            </a:lvl1pPr>
          </a:lstStyle>
          <a:p>
            <a:r>
              <a:rPr lang="es-MX"/>
              <a:t>Haz clic para modificar el estilo de título del patrón</a:t>
            </a:r>
          </a:p>
        </p:txBody>
      </p:sp>
      <p:sp>
        <p:nvSpPr>
          <p:cNvPr id="3" name="Marcador de texto 2">
            <a:extLst>
              <a:ext uri="{FF2B5EF4-FFF2-40B4-BE49-F238E27FC236}">
                <a16:creationId xmlns:a16="http://schemas.microsoft.com/office/drawing/2014/main" id="{3FB411AB-1603-3348-A8A7-20CEADA5188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MX"/>
              <a:t>Haga clic para modificar los estilos de texto del patrón</a:t>
            </a:r>
          </a:p>
        </p:txBody>
      </p:sp>
      <p:sp>
        <p:nvSpPr>
          <p:cNvPr id="7" name="Rectángulo 6">
            <a:extLst>
              <a:ext uri="{FF2B5EF4-FFF2-40B4-BE49-F238E27FC236}">
                <a16:creationId xmlns:a16="http://schemas.microsoft.com/office/drawing/2014/main" id="{5A2CD955-E74A-FC42-95A0-5D4331C9C711}"/>
              </a:ext>
            </a:extLst>
          </p:cNvPr>
          <p:cNvSpPr/>
          <p:nvPr userDrawn="1"/>
        </p:nvSpPr>
        <p:spPr>
          <a:xfrm>
            <a:off x="0" y="6440557"/>
            <a:ext cx="12192000" cy="417443"/>
          </a:xfrm>
          <a:prstGeom prst="rect">
            <a:avLst/>
          </a:prstGeom>
          <a:solidFill>
            <a:srgbClr val="25204E"/>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8" name="Imagen 7">
            <a:extLst>
              <a:ext uri="{FF2B5EF4-FFF2-40B4-BE49-F238E27FC236}">
                <a16:creationId xmlns:a16="http://schemas.microsoft.com/office/drawing/2014/main" id="{04FCD31E-44F1-0E4A-8E04-874B0A792AE6}"/>
              </a:ext>
            </a:extLst>
          </p:cNvPr>
          <p:cNvPicPr>
            <a:picLocks noChangeAspect="1"/>
          </p:cNvPicPr>
          <p:nvPr userDrawn="1"/>
        </p:nvPicPr>
        <p:blipFill>
          <a:blip r:embed="rId2"/>
          <a:stretch>
            <a:fillRect/>
          </a:stretch>
        </p:blipFill>
        <p:spPr>
          <a:xfrm>
            <a:off x="10939669" y="5674502"/>
            <a:ext cx="348484" cy="343694"/>
          </a:xfrm>
          <a:prstGeom prst="rect">
            <a:avLst/>
          </a:prstGeom>
        </p:spPr>
      </p:pic>
      <p:sp>
        <p:nvSpPr>
          <p:cNvPr id="6" name="Marcador de número de diapositiva 5">
            <a:extLst>
              <a:ext uri="{FF2B5EF4-FFF2-40B4-BE49-F238E27FC236}">
                <a16:creationId xmlns:a16="http://schemas.microsoft.com/office/drawing/2014/main" id="{163A8FA7-3EBC-FF4C-A847-20507FDC6501}"/>
              </a:ext>
            </a:extLst>
          </p:cNvPr>
          <p:cNvSpPr>
            <a:spLocks noGrp="1"/>
          </p:cNvSpPr>
          <p:nvPr>
            <p:ph type="sldNum" sz="quarter" idx="12"/>
          </p:nvPr>
        </p:nvSpPr>
        <p:spPr>
          <a:xfrm>
            <a:off x="8604250" y="6440557"/>
            <a:ext cx="2743200" cy="365125"/>
          </a:xfrm>
        </p:spPr>
        <p:txBody>
          <a:bodyPr/>
          <a:lstStyle>
            <a:lvl1pPr>
              <a:defRPr>
                <a:solidFill>
                  <a:schemeClr val="bg1"/>
                </a:solidFill>
              </a:defRPr>
            </a:lvl1pPr>
          </a:lstStyle>
          <a:p>
            <a:fld id="{1A36FF63-2152-7E40-8DEF-93BE75A438AE}" type="slidenum">
              <a:rPr lang="es-MX" smtClean="0"/>
              <a:pPr/>
              <a:t>‹Nº›</a:t>
            </a:fld>
            <a:endParaRPr lang="es-MX"/>
          </a:p>
        </p:txBody>
      </p:sp>
    </p:spTree>
    <p:extLst>
      <p:ext uri="{BB962C8B-B14F-4D97-AF65-F5344CB8AC3E}">
        <p14:creationId xmlns:p14="http://schemas.microsoft.com/office/powerpoint/2010/main" val="13692259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C9B34C-9329-8847-A8D8-B9A3C490B3D5}"/>
              </a:ext>
            </a:extLst>
          </p:cNvPr>
          <p:cNvSpPr>
            <a:spLocks noGrp="1"/>
          </p:cNvSpPr>
          <p:nvPr>
            <p:ph type="title"/>
          </p:nvPr>
        </p:nvSpPr>
        <p:spPr/>
        <p:txBody>
          <a:bodyPr>
            <a:normAutofit/>
          </a:bodyPr>
          <a:lstStyle>
            <a:lvl1pPr>
              <a:defRPr sz="3600"/>
            </a:lvl1p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F5EE8E8A-A44D-1347-A53C-2F04FBC1242B}"/>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contenido 3">
            <a:extLst>
              <a:ext uri="{FF2B5EF4-FFF2-40B4-BE49-F238E27FC236}">
                <a16:creationId xmlns:a16="http://schemas.microsoft.com/office/drawing/2014/main" id="{C7450899-79A8-3B49-B267-68A08D26B13D}"/>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8" name="Rectángulo 7">
            <a:extLst>
              <a:ext uri="{FF2B5EF4-FFF2-40B4-BE49-F238E27FC236}">
                <a16:creationId xmlns:a16="http://schemas.microsoft.com/office/drawing/2014/main" id="{3482C0C6-D557-4048-901D-26D0433C3E1A}"/>
              </a:ext>
            </a:extLst>
          </p:cNvPr>
          <p:cNvSpPr/>
          <p:nvPr userDrawn="1"/>
        </p:nvSpPr>
        <p:spPr>
          <a:xfrm>
            <a:off x="0" y="6440557"/>
            <a:ext cx="12192000" cy="417443"/>
          </a:xfrm>
          <a:prstGeom prst="rect">
            <a:avLst/>
          </a:prstGeom>
          <a:solidFill>
            <a:srgbClr val="25204E"/>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9" name="Imagen 8">
            <a:extLst>
              <a:ext uri="{FF2B5EF4-FFF2-40B4-BE49-F238E27FC236}">
                <a16:creationId xmlns:a16="http://schemas.microsoft.com/office/drawing/2014/main" id="{FD4045BF-9B6F-9146-AFDE-32030F7D00D4}"/>
              </a:ext>
            </a:extLst>
          </p:cNvPr>
          <p:cNvPicPr>
            <a:picLocks noChangeAspect="1"/>
          </p:cNvPicPr>
          <p:nvPr userDrawn="1"/>
        </p:nvPicPr>
        <p:blipFill>
          <a:blip r:embed="rId2"/>
          <a:stretch>
            <a:fillRect/>
          </a:stretch>
        </p:blipFill>
        <p:spPr>
          <a:xfrm>
            <a:off x="10939669" y="5674502"/>
            <a:ext cx="348484" cy="343694"/>
          </a:xfrm>
          <a:prstGeom prst="rect">
            <a:avLst/>
          </a:prstGeom>
        </p:spPr>
      </p:pic>
      <p:sp>
        <p:nvSpPr>
          <p:cNvPr id="10" name="Marcador de número de diapositiva 5">
            <a:extLst>
              <a:ext uri="{FF2B5EF4-FFF2-40B4-BE49-F238E27FC236}">
                <a16:creationId xmlns:a16="http://schemas.microsoft.com/office/drawing/2014/main" id="{1A4122A8-71D0-C84C-B0F8-1CF1B91A522E}"/>
              </a:ext>
            </a:extLst>
          </p:cNvPr>
          <p:cNvSpPr>
            <a:spLocks noGrp="1"/>
          </p:cNvSpPr>
          <p:nvPr>
            <p:ph type="sldNum" sz="quarter" idx="12"/>
          </p:nvPr>
        </p:nvSpPr>
        <p:spPr>
          <a:xfrm>
            <a:off x="8604250" y="6440557"/>
            <a:ext cx="2743200" cy="365125"/>
          </a:xfrm>
        </p:spPr>
        <p:txBody>
          <a:bodyPr/>
          <a:lstStyle>
            <a:lvl1pPr>
              <a:defRPr>
                <a:solidFill>
                  <a:schemeClr val="bg1"/>
                </a:solidFill>
              </a:defRPr>
            </a:lvl1pPr>
          </a:lstStyle>
          <a:p>
            <a:fld id="{1A36FF63-2152-7E40-8DEF-93BE75A438AE}" type="slidenum">
              <a:rPr lang="es-MX" smtClean="0"/>
              <a:pPr/>
              <a:t>‹Nº›</a:t>
            </a:fld>
            <a:endParaRPr lang="es-MX"/>
          </a:p>
        </p:txBody>
      </p:sp>
    </p:spTree>
    <p:extLst>
      <p:ext uri="{BB962C8B-B14F-4D97-AF65-F5344CB8AC3E}">
        <p14:creationId xmlns:p14="http://schemas.microsoft.com/office/powerpoint/2010/main" val="1090782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9D442D-3F27-B448-BA6B-81ECF95C011E}"/>
              </a:ext>
            </a:extLst>
          </p:cNvPr>
          <p:cNvSpPr>
            <a:spLocks noGrp="1"/>
          </p:cNvSpPr>
          <p:nvPr>
            <p:ph type="title"/>
          </p:nvPr>
        </p:nvSpPr>
        <p:spPr>
          <a:xfrm>
            <a:off x="839788" y="365125"/>
            <a:ext cx="10515600" cy="1325563"/>
          </a:xfrm>
        </p:spPr>
        <p:txBody>
          <a:bodyPr>
            <a:normAutofit/>
          </a:bodyPr>
          <a:lstStyle>
            <a:lvl1pPr>
              <a:defRPr sz="3600"/>
            </a:lvl1pPr>
          </a:lstStyle>
          <a:p>
            <a:r>
              <a:rPr lang="es-MX"/>
              <a:t>Haz clic para modificar el estilo de título del patrón</a:t>
            </a:r>
            <a:endParaRPr lang="es-MX" dirty="0"/>
          </a:p>
        </p:txBody>
      </p:sp>
      <p:sp>
        <p:nvSpPr>
          <p:cNvPr id="3" name="Marcador de texto 2">
            <a:extLst>
              <a:ext uri="{FF2B5EF4-FFF2-40B4-BE49-F238E27FC236}">
                <a16:creationId xmlns:a16="http://schemas.microsoft.com/office/drawing/2014/main" id="{50FE175F-1B6E-0044-B5EC-A40DEEFDD7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DC26A5CA-2584-5F41-923E-3D52472B2E29}"/>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texto 4">
            <a:extLst>
              <a:ext uri="{FF2B5EF4-FFF2-40B4-BE49-F238E27FC236}">
                <a16:creationId xmlns:a16="http://schemas.microsoft.com/office/drawing/2014/main" id="{740FE618-AAF6-C841-8671-C6EA433D3E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39A01E46-D583-E54A-AA07-BB41FDFE1289}"/>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10" name="Rectángulo 9">
            <a:extLst>
              <a:ext uri="{FF2B5EF4-FFF2-40B4-BE49-F238E27FC236}">
                <a16:creationId xmlns:a16="http://schemas.microsoft.com/office/drawing/2014/main" id="{6CD2BD41-31D4-5D48-A68E-44033052EF44}"/>
              </a:ext>
            </a:extLst>
          </p:cNvPr>
          <p:cNvSpPr/>
          <p:nvPr userDrawn="1"/>
        </p:nvSpPr>
        <p:spPr>
          <a:xfrm>
            <a:off x="0" y="6440557"/>
            <a:ext cx="12192000" cy="417443"/>
          </a:xfrm>
          <a:prstGeom prst="rect">
            <a:avLst/>
          </a:prstGeom>
          <a:solidFill>
            <a:srgbClr val="25204E"/>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11" name="Imagen 10">
            <a:extLst>
              <a:ext uri="{FF2B5EF4-FFF2-40B4-BE49-F238E27FC236}">
                <a16:creationId xmlns:a16="http://schemas.microsoft.com/office/drawing/2014/main" id="{6077B72B-3B66-9D49-AFD4-F2434EBD98CA}"/>
              </a:ext>
            </a:extLst>
          </p:cNvPr>
          <p:cNvPicPr>
            <a:picLocks noChangeAspect="1"/>
          </p:cNvPicPr>
          <p:nvPr userDrawn="1"/>
        </p:nvPicPr>
        <p:blipFill>
          <a:blip r:embed="rId2"/>
          <a:stretch>
            <a:fillRect/>
          </a:stretch>
        </p:blipFill>
        <p:spPr>
          <a:xfrm>
            <a:off x="10939669" y="5674502"/>
            <a:ext cx="348484" cy="343694"/>
          </a:xfrm>
          <a:prstGeom prst="rect">
            <a:avLst/>
          </a:prstGeom>
        </p:spPr>
      </p:pic>
      <p:sp>
        <p:nvSpPr>
          <p:cNvPr id="12" name="Marcador de número de diapositiva 5">
            <a:extLst>
              <a:ext uri="{FF2B5EF4-FFF2-40B4-BE49-F238E27FC236}">
                <a16:creationId xmlns:a16="http://schemas.microsoft.com/office/drawing/2014/main" id="{17BBC9D8-97D5-CF48-94B2-46FCF10AC724}"/>
              </a:ext>
            </a:extLst>
          </p:cNvPr>
          <p:cNvSpPr>
            <a:spLocks noGrp="1"/>
          </p:cNvSpPr>
          <p:nvPr>
            <p:ph type="sldNum" sz="quarter" idx="12"/>
          </p:nvPr>
        </p:nvSpPr>
        <p:spPr>
          <a:xfrm>
            <a:off x="8604250" y="6440557"/>
            <a:ext cx="2743200" cy="365125"/>
          </a:xfrm>
        </p:spPr>
        <p:txBody>
          <a:bodyPr/>
          <a:lstStyle>
            <a:lvl1pPr>
              <a:defRPr>
                <a:solidFill>
                  <a:schemeClr val="bg1"/>
                </a:solidFill>
              </a:defRPr>
            </a:lvl1pPr>
          </a:lstStyle>
          <a:p>
            <a:fld id="{1A36FF63-2152-7E40-8DEF-93BE75A438AE}" type="slidenum">
              <a:rPr lang="es-MX" smtClean="0"/>
              <a:pPr/>
              <a:t>‹Nº›</a:t>
            </a:fld>
            <a:endParaRPr lang="es-MX"/>
          </a:p>
        </p:txBody>
      </p:sp>
    </p:spTree>
    <p:extLst>
      <p:ext uri="{BB962C8B-B14F-4D97-AF65-F5344CB8AC3E}">
        <p14:creationId xmlns:p14="http://schemas.microsoft.com/office/powerpoint/2010/main" val="1727541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B485E8-181E-2343-B413-94604188D017}"/>
              </a:ext>
            </a:extLst>
          </p:cNvPr>
          <p:cNvSpPr>
            <a:spLocks noGrp="1"/>
          </p:cNvSpPr>
          <p:nvPr>
            <p:ph type="title"/>
          </p:nvPr>
        </p:nvSpPr>
        <p:spPr/>
        <p:txBody>
          <a:bodyPr/>
          <a:lstStyle/>
          <a:p>
            <a:r>
              <a:rPr lang="es-MX"/>
              <a:t>Haz clic para modificar el estilo de título del patrón</a:t>
            </a:r>
          </a:p>
        </p:txBody>
      </p:sp>
      <p:sp>
        <p:nvSpPr>
          <p:cNvPr id="6" name="Rectángulo 5">
            <a:extLst>
              <a:ext uri="{FF2B5EF4-FFF2-40B4-BE49-F238E27FC236}">
                <a16:creationId xmlns:a16="http://schemas.microsoft.com/office/drawing/2014/main" id="{4F257DD0-BEAD-A44E-AAC1-AA7997243BE1}"/>
              </a:ext>
            </a:extLst>
          </p:cNvPr>
          <p:cNvSpPr/>
          <p:nvPr userDrawn="1"/>
        </p:nvSpPr>
        <p:spPr>
          <a:xfrm>
            <a:off x="0" y="6440557"/>
            <a:ext cx="12192000" cy="417443"/>
          </a:xfrm>
          <a:prstGeom prst="rect">
            <a:avLst/>
          </a:prstGeom>
          <a:solidFill>
            <a:srgbClr val="25204E"/>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7" name="Imagen 6">
            <a:extLst>
              <a:ext uri="{FF2B5EF4-FFF2-40B4-BE49-F238E27FC236}">
                <a16:creationId xmlns:a16="http://schemas.microsoft.com/office/drawing/2014/main" id="{AAFD2076-87C4-CA42-865C-0EFA54D3C401}"/>
              </a:ext>
            </a:extLst>
          </p:cNvPr>
          <p:cNvPicPr>
            <a:picLocks noChangeAspect="1"/>
          </p:cNvPicPr>
          <p:nvPr userDrawn="1"/>
        </p:nvPicPr>
        <p:blipFill>
          <a:blip r:embed="rId2"/>
          <a:stretch>
            <a:fillRect/>
          </a:stretch>
        </p:blipFill>
        <p:spPr>
          <a:xfrm>
            <a:off x="10939669" y="5674502"/>
            <a:ext cx="348484" cy="343694"/>
          </a:xfrm>
          <a:prstGeom prst="rect">
            <a:avLst/>
          </a:prstGeom>
        </p:spPr>
      </p:pic>
      <p:sp>
        <p:nvSpPr>
          <p:cNvPr id="8" name="Marcador de número de diapositiva 5">
            <a:extLst>
              <a:ext uri="{FF2B5EF4-FFF2-40B4-BE49-F238E27FC236}">
                <a16:creationId xmlns:a16="http://schemas.microsoft.com/office/drawing/2014/main" id="{147699A2-FB89-B442-ACFE-219E4D627692}"/>
              </a:ext>
            </a:extLst>
          </p:cNvPr>
          <p:cNvSpPr>
            <a:spLocks noGrp="1"/>
          </p:cNvSpPr>
          <p:nvPr>
            <p:ph type="sldNum" sz="quarter" idx="12"/>
          </p:nvPr>
        </p:nvSpPr>
        <p:spPr>
          <a:xfrm>
            <a:off x="8604250" y="6440557"/>
            <a:ext cx="2743200" cy="365125"/>
          </a:xfrm>
        </p:spPr>
        <p:txBody>
          <a:bodyPr/>
          <a:lstStyle>
            <a:lvl1pPr>
              <a:defRPr>
                <a:solidFill>
                  <a:schemeClr val="bg1"/>
                </a:solidFill>
              </a:defRPr>
            </a:lvl1pPr>
          </a:lstStyle>
          <a:p>
            <a:fld id="{1A36FF63-2152-7E40-8DEF-93BE75A438AE}" type="slidenum">
              <a:rPr lang="es-MX" smtClean="0"/>
              <a:pPr/>
              <a:t>‹Nº›</a:t>
            </a:fld>
            <a:endParaRPr lang="es-MX"/>
          </a:p>
        </p:txBody>
      </p:sp>
    </p:spTree>
    <p:extLst>
      <p:ext uri="{BB962C8B-B14F-4D97-AF65-F5344CB8AC3E}">
        <p14:creationId xmlns:p14="http://schemas.microsoft.com/office/powerpoint/2010/main" val="2600876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D4830BE1-9F12-5140-8A7E-05FB1E9D0F0D}"/>
              </a:ext>
            </a:extLst>
          </p:cNvPr>
          <p:cNvSpPr/>
          <p:nvPr userDrawn="1"/>
        </p:nvSpPr>
        <p:spPr>
          <a:xfrm>
            <a:off x="0" y="6440557"/>
            <a:ext cx="12192000" cy="417443"/>
          </a:xfrm>
          <a:prstGeom prst="rect">
            <a:avLst/>
          </a:prstGeom>
          <a:solidFill>
            <a:srgbClr val="25204E"/>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6" name="Imagen 5">
            <a:extLst>
              <a:ext uri="{FF2B5EF4-FFF2-40B4-BE49-F238E27FC236}">
                <a16:creationId xmlns:a16="http://schemas.microsoft.com/office/drawing/2014/main" id="{0377D396-8813-DC46-9585-6D6A46BBF91F}"/>
              </a:ext>
            </a:extLst>
          </p:cNvPr>
          <p:cNvPicPr>
            <a:picLocks noChangeAspect="1"/>
          </p:cNvPicPr>
          <p:nvPr userDrawn="1"/>
        </p:nvPicPr>
        <p:blipFill>
          <a:blip r:embed="rId2"/>
          <a:stretch>
            <a:fillRect/>
          </a:stretch>
        </p:blipFill>
        <p:spPr>
          <a:xfrm>
            <a:off x="10939669" y="5674502"/>
            <a:ext cx="348484" cy="343694"/>
          </a:xfrm>
          <a:prstGeom prst="rect">
            <a:avLst/>
          </a:prstGeom>
        </p:spPr>
      </p:pic>
      <p:sp>
        <p:nvSpPr>
          <p:cNvPr id="7" name="Marcador de número de diapositiva 5">
            <a:extLst>
              <a:ext uri="{FF2B5EF4-FFF2-40B4-BE49-F238E27FC236}">
                <a16:creationId xmlns:a16="http://schemas.microsoft.com/office/drawing/2014/main" id="{7C31D4DB-8971-FB4E-A927-FDC9A15DFAAA}"/>
              </a:ext>
            </a:extLst>
          </p:cNvPr>
          <p:cNvSpPr>
            <a:spLocks noGrp="1"/>
          </p:cNvSpPr>
          <p:nvPr>
            <p:ph type="sldNum" sz="quarter" idx="12"/>
          </p:nvPr>
        </p:nvSpPr>
        <p:spPr>
          <a:xfrm>
            <a:off x="8604250" y="6440557"/>
            <a:ext cx="2743200" cy="365125"/>
          </a:xfrm>
        </p:spPr>
        <p:txBody>
          <a:bodyPr/>
          <a:lstStyle>
            <a:lvl1pPr>
              <a:defRPr>
                <a:solidFill>
                  <a:schemeClr val="bg1"/>
                </a:solidFill>
              </a:defRPr>
            </a:lvl1pPr>
          </a:lstStyle>
          <a:p>
            <a:fld id="{1A36FF63-2152-7E40-8DEF-93BE75A438AE}" type="slidenum">
              <a:rPr lang="es-MX" smtClean="0"/>
              <a:pPr/>
              <a:t>‹Nº›</a:t>
            </a:fld>
            <a:endParaRPr lang="es-MX"/>
          </a:p>
        </p:txBody>
      </p:sp>
    </p:spTree>
    <p:extLst>
      <p:ext uri="{BB962C8B-B14F-4D97-AF65-F5344CB8AC3E}">
        <p14:creationId xmlns:p14="http://schemas.microsoft.com/office/powerpoint/2010/main" val="1775672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BA99B3-B257-CB44-8331-882E79384562}"/>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662B466D-1F3F-4F48-BF83-B5E7E3D0FEE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texto 3">
            <a:extLst>
              <a:ext uri="{FF2B5EF4-FFF2-40B4-BE49-F238E27FC236}">
                <a16:creationId xmlns:a16="http://schemas.microsoft.com/office/drawing/2014/main" id="{23A5BD22-F5DF-394C-8226-1EC42EAEF4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8" name="Rectángulo 7">
            <a:extLst>
              <a:ext uri="{FF2B5EF4-FFF2-40B4-BE49-F238E27FC236}">
                <a16:creationId xmlns:a16="http://schemas.microsoft.com/office/drawing/2014/main" id="{85EE2D38-555A-0B45-BCD8-1FC82BECCCCC}"/>
              </a:ext>
            </a:extLst>
          </p:cNvPr>
          <p:cNvSpPr/>
          <p:nvPr userDrawn="1"/>
        </p:nvSpPr>
        <p:spPr>
          <a:xfrm>
            <a:off x="0" y="6440557"/>
            <a:ext cx="12192000" cy="417443"/>
          </a:xfrm>
          <a:prstGeom prst="rect">
            <a:avLst/>
          </a:prstGeom>
          <a:solidFill>
            <a:srgbClr val="25204E"/>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9" name="Imagen 8">
            <a:extLst>
              <a:ext uri="{FF2B5EF4-FFF2-40B4-BE49-F238E27FC236}">
                <a16:creationId xmlns:a16="http://schemas.microsoft.com/office/drawing/2014/main" id="{CC0EBE64-760F-3D4F-8AB3-4C98EC18DECE}"/>
              </a:ext>
            </a:extLst>
          </p:cNvPr>
          <p:cNvPicPr>
            <a:picLocks noChangeAspect="1"/>
          </p:cNvPicPr>
          <p:nvPr userDrawn="1"/>
        </p:nvPicPr>
        <p:blipFill>
          <a:blip r:embed="rId2"/>
          <a:stretch>
            <a:fillRect/>
          </a:stretch>
        </p:blipFill>
        <p:spPr>
          <a:xfrm>
            <a:off x="10939669" y="5674502"/>
            <a:ext cx="348484" cy="343694"/>
          </a:xfrm>
          <a:prstGeom prst="rect">
            <a:avLst/>
          </a:prstGeom>
        </p:spPr>
      </p:pic>
      <p:sp>
        <p:nvSpPr>
          <p:cNvPr id="10" name="Marcador de número de diapositiva 5">
            <a:extLst>
              <a:ext uri="{FF2B5EF4-FFF2-40B4-BE49-F238E27FC236}">
                <a16:creationId xmlns:a16="http://schemas.microsoft.com/office/drawing/2014/main" id="{AF017332-A28B-B14E-B511-CA87BA1CEB74}"/>
              </a:ext>
            </a:extLst>
          </p:cNvPr>
          <p:cNvSpPr>
            <a:spLocks noGrp="1"/>
          </p:cNvSpPr>
          <p:nvPr>
            <p:ph type="sldNum" sz="quarter" idx="12"/>
          </p:nvPr>
        </p:nvSpPr>
        <p:spPr>
          <a:xfrm>
            <a:off x="8604250" y="6440557"/>
            <a:ext cx="2743200" cy="365125"/>
          </a:xfrm>
        </p:spPr>
        <p:txBody>
          <a:bodyPr/>
          <a:lstStyle>
            <a:lvl1pPr>
              <a:defRPr>
                <a:solidFill>
                  <a:schemeClr val="bg1"/>
                </a:solidFill>
              </a:defRPr>
            </a:lvl1pPr>
          </a:lstStyle>
          <a:p>
            <a:fld id="{1A36FF63-2152-7E40-8DEF-93BE75A438AE}" type="slidenum">
              <a:rPr lang="es-MX" smtClean="0"/>
              <a:pPr/>
              <a:t>‹Nº›</a:t>
            </a:fld>
            <a:endParaRPr lang="es-MX"/>
          </a:p>
        </p:txBody>
      </p:sp>
    </p:spTree>
    <p:extLst>
      <p:ext uri="{BB962C8B-B14F-4D97-AF65-F5344CB8AC3E}">
        <p14:creationId xmlns:p14="http://schemas.microsoft.com/office/powerpoint/2010/main" val="25788217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EC27D2-EFFB-4244-9F3C-96008BAF220C}"/>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posición de imagen 2">
            <a:extLst>
              <a:ext uri="{FF2B5EF4-FFF2-40B4-BE49-F238E27FC236}">
                <a16:creationId xmlns:a16="http://schemas.microsoft.com/office/drawing/2014/main" id="{6AFB7837-D914-7B48-863A-D177DBF88C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MX"/>
              <a:t>Haz clic en el icono para agregar una imagen</a:t>
            </a:r>
          </a:p>
        </p:txBody>
      </p:sp>
      <p:sp>
        <p:nvSpPr>
          <p:cNvPr id="4" name="Marcador de texto 3">
            <a:extLst>
              <a:ext uri="{FF2B5EF4-FFF2-40B4-BE49-F238E27FC236}">
                <a16:creationId xmlns:a16="http://schemas.microsoft.com/office/drawing/2014/main" id="{2A45AFFC-F033-7A4C-B8A3-9F380EB45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8" name="Rectángulo 7">
            <a:extLst>
              <a:ext uri="{FF2B5EF4-FFF2-40B4-BE49-F238E27FC236}">
                <a16:creationId xmlns:a16="http://schemas.microsoft.com/office/drawing/2014/main" id="{31F7DAE2-3770-204C-BD56-FBAC9C941482}"/>
              </a:ext>
            </a:extLst>
          </p:cNvPr>
          <p:cNvSpPr/>
          <p:nvPr userDrawn="1"/>
        </p:nvSpPr>
        <p:spPr>
          <a:xfrm>
            <a:off x="0" y="6440557"/>
            <a:ext cx="12192000" cy="417443"/>
          </a:xfrm>
          <a:prstGeom prst="rect">
            <a:avLst/>
          </a:prstGeom>
          <a:solidFill>
            <a:srgbClr val="25204E"/>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pic>
        <p:nvPicPr>
          <p:cNvPr id="9" name="Imagen 8">
            <a:extLst>
              <a:ext uri="{FF2B5EF4-FFF2-40B4-BE49-F238E27FC236}">
                <a16:creationId xmlns:a16="http://schemas.microsoft.com/office/drawing/2014/main" id="{4A58D1A7-9F81-374B-BAE0-052CB1E29BBF}"/>
              </a:ext>
            </a:extLst>
          </p:cNvPr>
          <p:cNvPicPr>
            <a:picLocks noChangeAspect="1"/>
          </p:cNvPicPr>
          <p:nvPr userDrawn="1"/>
        </p:nvPicPr>
        <p:blipFill>
          <a:blip r:embed="rId2"/>
          <a:stretch>
            <a:fillRect/>
          </a:stretch>
        </p:blipFill>
        <p:spPr>
          <a:xfrm>
            <a:off x="10939669" y="5674502"/>
            <a:ext cx="348484" cy="343694"/>
          </a:xfrm>
          <a:prstGeom prst="rect">
            <a:avLst/>
          </a:prstGeom>
        </p:spPr>
      </p:pic>
      <p:sp>
        <p:nvSpPr>
          <p:cNvPr id="10" name="Marcador de número de diapositiva 5">
            <a:extLst>
              <a:ext uri="{FF2B5EF4-FFF2-40B4-BE49-F238E27FC236}">
                <a16:creationId xmlns:a16="http://schemas.microsoft.com/office/drawing/2014/main" id="{068D4F77-2430-2145-83E2-8A6EE22153AF}"/>
              </a:ext>
            </a:extLst>
          </p:cNvPr>
          <p:cNvSpPr>
            <a:spLocks noGrp="1"/>
          </p:cNvSpPr>
          <p:nvPr>
            <p:ph type="sldNum" sz="quarter" idx="12"/>
          </p:nvPr>
        </p:nvSpPr>
        <p:spPr>
          <a:xfrm>
            <a:off x="8604250" y="6440557"/>
            <a:ext cx="2743200" cy="365125"/>
          </a:xfrm>
        </p:spPr>
        <p:txBody>
          <a:bodyPr/>
          <a:lstStyle>
            <a:lvl1pPr>
              <a:defRPr>
                <a:solidFill>
                  <a:schemeClr val="bg1"/>
                </a:solidFill>
              </a:defRPr>
            </a:lvl1pPr>
          </a:lstStyle>
          <a:p>
            <a:fld id="{1A36FF63-2152-7E40-8DEF-93BE75A438AE}" type="slidenum">
              <a:rPr lang="es-MX" smtClean="0"/>
              <a:pPr/>
              <a:t>‹Nº›</a:t>
            </a:fld>
            <a:endParaRPr lang="es-MX"/>
          </a:p>
        </p:txBody>
      </p:sp>
    </p:spTree>
    <p:extLst>
      <p:ext uri="{BB962C8B-B14F-4D97-AF65-F5344CB8AC3E}">
        <p14:creationId xmlns:p14="http://schemas.microsoft.com/office/powerpoint/2010/main" val="7118963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01C165FD-FF2C-C74C-B4D0-41BE84827CA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dirty="0"/>
              <a:t>Haz clic para modificar el estilo de título del patrón</a:t>
            </a:r>
          </a:p>
        </p:txBody>
      </p:sp>
      <p:sp>
        <p:nvSpPr>
          <p:cNvPr id="3" name="Marcador de texto 2">
            <a:extLst>
              <a:ext uri="{FF2B5EF4-FFF2-40B4-BE49-F238E27FC236}">
                <a16:creationId xmlns:a16="http://schemas.microsoft.com/office/drawing/2014/main" id="{1E4ECC55-BD22-7946-ABC5-56F140FCD9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dirty="0"/>
              <a:t>Haga clic para modificar los estilos de texto del patrón</a:t>
            </a:r>
          </a:p>
          <a:p>
            <a:pPr lvl="1"/>
            <a:r>
              <a:rPr lang="es-MX" dirty="0"/>
              <a:t>Segundo nivel</a:t>
            </a:r>
          </a:p>
          <a:p>
            <a:pPr lvl="2"/>
            <a:r>
              <a:rPr lang="es-MX" dirty="0"/>
              <a:t>Tercer nivel</a:t>
            </a:r>
          </a:p>
          <a:p>
            <a:pPr lvl="3"/>
            <a:r>
              <a:rPr lang="es-MX" dirty="0"/>
              <a:t>Cuarto nivel</a:t>
            </a:r>
          </a:p>
          <a:p>
            <a:pPr lvl="4"/>
            <a:r>
              <a:rPr lang="es-MX" dirty="0"/>
              <a:t>Quinto nivel</a:t>
            </a:r>
          </a:p>
        </p:txBody>
      </p:sp>
      <p:sp>
        <p:nvSpPr>
          <p:cNvPr id="4" name="Marcador de fecha 3">
            <a:extLst>
              <a:ext uri="{FF2B5EF4-FFF2-40B4-BE49-F238E27FC236}">
                <a16:creationId xmlns:a16="http://schemas.microsoft.com/office/drawing/2014/main" id="{C53AD87F-76B3-7841-AD5E-65501D176C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s-MX"/>
          </a:p>
        </p:txBody>
      </p:sp>
      <p:sp>
        <p:nvSpPr>
          <p:cNvPr id="5" name="Marcador de pie de página 4">
            <a:extLst>
              <a:ext uri="{FF2B5EF4-FFF2-40B4-BE49-F238E27FC236}">
                <a16:creationId xmlns:a16="http://schemas.microsoft.com/office/drawing/2014/main" id="{35502F95-A789-384E-A1B6-AC06F019D6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dirty="0"/>
          </a:p>
        </p:txBody>
      </p:sp>
      <p:sp>
        <p:nvSpPr>
          <p:cNvPr id="6" name="Marcador de número de diapositiva 5">
            <a:extLst>
              <a:ext uri="{FF2B5EF4-FFF2-40B4-BE49-F238E27FC236}">
                <a16:creationId xmlns:a16="http://schemas.microsoft.com/office/drawing/2014/main" id="{DEE70C64-0B31-D248-B0D8-C4C92283CA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1628E6-CCA4-A443-9FF2-25F7FB63D0B6}" type="slidenum">
              <a:rPr lang="es-MX" smtClean="0"/>
              <a:t>‹Nº›</a:t>
            </a:fld>
            <a:endParaRPr lang="es-MX"/>
          </a:p>
        </p:txBody>
      </p:sp>
    </p:spTree>
    <p:extLst>
      <p:ext uri="{BB962C8B-B14F-4D97-AF65-F5344CB8AC3E}">
        <p14:creationId xmlns:p14="http://schemas.microsoft.com/office/powerpoint/2010/main" val="2287074776"/>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Lst>
  <p:hf hdr="0" dt="0"/>
  <p:txStyles>
    <p:titleStyle>
      <a:lvl1pPr algn="l" defTabSz="914400" rtl="0" eaLnBrk="1" latinLnBrk="0" hangingPunct="1">
        <a:lnSpc>
          <a:spcPct val="90000"/>
        </a:lnSpc>
        <a:spcBef>
          <a:spcPct val="0"/>
        </a:spcBef>
        <a:buNone/>
        <a:defRPr sz="4400" kern="1200">
          <a:solidFill>
            <a:schemeClr val="tx1"/>
          </a:solidFill>
          <a:latin typeface="Montserrat" pitchFamily="2"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ns0:Relationships xmlns:ns0="http://schemas.openxmlformats.org/package/2006/relationships"><ns0:Relationship Id="rId1" Type="http://schemas.openxmlformats.org/officeDocument/2006/relationships/slideLayout" Target="../slideLayouts/slideLayout1.xml" /><ns0:Relationship Id="rId13" Type="http://schemas.openxmlformats.org/officeDocument/2006/relationships/image" Target="../media/asset-1-13.png" /><ns0:Relationship Id="rIdNote" Type="http://schemas.openxmlformats.org/officeDocument/2006/relationships/notesSlide" Target="../notesSlides/notesSlide1.xml" /></ns0:Relationships>
</file>

<file path=ppt/slides/_rels/slide2.xml.rels><?xml version='1.0' encoding='utf-8'?>
<ns0:Relationships xmlns:ns0="http://schemas.openxmlformats.org/package/2006/relationships"><ns0:Relationship Id="rId1" Type="http://schemas.openxmlformats.org/officeDocument/2006/relationships/slideLayout" Target="../slideLayouts/slideLayout2.xml" /><ns0:Relationship Id="rId11" Type="http://schemas.openxmlformats.org/officeDocument/2006/relationships/image" Target="../media/asset-2-11.png" /><ns0:Relationship Id="rId12" Type="http://schemas.openxmlformats.org/officeDocument/2006/relationships/image" Target="../media/asset-2-12.png" /><ns0:Relationship Id="rIdNote" Type="http://schemas.openxmlformats.org/officeDocument/2006/relationships/notesSlide" Target="../notesSlides/notesSlide2.xml" /></ns0:Relationships>
</file>

<file path=ppt/slides/_rels/slide3.xml.rels><?xml version='1.0' encoding='utf-8'?>
<ns0:Relationships xmlns:ns0="http://schemas.openxmlformats.org/package/2006/relationships"><ns0:Relationship Id="rId1" Type="http://schemas.openxmlformats.org/officeDocument/2006/relationships/slideLayout" Target="../slideLayouts/slideLayout2.xml" /><ns0:Relationship Id="rIdNote" Type="http://schemas.openxmlformats.org/officeDocument/2006/relationships/notesSlide" Target="../notesSlides/notesSlide3.xml" /></ns0:Relationships>
</file>

<file path=ppt/slides/_rels/slide4.xml.rels><?xml version='1.0' encoding='utf-8'?>
<ns0:Relationships xmlns:ns0="http://schemas.openxmlformats.org/package/2006/relationships"><ns0:Relationship Id="rId1" Type="http://schemas.openxmlformats.org/officeDocument/2006/relationships/slideLayout" Target="../slideLayouts/slideLayout2.xml" /><ns0:Relationship Id="rId10" Type="http://schemas.openxmlformats.org/officeDocument/2006/relationships/image" Target="../media/asset-4-10.png" /><ns0:Relationship Id="rIdNote" Type="http://schemas.openxmlformats.org/officeDocument/2006/relationships/notesSlide" Target="../notesSlides/notesSlide4.xml" /></ns0:Relationships>
</file>

<file path=ppt/slides/_rels/slide5.xml.rels><?xml version='1.0' encoding='utf-8'?>
<ns0:Relationships xmlns:ns0="http://schemas.openxmlformats.org/package/2006/relationships"><ns0:Relationship Id="rId1" Type="http://schemas.openxmlformats.org/officeDocument/2006/relationships/slideLayout" Target="../slideLayouts/slideLayout2.xml" /><ns0:Relationship Id="rIdNote" Type="http://schemas.openxmlformats.org/officeDocument/2006/relationships/notesSlide" Target="../notesSlides/notesSlide5.xml" /></ns0:Relationships>
</file>

<file path=ppt/slides/_rels/slide6.xml.rels><?xml version='1.0' encoding='utf-8'?>
<ns0:Relationships xmlns:ns0="http://schemas.openxmlformats.org/package/2006/relationships"><ns0:Relationship Id="rId1" Type="http://schemas.openxmlformats.org/officeDocument/2006/relationships/slideLayout" Target="../slideLayouts/slideLayout2.xml" /><ns0:Relationship Id="rId12" Type="http://schemas.openxmlformats.org/officeDocument/2006/relationships/image" Target="../media/asset-6-12.png" /><ns0:Relationship Id="rIdNote" Type="http://schemas.openxmlformats.org/officeDocument/2006/relationships/notesSlide" Target="../notesSlides/notesSlide6.xml" /></ns0:Relationships>
</file>

<file path=ppt/slides/_rels/slide7.xml.rels><?xml version='1.0' encoding='utf-8'?>
<ns0:Relationships xmlns:ns0="http://schemas.openxmlformats.org/package/2006/relationships"><ns0:Relationship Id="rId1" Type="http://schemas.openxmlformats.org/officeDocument/2006/relationships/slideLayout" Target="../slideLayouts/slideLayout2.xml" /><ns0:Relationship Id="rId10" Type="http://schemas.openxmlformats.org/officeDocument/2006/relationships/image" Target="../media/asset-7-10.png" /><ns0:Relationship Id="rId12" Type="http://schemas.openxmlformats.org/officeDocument/2006/relationships/image" Target="../media/asset-7-12.png" /><ns0:Relationship Id="rIdNote" Type="http://schemas.openxmlformats.org/officeDocument/2006/relationships/notesSlide" Target="../notesSlides/notesSlide7.xml" /></ns0:Relationships>
</file>

<file path=ppt/slides/_rels/slide8.xml.rels><?xml version='1.0' encoding='utf-8'?>
<ns0:Relationships xmlns:ns0="http://schemas.openxmlformats.org/package/2006/relationships"><ns0:Relationship Id="rId1" Type="http://schemas.openxmlformats.org/officeDocument/2006/relationships/slideLayout" Target="../slideLayouts/slideLayout2.xml" /><ns0:Relationship Id="rIdNote" Type="http://schemas.openxmlformats.org/officeDocument/2006/relationships/notesSlide" Target="../notesSlides/notesSlide8.xml" /></ns0:Relationships>
</file>

<file path=ppt/slides/_rels/slide9.xml.rels><?xml version='1.0' encoding='utf-8'?>
<ns0:Relationships xmlns:ns0="http://schemas.openxmlformats.org/package/2006/relationships"><ns0:Relationship Id="rId1" Type="http://schemas.openxmlformats.org/officeDocument/2006/relationships/slideLayout" Target="../slideLayouts/slideLayout2.xml" /><ns0:Relationship Id="rIdNote" Type="http://schemas.openxmlformats.org/officeDocument/2006/relationships/notesSlide" Target="../notesSlides/notesSlide9.xml" /></ns0:Relationships>
</file>

<file path=ppt/slides/_rels/slide10.xml.rels><?xml version='1.0' encoding='utf-8'?>
<ns0:Relationships xmlns:ns0="http://schemas.openxmlformats.org/package/2006/relationships"><ns0:Relationship Id="rId1" Type="http://schemas.openxmlformats.org/officeDocument/2006/relationships/slideLayout" Target="../slideLayouts/slideLayout2.xml" /><ns0:Relationship Id="rIdNote" Type="http://schemas.openxmlformats.org/officeDocument/2006/relationships/notesSlide" Target="../notesSlides/notesSlide10.xml" /></ns0:Relationships>
</file>

<file path=ppt/slides/_rels/slide11.xml.rels><?xml version='1.0' encoding='utf-8'?>
<ns0:Relationships xmlns:ns0="http://schemas.openxmlformats.org/package/2006/relationships"><ns0:Relationship Id="rId1" Type="http://schemas.openxmlformats.org/officeDocument/2006/relationships/slideLayout" Target="../slideLayouts/slideLayout2.xml" /><ns0:Relationship Id="rId10" Type="http://schemas.openxmlformats.org/officeDocument/2006/relationships/image" Target="../media/asset-11-10.png" /><ns0:Relationship Id="rIdNote" Type="http://schemas.openxmlformats.org/officeDocument/2006/relationships/notesSlide" Target="../notesSlides/notesSlide11.xml" /></ns0:Relationships>
</file>

<file path=ppt/slides/_rels/slide12.xml.rels><?xml version='1.0' encoding='utf-8'?>
<ns0:Relationships xmlns:ns0="http://schemas.openxmlformats.org/package/2006/relationships"><ns0:Relationship Id="rId1" Type="http://schemas.openxmlformats.org/officeDocument/2006/relationships/slideLayout" Target="../slideLayouts/slideLayout2.xml" /><ns0:Relationship Id="rId16" Type="http://schemas.openxmlformats.org/officeDocument/2006/relationships/image" Target="../media/asset-12-16.png" /><ns0:Relationship Id="rIdNote" Type="http://schemas.openxmlformats.org/officeDocument/2006/relationships/notesSlide" Target="../notesSlides/notesSlide12.xml" /></ns0:Relationships>
</file>

<file path=ppt/slides/_rels/slide13.xml.rels><?xml version='1.0' encoding='utf-8'?>
<ns0:Relationships xmlns:ns0="http://schemas.openxmlformats.org/package/2006/relationships"><ns0:Relationship Id="rId1" Type="http://schemas.openxmlformats.org/officeDocument/2006/relationships/slideLayout" Target="../slideLayouts/slideLayout2.xml" /><ns0:Relationship Id="rIdNote" Type="http://schemas.openxmlformats.org/officeDocument/2006/relationships/notesSlide" Target="../notesSlides/notesSlide13.xml" /></ns0:Relationships>
</file>

<file path=ppt/slides/_rels/slide14.xml.rels><?xml version='1.0' encoding='utf-8'?>
<ns0:Relationships xmlns:ns0="http://schemas.openxmlformats.org/package/2006/relationships"><ns0:Relationship Id="rId1" Type="http://schemas.openxmlformats.org/officeDocument/2006/relationships/slideLayout" Target="../slideLayouts/slideLayout2.xml" /><ns0:Relationship Id="rIdNote" Type="http://schemas.openxmlformats.org/officeDocument/2006/relationships/notesSlide" Target="../notesSlides/notesSlide14.xml" /></ns0:Relationships>
</file>

<file path=ppt/slides/_rels/slide15.xml.rels><?xml version='1.0' encoding='utf-8'?>
<ns0:Relationships xmlns:ns0="http://schemas.openxmlformats.org/package/2006/relationships"><ns0:Relationship Id="rId1" Type="http://schemas.openxmlformats.org/officeDocument/2006/relationships/slideLayout" Target="../slideLayouts/slideLayout2.xml" /><ns0:Relationship Id="rId10" Type="http://schemas.openxmlformats.org/officeDocument/2006/relationships/image" Target="../media/asset-15-10.png" /><ns0:Relationship Id="rIdNote" Type="http://schemas.openxmlformats.org/officeDocument/2006/relationships/notesSlide" Target="../notesSlides/notesSlide15.xml" /></ns0:Relationships>
</file>

<file path=ppt/slides/_rels/slide16.xml.rels><?xml version='1.0' encoding='utf-8'?>
<ns0:Relationships xmlns:ns0="http://schemas.openxmlformats.org/package/2006/relationships"><ns0:Relationship Id="rId1" Type="http://schemas.openxmlformats.org/officeDocument/2006/relationships/slideLayout" Target="../slideLayouts/slideLayout2.xml" /><ns0:Relationship Id="rId15" Type="http://schemas.openxmlformats.org/officeDocument/2006/relationships/image" Target="../media/asset-16-15.png" /><ns0:Relationship Id="rIdNote" Type="http://schemas.openxmlformats.org/officeDocument/2006/relationships/notesSlide" Target="../notesSlides/notesSlide16.xml" /></ns0:Relationships>
</file>

<file path=ppt/slides/_rels/slide17.xml.rels><?xml version='1.0' encoding='utf-8'?>
<ns0:Relationships xmlns:ns0="http://schemas.openxmlformats.org/package/2006/relationships"><ns0:Relationship Id="rId1" Type="http://schemas.openxmlformats.org/officeDocument/2006/relationships/slideLayout" Target="../slideLayouts/slideLayout2.xml" /><ns0:Relationship Id="rIdNote" Type="http://schemas.openxmlformats.org/officeDocument/2006/relationships/notesSlide" Target="../notesSlides/notesSlide17.xml" /></ns0:Relationships>
</file>

<file path=ppt/slides/_rels/slide18.xml.rels><?xml version='1.0' encoding='utf-8'?>
<ns0:Relationships xmlns:ns0="http://schemas.openxmlformats.org/package/2006/relationships"><ns0:Relationship Id="rId1" Type="http://schemas.openxmlformats.org/officeDocument/2006/relationships/slideLayout" Target="../slideLayouts/slideLayout2.xml" /><ns0:Relationship Id="rIdNote" Type="http://schemas.openxmlformats.org/officeDocument/2006/relationships/notesSlide" Target="../notesSlides/notesSlide18.xml" /></ns0:Relationships>
</file>

<file path=ppt/slides/_rels/slide19.xml.rels><?xml version='1.0' encoding='utf-8'?>
<ns0:Relationships xmlns:ns0="http://schemas.openxmlformats.org/package/2006/relationships"><ns0:Relationship Id="rId1" Type="http://schemas.openxmlformats.org/officeDocument/2006/relationships/slideLayout" Target="../slideLayouts/slideLayout2.xml" /><ns0:Relationship Id="rIdNote" Type="http://schemas.openxmlformats.org/officeDocument/2006/relationships/notesSlide" Target="../notesSlides/notesSlide19.xml" /></ns0:Relationships>
</file>

<file path=ppt/slides/_rels/slide20.xml.rels><?xml version='1.0' encoding='utf-8'?>
<ns0:Relationships xmlns:ns0="http://schemas.openxmlformats.org/package/2006/relationships"><ns0:Relationship Id="rId1" Type="http://schemas.openxmlformats.org/officeDocument/2006/relationships/slideLayout" Target="../slideLayouts/slideLayout2.xml" /><ns0:Relationship Id="rIdNote" Type="http://schemas.openxmlformats.org/officeDocument/2006/relationships/notesSlide" Target="../notesSlides/notesSlide20.xml" /></ns0:Relationships>
</file>

<file path=ppt/slides/slide1.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0" name="Texto"/>
          <p:cNvSpPr txBox="1"/>
          <p:nvPr/>
        </p:nvSpPr>
        <p:spPr>
          <a:xfrm>
            <a:off x="2984500" y="1676400"/>
            <a:ext cx="4889500" cy="1778000"/>
          </a:xfrm>
          <a:prstGeom prst="rect">
            <a:avLst/>
          </a:prstGeom>
          <a:noFill/>
          <a:ln>
            <a:noFill/>
          </a:ln>
        </p:spPr>
        <p:txBody>
          <a:bodyPr wrap="square" lIns="0" tIns="0" rIns="0" bIns="0" anchor="t">
            <a:noAutofit/>
          </a:bodyPr>
          <a:lstStyle/>
          <a:p>
            <a:pPr algn="l" marL="0" indent="0">
              <a:lnSpc>
                <a:spcPct val="110000"/>
              </a:lnSpc>
              <a:buNone/>
            </a:pPr>
            <a:r>
              <a:rPr lang="es-MX" sz="3800" b="1">
                <a:solidFill>
                  <a:srgbClr val="00AEEF"/>
                </a:solidFill>
                <a:latin typeface="Arial"/>
              </a:rPr>
              <a:t>Aprender ingeniería</a:t>
            </a:r>
          </a:p>
          <a:p>
            <a:pPr algn="l" marL="0" indent="0">
              <a:lnSpc>
                <a:spcPct val="110000"/>
              </a:lnSpc>
              <a:buNone/>
            </a:pPr>
            <a:r>
              <a:rPr lang="es-MX" sz="3800" b="1">
                <a:solidFill>
                  <a:srgbClr val="00AEEF"/>
                </a:solidFill>
                <a:latin typeface="Arial"/>
              </a:rPr>
              <a:t>en la era de la IA</a:t>
            </a:r>
          </a:p>
        </p:txBody>
      </p:sp>
      <p:sp>
        <p:nvSpPr>
          <p:cNvPr id="11" name="Texto"/>
          <p:cNvSpPr txBox="1"/>
          <p:nvPr/>
        </p:nvSpPr>
        <p:spPr>
          <a:xfrm>
            <a:off x="3009900" y="3810000"/>
            <a:ext cx="4635500" cy="1079500"/>
          </a:xfrm>
          <a:prstGeom prst="rect">
            <a:avLst/>
          </a:prstGeom>
          <a:noFill/>
          <a:ln>
            <a:noFill/>
          </a:ln>
        </p:spPr>
        <p:txBody>
          <a:bodyPr wrap="square" lIns="0" tIns="0" rIns="0" bIns="0" anchor="t">
            <a:noAutofit/>
          </a:bodyPr>
          <a:lstStyle/>
          <a:p>
            <a:pPr algn="l" marL="0" indent="0">
              <a:lnSpc>
                <a:spcPct val="110000"/>
              </a:lnSpc>
              <a:buNone/>
            </a:pPr>
            <a:r>
              <a:rPr lang="es-MX" sz="2500" b="0">
                <a:solidFill>
                  <a:srgbClr val="25204E"/>
                </a:solidFill>
                <a:latin typeface="Arial"/>
              </a:rPr>
              <a:t>Lo que me dejaron los</a:t>
            </a:r>
          </a:p>
          <a:p>
            <a:pPr algn="l" marL="0" indent="0">
              <a:lnSpc>
                <a:spcPct val="110000"/>
              </a:lnSpc>
              <a:buNone/>
            </a:pPr>
            <a:r>
              <a:rPr lang="es-MX" sz="2500" b="0">
                <a:solidFill>
                  <a:srgbClr val="25204E"/>
                </a:solidFill>
                <a:latin typeface="Arial"/>
              </a:rPr>
              <a:t>primeros cinco capítulos</a:t>
            </a:r>
          </a:p>
        </p:txBody>
      </p:sp>
      <p:sp>
        <p:nvSpPr>
          <p:cNvPr id="12" name="Texto"/>
          <p:cNvSpPr txBox="1"/>
          <p:nvPr/>
        </p:nvSpPr>
        <p:spPr>
          <a:xfrm>
            <a:off x="3009900" y="5207000"/>
            <a:ext cx="4699000" cy="825500"/>
          </a:xfrm>
          <a:prstGeom prst="rect">
            <a:avLst/>
          </a:prstGeom>
          <a:noFill/>
          <a:ln>
            <a:noFill/>
          </a:ln>
        </p:spPr>
        <p:txBody>
          <a:bodyPr wrap="square" lIns="0" tIns="0" rIns="0" bIns="0" anchor="t">
            <a:noAutofit/>
          </a:bodyPr>
          <a:lstStyle/>
          <a:p>
            <a:pPr algn="l" marL="0" indent="0">
              <a:lnSpc>
                <a:spcPct val="110000"/>
              </a:lnSpc>
              <a:buNone/>
            </a:pPr>
            <a:r>
              <a:rPr lang="es-MX" sz="2400" b="0">
                <a:solidFill>
                  <a:srgbClr val="25204E"/>
                </a:solidFill>
                <a:latin typeface="Arial"/>
              </a:rPr>
              <a:t>Fernando</a:t>
            </a:r>
          </a:p>
          <a:p>
            <a:pPr algn="l" marL="0" indent="0">
              <a:lnSpc>
                <a:spcPct val="110000"/>
              </a:lnSpc>
              <a:buNone/>
            </a:pPr>
            <a:r>
              <a:rPr lang="es-MX" sz="2400" b="0">
                <a:solidFill>
                  <a:srgbClr val="25204E"/>
                </a:solidFill>
                <a:latin typeface="Arial"/>
              </a:rPr>
              <a:t>Programador junior</a:t>
            </a:r>
          </a:p>
        </p:txBody>
      </p:sp>
      <p:pic>
        <p:nvPicPr>
          <p:cNvPr id="13" name="00-002-000" descr="Imagen de referencia del libro o herramienta"/>
          <p:cNvPicPr>
            <a:picLocks noChangeAspect="1"/>
          </p:cNvPicPr>
          <p:nvPr/>
        </p:nvPicPr>
        <p:blipFill>
          <a:blip r:embed="rId13"/>
          <a:stretch>
            <a:fillRect/>
          </a:stretch>
        </p:blipFill>
        <p:spPr>
          <a:xfrm>
            <a:off x="8255000" y="1286954"/>
            <a:ext cx="3302000" cy="4334892"/>
          </a:xfrm>
          <a:prstGeom prst="rect">
            <a:avLst/>
          </a:prstGeom>
        </p:spPr>
      </p:pic>
      <p:sp>
        <p:nvSpPr>
          <p:cNvPr id="500" name="Fuente y sección"/>
          <p:cNvSpPr txBox="1"/>
          <p:nvPr/>
        </p:nvSpPr>
        <p:spPr>
          <a:xfrm>
            <a:off x="838200" y="6553200"/>
            <a:ext cx="9271000" cy="228600"/>
          </a:xfrm>
          <a:prstGeom prst="rect">
            <a:avLst/>
          </a:prstGeom>
          <a:noFill/>
          <a:ln>
            <a:noFill/>
          </a:ln>
        </p:spPr>
        <p:txBody>
          <a:bodyPr wrap="square" lIns="0" tIns="0" rIns="0" bIns="0" anchor="t">
            <a:noAutofit/>
          </a:bodyPr>
          <a:lstStyle/>
          <a:p>
            <a:pPr algn="l" marL="0" indent="0">
              <a:lnSpc>
                <a:spcPct val="110000"/>
              </a:lnSpc>
              <a:buNone/>
            </a:pPr>
            <a:r>
              <a:rPr lang="es-MX" sz="1100" b="0">
                <a:solidFill>
                  <a:srgbClr val="FFFFFF"/>
                </a:solidFill>
                <a:latin typeface="Arial"/>
              </a:rPr>
              <a:t>Capítulos 1 al 5</a:t>
            </a:r>
          </a:p>
        </p:txBody>
      </p:sp>
      <p:sp>
        <p:nvSpPr>
          <p:cNvPr id="501" name="Número de diapositiva"/>
          <p:cNvSpPr txBox="1"/>
          <p:nvPr/>
        </p:nvSpPr>
        <p:spPr>
          <a:xfrm>
            <a:off x="10795000" y="6540500"/>
            <a:ext cx="508000" cy="228600"/>
          </a:xfrm>
          <a:prstGeom prst="rect">
            <a:avLst/>
          </a:prstGeom>
          <a:noFill/>
          <a:ln>
            <a:noFill/>
          </a:ln>
        </p:spPr>
        <p:txBody>
          <a:bodyPr wrap="square" lIns="0" tIns="0" rIns="0" bIns="0" anchor="t">
            <a:noAutofit/>
          </a:bodyPr>
          <a:lstStyle/>
          <a:p>
            <a:pPr algn="r" marL="0" indent="0">
              <a:lnSpc>
                <a:spcPct val="110000"/>
              </a:lnSpc>
              <a:buNone/>
            </a:pPr>
            <a:r>
              <a:rPr lang="es-MX" sz="1100" b="0">
                <a:solidFill>
                  <a:srgbClr val="FFFFFF"/>
                </a:solidFill>
                <a:latin typeface="Arial"/>
              </a:rPr>
              <a:t>1</a:t>
            </a:r>
          </a:p>
        </p:txBody>
      </p:sp>
    </p:spTree>
    <p:extLst>
      <p:ext uri="{BB962C8B-B14F-4D97-AF65-F5344CB8AC3E}">
        <ns3:creationId val="2485575833"/>
      </p:ext>
    </p:extLst>
  </p:cSld>
  <p:clrMapOvr>
    <a:masterClrMapping/>
  </p:clrMapOvr>
</p:sld>
</file>

<file path=ppt/slides/slide2.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ítulo"/>
          <p:cNvSpPr txBox="1"/>
          <p:nvPr/>
        </p:nvSpPr>
        <p:spPr>
          <a:xfrm>
            <a:off x="838200" y="673100"/>
            <a:ext cx="10668000" cy="1016000"/>
          </a:xfrm>
          <a:prstGeom prst="rect">
            <a:avLst/>
          </a:prstGeom>
          <a:noFill/>
          <a:ln>
            <a:noFill/>
          </a:ln>
        </p:spPr>
        <p:txBody>
          <a:bodyPr wrap="square" lIns="0" tIns="0" rIns="0" bIns="0" anchor="t">
            <a:noAutofit/>
          </a:bodyPr>
          <a:lstStyle/>
          <a:p>
            <a:pPr algn="l" marL="0" indent="0">
              <a:lnSpc>
                <a:spcPct val="110000"/>
              </a:lnSpc>
              <a:buNone/>
            </a:pPr>
            <a:r>
              <a:rPr lang="es-MX" sz="3200" b="1">
                <a:solidFill>
                  <a:srgbClr val="25204E"/>
                </a:solidFill>
                <a:latin typeface="Arial"/>
              </a:rPr>
              <a:t>La pregunta que me trajo al libro</a:t>
            </a:r>
          </a:p>
        </p:txBody>
      </p:sp>
      <p:sp>
        <p:nvSpPr>
          <p:cNvPr id="10" name="Texto"/>
          <p:cNvSpPr txBox="1"/>
          <p:nvPr/>
        </p:nvSpPr>
        <p:spPr>
          <a:xfrm>
            <a:off x="838200" y="1651000"/>
            <a:ext cx="10414000" cy="1371600"/>
          </a:xfrm>
          <a:prstGeom prst="rect">
            <a:avLst/>
          </a:prstGeom>
          <a:noFill/>
          <a:ln>
            <a:noFill/>
          </a:ln>
        </p:spPr>
        <p:txBody>
          <a:bodyPr wrap="square" lIns="0" tIns="0" rIns="0" bIns="0" anchor="t">
            <a:noAutofit/>
          </a:bodyPr>
          <a:lstStyle/>
          <a:p>
            <a:pPr algn="l" marL="0" indent="0">
              <a:lnSpc>
                <a:spcPct val="110000"/>
              </a:lnSpc>
              <a:buNone/>
            </a:pPr>
            <a:r>
              <a:rPr lang="es-MX" sz="3500" b="1">
                <a:solidFill>
                  <a:srgbClr val="25204E"/>
                </a:solidFill>
                <a:latin typeface="Arial"/>
              </a:rPr>
              <a:t>¿Cómo desarrollo criterio propio</a:t>
            </a:r>
          </a:p>
          <a:p>
            <a:pPr algn="l" marL="0" indent="0">
              <a:lnSpc>
                <a:spcPct val="110000"/>
              </a:lnSpc>
              <a:buNone/>
            </a:pPr>
            <a:r>
              <a:rPr lang="es-MX" sz="3500" b="1">
                <a:solidFill>
                  <a:srgbClr val="25204E"/>
                </a:solidFill>
                <a:latin typeface="Arial"/>
              </a:rPr>
              <a:t>cuando puedo delegar tanto código?</a:t>
            </a:r>
          </a:p>
        </p:txBody>
      </p:sp>
      <p:pic>
        <p:nvPicPr>
          <p:cNvPr id="11" name="claude" descr="Imagen de referencia del libro o herramienta"/>
          <p:cNvPicPr>
            <a:picLocks noChangeAspect="1"/>
          </p:cNvPicPr>
          <p:nvPr/>
        </p:nvPicPr>
        <p:blipFill>
          <a:blip r:embed="rId11"/>
          <a:stretch>
            <a:fillRect/>
          </a:stretch>
        </p:blipFill>
        <p:spPr>
          <a:xfrm>
            <a:off x="1427111" y="3175000"/>
            <a:ext cx="3775177" cy="2413000"/>
          </a:xfrm>
          <a:prstGeom prst="rect">
            <a:avLst/>
          </a:prstGeom>
        </p:spPr>
      </p:pic>
      <p:pic>
        <p:nvPicPr>
          <p:cNvPr id="12" name="codex" descr="Imagen de referencia del libro o herramienta"/>
          <p:cNvPicPr>
            <a:picLocks noChangeAspect="1"/>
          </p:cNvPicPr>
          <p:nvPr/>
        </p:nvPicPr>
        <p:blipFill>
          <a:blip r:embed="rId12"/>
          <a:stretch>
            <a:fillRect/>
          </a:stretch>
        </p:blipFill>
        <p:spPr>
          <a:xfrm>
            <a:off x="6902183" y="3175000"/>
            <a:ext cx="3848634" cy="2413000"/>
          </a:xfrm>
          <a:prstGeom prst="rect">
            <a:avLst/>
          </a:prstGeom>
        </p:spPr>
      </p:pic>
      <p:sp>
        <p:nvSpPr>
          <p:cNvPr id="13" name="Texto"/>
          <p:cNvSpPr txBox="1"/>
          <p:nvPr/>
        </p:nvSpPr>
        <p:spPr>
          <a:xfrm>
            <a:off x="838200" y="5740400"/>
            <a:ext cx="4953000" cy="381000"/>
          </a:xfrm>
          <a:prstGeom prst="rect">
            <a:avLst/>
          </a:prstGeom>
          <a:noFill/>
          <a:ln>
            <a:noFill/>
          </a:ln>
        </p:spPr>
        <p:txBody>
          <a:bodyPr wrap="square" lIns="0" tIns="0" rIns="0" bIns="0" anchor="t">
            <a:noAutofit/>
          </a:bodyPr>
          <a:lstStyle/>
          <a:p>
            <a:pPr algn="l" marL="0" indent="0">
              <a:lnSpc>
                <a:spcPct val="110000"/>
              </a:lnSpc>
              <a:buNone/>
            </a:pPr>
            <a:r>
              <a:rPr lang="es-MX" sz="1800" b="0">
                <a:solidFill>
                  <a:srgbClr val="586276"/>
                </a:solidFill>
                <a:latin typeface="Arial"/>
              </a:rPr>
              <a:t>Claude Code</a:t>
            </a:r>
          </a:p>
        </p:txBody>
      </p:sp>
      <p:sp>
        <p:nvSpPr>
          <p:cNvPr id="14" name="Texto"/>
          <p:cNvSpPr txBox="1"/>
          <p:nvPr/>
        </p:nvSpPr>
        <p:spPr>
          <a:xfrm>
            <a:off x="6350000" y="5740400"/>
            <a:ext cx="4953000" cy="381000"/>
          </a:xfrm>
          <a:prstGeom prst="rect">
            <a:avLst/>
          </a:prstGeom>
          <a:noFill/>
          <a:ln>
            <a:noFill/>
          </a:ln>
        </p:spPr>
        <p:txBody>
          <a:bodyPr wrap="square" lIns="0" tIns="0" rIns="0" bIns="0" anchor="t">
            <a:noAutofit/>
          </a:bodyPr>
          <a:lstStyle/>
          <a:p>
            <a:pPr algn="l" marL="0" indent="0">
              <a:lnSpc>
                <a:spcPct val="110000"/>
              </a:lnSpc>
              <a:buNone/>
            </a:pPr>
            <a:r>
              <a:rPr lang="es-MX" sz="1800" b="0">
                <a:solidFill>
                  <a:srgbClr val="586276"/>
                </a:solidFill>
                <a:latin typeface="Arial"/>
              </a:rPr>
              <a:t>Codex</a:t>
            </a:r>
          </a:p>
        </p:txBody>
      </p:sp>
      <p:sp>
        <p:nvSpPr>
          <p:cNvPr id="500" name="Fuente y sección"/>
          <p:cNvSpPr txBox="1"/>
          <p:nvPr/>
        </p:nvSpPr>
        <p:spPr>
          <a:xfrm>
            <a:off x="838200" y="6553200"/>
            <a:ext cx="9271000" cy="228600"/>
          </a:xfrm>
          <a:prstGeom prst="rect">
            <a:avLst/>
          </a:prstGeom>
          <a:noFill/>
          <a:ln>
            <a:noFill/>
          </a:ln>
        </p:spPr>
        <p:txBody>
          <a:bodyPr wrap="square" lIns="0" tIns="0" rIns="0" bIns="0" anchor="t">
            <a:noAutofit/>
          </a:bodyPr>
          <a:lstStyle/>
          <a:p>
            <a:pPr algn="l" marL="0" indent="0">
              <a:lnSpc>
                <a:spcPct val="110000"/>
              </a:lnSpc>
              <a:buNone/>
            </a:pPr>
            <a:r>
              <a:rPr lang="es-MX" sz="1100" b="0">
                <a:solidFill>
                  <a:srgbClr val="FFFFFF"/>
                </a:solidFill>
                <a:latin typeface="Arial"/>
              </a:rPr>
              <a:t>Mi punto de partida</a:t>
            </a:r>
          </a:p>
        </p:txBody>
      </p:sp>
      <p:sp>
        <p:nvSpPr>
          <p:cNvPr id="501" name="Número de diapositiva"/>
          <p:cNvSpPr txBox="1"/>
          <p:nvPr/>
        </p:nvSpPr>
        <p:spPr>
          <a:xfrm>
            <a:off x="10795000" y="6540500"/>
            <a:ext cx="508000" cy="228600"/>
          </a:xfrm>
          <a:prstGeom prst="rect">
            <a:avLst/>
          </a:prstGeom>
          <a:noFill/>
          <a:ln>
            <a:noFill/>
          </a:ln>
        </p:spPr>
        <p:txBody>
          <a:bodyPr wrap="square" lIns="0" tIns="0" rIns="0" bIns="0" anchor="t">
            <a:noAutofit/>
          </a:bodyPr>
          <a:lstStyle/>
          <a:p>
            <a:pPr algn="r" marL="0" indent="0">
              <a:lnSpc>
                <a:spcPct val="110000"/>
              </a:lnSpc>
              <a:buNone/>
            </a:pPr>
            <a:r>
              <a:rPr lang="es-MX" sz="1100" b="0">
                <a:solidFill>
                  <a:srgbClr val="FFFFFF"/>
                </a:solidFill>
                <a:latin typeface="Arial"/>
              </a:rPr>
              <a:t>2</a:t>
            </a:r>
          </a:p>
        </p:txBody>
      </p:sp>
    </p:spTree>
    <p:extLst>
      <p:ext uri="{BB962C8B-B14F-4D97-AF65-F5344CB8AC3E}">
        <ns3:creationId val="3588295322"/>
      </p:ext>
    </p:extLst>
  </p:cSld>
  <p:clrMapOvr>
    <a:masterClrMapping/>
  </p:clrMapOvr>
</p:sld>
</file>

<file path=ppt/slides/slide3.xml><?xml version="1.0" encoding="utf-8"?>
<p:sld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Título"/>
          <p:cNvSpPr txBox="1"/>
          <p:nvPr/>
        </p:nvSpPr>
        <p:spPr>
          <a:xfrm>
            <a:off x="838200" y="673100"/>
            <a:ext cx="10668000" cy="1016000"/>
          </a:xfrm>
          <a:prstGeom prst="rect">
            <a:avLst/>
          </a:prstGeom>
          <a:noFill/>
          <a:ln>
            <a:noFill/>
          </a:ln>
        </p:spPr>
        <p:txBody>
          <a:bodyPr wrap="square" lIns="0" tIns="0" rIns="0" bIns="0" anchor="t">
            <a:noAutofit/>
          </a:bodyPr>
          <a:lstStyle/>
          <a:p>
            <a:pPr algn="l" marL="0" indent="0">
              <a:lnSpc>
                <a:spcPct val="110000"/>
              </a:lnSpc>
              <a:buNone/>
            </a:pPr>
            <a:r>
              <a:rPr lang="es-MX" sz="3200" b="1">
                <a:solidFill>
                  <a:srgbClr val="25204E"/>
                </a:solidFill>
                <a:latin typeface="Arial"/>
              </a:rPr>
              <a:t>Los nombres y el alcance del trabajo</a:t>
            </a:r>
          </a:p>
        </p:txBody>
      </p:sp>
      <p:sp>
        <p:nvSpPr>
          <p:cNvPr id="10" name="Texto"/>
          <p:cNvSpPr txBox="1"/>
          <p:nvPr/>
        </p:nvSpPr>
        <p:spPr>
          <a:xfrm>
            <a:off x="838200" y="1968500"/>
            <a:ext cx="3175000" cy="1143000"/>
          </a:xfrm>
          <a:prstGeom prst="rect">
            <a:avLst/>
          </a:prstGeom>
          <a:noFill/>
          <a:ln>
            <a:noFill/>
          </a:ln>
        </p:spPr>
        <p:txBody>
          <a:bodyPr wrap="square" lIns="0" tIns="0" rIns="0" bIns="0" anchor="t">
            <a:noAutofit/>
          </a:bodyPr>
          <a:lstStyle/>
          <a:p>
            <a:pPr algn="l" marL="0" indent="0">
              <a:lnSpc>
                <a:spcPct val="110000"/>
              </a:lnSpc>
              <a:buNone/>
            </a:pPr>
            <a:r>
              <a:rPr lang="es-MX" sz="2900" b="1">
                <a:solidFill>
                  <a:srgbClr val="25204E"/>
                </a:solidFill>
                <a:latin typeface="Arial"/>
              </a:rPr>
              <a:t>Programador</a:t>
            </a:r>
          </a:p>
          <a:p>
            <a:pPr algn="l" marL="0" indent="0">
              <a:lnSpc>
                <a:spcPct val="110000"/>
              </a:lnSpc>
              <a:buNone/>
            </a:pPr>
            <a:r>
              <a:rPr lang="es-MX" sz="2900" b="1">
                <a:solidFill>
                  <a:srgbClr val="25204E"/>
                </a:solidFill>
                <a:latin typeface="Arial"/>
              </a:rPr>
              <a:t>o codeador</a:t>
            </a:r>
          </a:p>
        </p:txBody>
      </p:sp>
      <p:sp>
        <p:nvSpPr>
          <p:cNvPr id="11" name="Texto"/>
          <p:cNvSpPr txBox="1"/>
          <p:nvPr/>
        </p:nvSpPr>
        <p:spPr>
          <a:xfrm>
            <a:off x="838200" y="3429000"/>
            <a:ext cx="3175000" cy="1587500"/>
          </a:xfrm>
          <a:prstGeom prst="rect">
            <a:avLst/>
          </a:prstGeom>
          <a:noFill/>
          <a:ln>
            <a:noFill/>
          </a:ln>
        </p:spPr>
        <p:txBody>
          <a:bodyPr wrap="square" lIns="0" tIns="0" rIns="0" bIns="0" anchor="t">
            <a:noAutofit/>
          </a:bodyPr>
          <a:lstStyle/>
          <a:p>
            <a:pPr algn="l" marL="0" indent="0">
              <a:lnSpc>
                <a:spcPct val="110000"/>
              </a:lnSpc>
              <a:buNone/>
            </a:pPr>
            <a:r>
              <a:rPr lang="es-MX" sz="2400" b="0">
                <a:solidFill>
                  <a:srgbClr val="18213A"/>
                </a:solidFill>
                <a:latin typeface="Arial"/>
              </a:rPr>
              <a:t>Su foco suele estar</a:t>
            </a:r>
          </a:p>
          <a:p>
            <a:pPr algn="l" marL="0" indent="0">
              <a:lnSpc>
                <a:spcPct val="110000"/>
              </a:lnSpc>
              <a:buNone/>
            </a:pPr>
            <a:r>
              <a:rPr lang="es-MX" sz="2400" b="0">
                <a:solidFill>
                  <a:srgbClr val="18213A"/>
                </a:solidFill>
                <a:latin typeface="Arial"/>
              </a:rPr>
              <a:t>en implementar código.</a:t>
            </a:r>
          </a:p>
        </p:txBody>
      </p:sp>
      <p:sp>
        <p:nvSpPr>
          <p:cNvPr id="12" name="Texto"/>
          <p:cNvSpPr txBox="1"/>
          <p:nvPr/>
        </p:nvSpPr>
        <p:spPr>
          <a:xfrm>
            <a:off x="4635500" y="1968500"/>
            <a:ext cx="3175000" cy="1143000"/>
          </a:xfrm>
          <a:prstGeom prst="rect">
            <a:avLst/>
          </a:prstGeom>
          <a:noFill/>
          <a:ln>
            <a:noFill/>
          </a:ln>
        </p:spPr>
        <p:txBody>
          <a:bodyPr wrap="square" lIns="0" tIns="0" rIns="0" bIns="0" anchor="t">
            <a:noAutofit/>
          </a:bodyPr>
          <a:lstStyle/>
          <a:p>
            <a:pPr algn="l" marL="0" indent="0">
              <a:lnSpc>
                <a:spcPct val="110000"/>
              </a:lnSpc>
              <a:buNone/>
            </a:pPr>
            <a:r>
              <a:rPr lang="es-MX" sz="2900" b="1">
                <a:solidFill>
                  <a:srgbClr val="25204E"/>
                </a:solidFill>
                <a:latin typeface="Arial"/>
              </a:rPr>
              <a:t>Desarrollador</a:t>
            </a:r>
          </a:p>
        </p:txBody>
      </p:sp>
      <p:sp>
        <p:nvSpPr>
          <p:cNvPr id="13" name="Texto"/>
          <p:cNvSpPr txBox="1"/>
          <p:nvPr/>
        </p:nvSpPr>
        <p:spPr>
          <a:xfrm>
            <a:off x="4635500" y="3429000"/>
            <a:ext cx="3175000" cy="1587500"/>
          </a:xfrm>
          <a:prstGeom prst="rect">
            <a:avLst/>
          </a:prstGeom>
          <a:noFill/>
          <a:ln>
            <a:noFill/>
          </a:ln>
        </p:spPr>
        <p:txBody>
          <a:bodyPr wrap="square" lIns="0" tIns="0" rIns="0" bIns="0" anchor="t">
            <a:noAutofit/>
          </a:bodyPr>
          <a:lstStyle/>
          <a:p>
            <a:pPr algn="l" marL="0" indent="0">
              <a:lnSpc>
                <a:spcPct val="110000"/>
              </a:lnSpc>
              <a:buNone/>
            </a:pPr>
            <a:r>
              <a:rPr lang="es-MX" sz="2400" b="0">
                <a:solidFill>
                  <a:srgbClr val="18213A"/>
                </a:solidFill>
                <a:latin typeface="Arial"/>
              </a:rPr>
              <a:t>Comprende mejor</a:t>
            </a:r>
          </a:p>
          <a:p>
            <a:pPr algn="l" marL="0" indent="0">
              <a:lnSpc>
                <a:spcPct val="110000"/>
              </a:lnSpc>
              <a:buNone/>
            </a:pPr>
            <a:r>
              <a:rPr lang="es-MX" sz="2400" b="0">
                <a:solidFill>
                  <a:srgbClr val="18213A"/>
                </a:solidFill>
                <a:latin typeface="Arial"/>
              </a:rPr>
              <a:t>la entrega del producto</a:t>
            </a:r>
          </a:p>
          <a:p>
            <a:pPr algn="l" marL="0" indent="0">
              <a:lnSpc>
                <a:spcPct val="110000"/>
              </a:lnSpc>
              <a:buNone/>
            </a:pPr>
            <a:r>
              <a:rPr lang="es-MX" sz="2400" b="0">
                <a:solidFill>
                  <a:srgbClr val="18213A"/>
                </a:solidFill>
                <a:latin typeface="Arial"/>
              </a:rPr>
              <a:t>y su contexto.</a:t>
            </a:r>
          </a:p>
        </p:txBody>
      </p:sp>
      <p:sp>
        <p:nvSpPr>
          <p:cNvPr id="14" name="Texto"/>
          <p:cNvSpPr txBox="1"/>
          <p:nvPr/>
        </p:nvSpPr>
        <p:spPr>
          <a:xfrm>
            <a:off x="8407400" y="1968500"/>
            <a:ext cx="3175000" cy="1143000"/>
          </a:xfrm>
          <a:prstGeom prst="rect">
            <a:avLst/>
          </a:prstGeom>
          <a:noFill/>
          <a:ln>
            <a:noFill/>
          </a:ln>
        </p:spPr>
        <p:txBody>
          <a:bodyPr wrap="square" lIns="0" tIns="0" rIns="0" bIns="0" anchor="t">
            <a:noAutofit/>
          </a:bodyPr>
          <a:lstStyle/>
          <a:p>
            <a:pPr algn="l" marL="0" indent="0">
              <a:lnSpc>
                <a:spcPct val="110000"/>
              </a:lnSpc>
              <a:buNone/>
            </a:pPr>
            <a:r>
              <a:rPr lang="es-MX" sz="2900" b="1">
                <a:solidFill>
                  <a:srgbClr val="25204E"/>
                </a:solidFill>
                <a:latin typeface="Arial"/>
              </a:rPr>
              <a:t>Ingeniero</a:t>
            </a:r>
          </a:p>
          <a:p>
            <a:pPr algn="l" marL="0" indent="0">
              <a:lnSpc>
                <a:spcPct val="110000"/>
              </a:lnSpc>
              <a:buNone/>
            </a:pPr>
            <a:r>
              <a:rPr lang="es-MX" sz="2900" b="1">
                <a:solidFill>
                  <a:srgbClr val="25204E"/>
                </a:solidFill>
                <a:latin typeface="Arial"/>
              </a:rPr>
              <a:t>de software</a:t>
            </a:r>
          </a:p>
        </p:txBody>
      </p:sp>
      <p:sp>
        <p:nvSpPr>
          <p:cNvPr id="15" name="Texto"/>
          <p:cNvSpPr txBox="1"/>
          <p:nvPr/>
        </p:nvSpPr>
        <p:spPr>
          <a:xfrm>
            <a:off x="8407400" y="3429000"/>
            <a:ext cx="3175000" cy="1587500"/>
          </a:xfrm>
          <a:prstGeom prst="rect">
            <a:avLst/>
          </a:prstGeom>
          <a:noFill/>
          <a:ln>
            <a:noFill/>
          </a:ln>
        </p:spPr>
        <p:txBody>
          <a:bodyPr wrap="square" lIns="0" tIns="0" rIns="0" bIns="0" anchor="t">
            <a:noAutofit/>
          </a:bodyPr>
          <a:lstStyle/>
          <a:p>
            <a:pPr algn="l" marL="0" indent="0">
              <a:lnSpc>
                <a:spcPct val="110000"/>
              </a:lnSpc>
              <a:buNone/>
            </a:pPr>
            <a:r>
              <a:rPr lang="es-MX" sz="2400" b="0">
                <a:solidFill>
                  <a:srgbClr val="18213A"/>
                </a:solidFill>
                <a:latin typeface="Arial"/>
              </a:rPr>
              <a:t>Asume decisiones</a:t>
            </a:r>
          </a:p>
          <a:p>
            <a:pPr algn="l" marL="0" indent="0">
              <a:lnSpc>
                <a:spcPct val="110000"/>
              </a:lnSpc>
              <a:buNone/>
            </a:pPr>
            <a:r>
              <a:rPr lang="es-MX" sz="2400" b="0">
                <a:solidFill>
                  <a:srgbClr val="18213A"/>
                </a:solidFill>
                <a:latin typeface="Arial"/>
              </a:rPr>
              <a:t>sobre todo el ciclo</a:t>
            </a:r>
          </a:p>
          <a:p>
            <a:pPr algn="l" marL="0" indent="0">
              <a:lnSpc>
                <a:spcPct val="110000"/>
              </a:lnSpc>
              <a:buNone/>
            </a:pPr>
            <a:r>
              <a:rPr lang="es-MX" sz="2400" b="0">
                <a:solidFill>
                  <a:srgbClr val="18213A"/>
                </a:solidFill>
                <a:latin typeface="Arial"/>
              </a:rPr>
              <a:t>de vida del sistema.</a:t>
            </a:r>
          </a:p>
        </p:txBody>
      </p:sp>
      <p:sp>
        <p:nvSpPr>
          <p:cNvPr id="16" name="Texto"/>
          <p:cNvSpPr txBox="1"/>
          <p:nvPr/>
        </p:nvSpPr>
        <p:spPr>
          <a:xfrm>
            <a:off x="838200" y="5613400"/>
            <a:ext cx="10160000" cy="584200"/>
          </a:xfrm>
          <a:prstGeom prst="rect">
            <a:avLst/>
          </a:prstGeom>
          <a:noFill/>
          <a:ln>
            <a:noFill/>
          </a:ln>
        </p:spPr>
        <p:txBody>
          <a:bodyPr wrap="square" lIns="0" tIns="0" rIns="0" bIns="0" anchor="t">
            <a:noAutofit/>
          </a:bodyPr>
          <a:lstStyle/>
          <a:p>
            <a:pPr algn="l" marL="0" indent="0">
              <a:lnSpc>
                <a:spcPct val="110000"/>
              </a:lnSpc>
              <a:buNone/>
            </a:pPr>
            <a:r>
              <a:rPr lang="es-MX" sz="1800" b="0">
                <a:solidFill>
                  <a:srgbClr val="586276"/>
                </a:solidFill>
                <a:latin typeface="Arial"/>
              </a:rPr>
              <a:t>El libro propone una distinción de alcance. En la práctica, los títulos se solapan.</a:t>
            </a:r>
          </a:p>
        </p:txBody>
      </p:sp>
      <p:sp>
        <p:nvSpPr>
          <p:cNvPr id="500" name="Fuente y sección"/>
          <p:cNvSpPr txBox="1"/>
          <p:nvPr/>
        </p:nvSpPr>
        <p:spPr>
          <a:xfrm>
            <a:off x="838200" y="6553200"/>
            <a:ext cx="9271000" cy="228600"/>
          </a:xfrm>
          <a:prstGeom prst="rect">
            <a:avLst/>
          </a:prstGeom>
          <a:noFill/>
          <a:ln>
            <a:noFill/>
          </a:ln>
        </p:spPr>
        <p:txBody>
          <a:bodyPr wrap="square" lIns="0" tIns="0" rIns="0" bIns="0" anchor="t">
            <a:noAutofit/>
          </a:bodyPr>
          <a:lstStyle/>
          <a:p>
            <a:pPr algn="l" marL="0" indent="0">
              <a:lnSpc>
                <a:spcPct val="110000"/>
              </a:lnSpc>
              <a:buNone/>
            </a:pPr>
            <a:r>
              <a:rPr lang="es-MX" sz="1100" b="0">
                <a:solidFill>
                  <a:srgbClr val="FFFFFF"/>
                </a:solidFill>
                <a:latin typeface="Arial"/>
              </a:rPr>
              <a:t>Capítulo 1 / De programador a ingeniero</a:t>
            </a:r>
          </a:p>
        </p:txBody>
      </p:sp>
      <p:sp>
        <p:nvSpPr>
          <p:cNvPr id="501" name="Número de diapositiva"/>
          <p:cNvSpPr txBox="1"/>
          <p:nvPr/>
        </p:nvSpPr>
        <p:spPr>
          <a:xfrm>
            <a:off x="10795000" y="6540500"/>
            <a:ext cx="508000" cy="228600"/>
          </a:xfrm>
          <a:prstGeom prst="rect">
            <a:avLst/>
          </a:prstGeom>
          <a:noFill/>
          <a:ln>
            <a:noFill/>
          </a:ln>
        </p:spPr>
        <p:txBody>
          <a:bodyPr wrap="square" lIns="0" tIns="0" rIns="0" bIns="0" anchor="t">
            <a:noAutofit/>
          </a:bodyPr>
          <a:lstStyle/>
          <a:p>
            <a:pPr algn="r" marL="0" indent="0">
              <a:lnSpc>
                <a:spcPct val="110000"/>
              </a:lnSpc>
              <a:buNone/>
            </a:pPr>
            <a:r>
              <a:rPr lang="es-MX" sz="1100" b="0">
                <a:solidFill>
                  <a:srgbClr val="FFFFFF"/>
                </a:solidFill>
                <a:latin typeface="Arial"/>
              </a:rPr>
              <a:t>3</a:t>
            </a:r>
          </a:p>
        </p:txBody>
      </p:sp>
    </p:spTree>
    <p:extLst>
      <p:ext uri="{BB962C8B-B14F-4D97-AF65-F5344CB8AC3E}">
        <ns2:creationId val="3588295322"/>
      </p:ext>
    </p:extLst>
  </p:cSld>
  <p:clrMapOvr>
    <a:masterClrMapping/>
  </p:clrMapOvr>
</p:sld>
</file>

<file path=ppt/slides/slide4.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ítulo"/>
          <p:cNvSpPr txBox="1"/>
          <p:nvPr/>
        </p:nvSpPr>
        <p:spPr>
          <a:xfrm>
            <a:off x="838200" y="673100"/>
            <a:ext cx="10668000" cy="1016000"/>
          </a:xfrm>
          <a:prstGeom prst="rect">
            <a:avLst/>
          </a:prstGeom>
          <a:noFill/>
          <a:ln>
            <a:noFill/>
          </a:ln>
        </p:spPr>
        <p:txBody>
          <a:bodyPr wrap="square" lIns="0" tIns="0" rIns="0" bIns="0" anchor="t">
            <a:noAutofit/>
          </a:bodyPr>
          <a:lstStyle/>
          <a:p>
            <a:pPr algn="l" marL="0" indent="0">
              <a:lnSpc>
                <a:spcPct val="110000"/>
              </a:lnSpc>
              <a:buNone/>
            </a:pPr>
            <a:r>
              <a:rPr lang="es-MX" sz="3200" b="1">
                <a:solidFill>
                  <a:srgbClr val="25204E"/>
                </a:solidFill>
                <a:latin typeface="Arial"/>
              </a:rPr>
              <a:t>El aprendizaje continúa en sistemas reales</a:t>
            </a:r>
          </a:p>
        </p:txBody>
      </p:sp>
      <p:pic>
        <p:nvPicPr>
          <p:cNvPr id="10" name="03-003-000" descr="Imagen de referencia del libro o herramienta"/>
          <p:cNvPicPr>
            <a:picLocks noChangeAspect="1"/>
          </p:cNvPicPr>
          <p:nvPr/>
        </p:nvPicPr>
        <p:blipFill>
          <a:blip r:embed="rId10"/>
          <a:stretch>
            <a:fillRect/>
          </a:stretch>
        </p:blipFill>
        <p:spPr>
          <a:xfrm>
            <a:off x="1061674" y="1689100"/>
            <a:ext cx="5839552" cy="4178300"/>
          </a:xfrm>
          <a:prstGeom prst="rect">
            <a:avLst/>
          </a:prstGeom>
        </p:spPr>
      </p:pic>
      <p:sp>
        <p:nvSpPr>
          <p:cNvPr id="11" name="Texto"/>
          <p:cNvSpPr txBox="1"/>
          <p:nvPr/>
        </p:nvSpPr>
        <p:spPr>
          <a:xfrm>
            <a:off x="838200" y="5956300"/>
            <a:ext cx="6286500" cy="355600"/>
          </a:xfrm>
          <a:prstGeom prst="rect">
            <a:avLst/>
          </a:prstGeom>
          <a:noFill/>
          <a:ln>
            <a:noFill/>
          </a:ln>
        </p:spPr>
        <p:txBody>
          <a:bodyPr wrap="square" lIns="0" tIns="0" rIns="0" bIns="0" anchor="t">
            <a:noAutofit/>
          </a:bodyPr>
          <a:lstStyle/>
          <a:p>
            <a:pPr algn="l" marL="0" indent="0">
              <a:lnSpc>
                <a:spcPct val="110000"/>
              </a:lnSpc>
              <a:buNone/>
            </a:pPr>
            <a:r>
              <a:rPr lang="es-MX" sz="1200" b="0">
                <a:solidFill>
                  <a:srgbClr val="586276"/>
                </a:solidFill>
                <a:latin typeface="Arial"/>
              </a:rPr>
              <a:t>Figura P-1. La brecha entre aprender a programar y ejercer ingeniería</a:t>
            </a:r>
          </a:p>
        </p:txBody>
      </p:sp>
      <p:sp>
        <p:nvSpPr>
          <p:cNvPr id="12" name="Texto"/>
          <p:cNvSpPr txBox="1"/>
          <p:nvPr/>
        </p:nvSpPr>
        <p:spPr>
          <a:xfrm>
            <a:off x="7632700" y="2044700"/>
            <a:ext cx="3683000" cy="1752600"/>
          </a:xfrm>
          <a:prstGeom prst="rect">
            <a:avLst/>
          </a:prstGeom>
          <a:noFill/>
          <a:ln>
            <a:noFill/>
          </a:ln>
        </p:spPr>
        <p:txBody>
          <a:bodyPr wrap="square" lIns="0" tIns="0" rIns="0" bIns="0" anchor="t">
            <a:noAutofit/>
          </a:bodyPr>
          <a:lstStyle/>
          <a:p>
            <a:pPr algn="l" marL="0" indent="0">
              <a:lnSpc>
                <a:spcPct val="110000"/>
              </a:lnSpc>
              <a:buNone/>
            </a:pPr>
            <a:r>
              <a:rPr lang="es-MX" sz="3000" b="1">
                <a:solidFill>
                  <a:srgbClr val="25204E"/>
                </a:solidFill>
                <a:latin typeface="Arial"/>
              </a:rPr>
              <a:t>El código vive</a:t>
            </a:r>
          </a:p>
          <a:p>
            <a:pPr algn="l" marL="0" indent="0">
              <a:lnSpc>
                <a:spcPct val="110000"/>
              </a:lnSpc>
              <a:buNone/>
            </a:pPr>
            <a:r>
              <a:rPr lang="es-MX" sz="3000" b="1">
                <a:solidFill>
                  <a:srgbClr val="25204E"/>
                </a:solidFill>
                <a:latin typeface="Arial"/>
              </a:rPr>
              <a:t>mucho tiempo</a:t>
            </a:r>
          </a:p>
          <a:p>
            <a:pPr algn="l" marL="0" indent="0">
              <a:lnSpc>
                <a:spcPct val="110000"/>
              </a:lnSpc>
              <a:buNone/>
            </a:pPr>
            <a:r>
              <a:rPr lang="es-MX" sz="3000" b="1">
                <a:solidFill>
                  <a:srgbClr val="25204E"/>
                </a:solidFill>
                <a:latin typeface="Arial"/>
              </a:rPr>
              <a:t>en mantenimiento.</a:t>
            </a:r>
          </a:p>
        </p:txBody>
      </p:sp>
      <p:sp>
        <p:nvSpPr>
          <p:cNvPr id="13" name="Texto"/>
          <p:cNvSpPr txBox="1"/>
          <p:nvPr/>
        </p:nvSpPr>
        <p:spPr>
          <a:xfrm>
            <a:off x="7632700" y="4152900"/>
            <a:ext cx="3683000" cy="1485900"/>
          </a:xfrm>
          <a:prstGeom prst="rect">
            <a:avLst/>
          </a:prstGeom>
          <a:noFill/>
          <a:ln>
            <a:noFill/>
          </a:ln>
        </p:spPr>
        <p:txBody>
          <a:bodyPr wrap="square" lIns="0" tIns="0" rIns="0" bIns="0" anchor="t">
            <a:noAutofit/>
          </a:bodyPr>
          <a:lstStyle/>
          <a:p>
            <a:pPr algn="l" marL="0" indent="0">
              <a:lnSpc>
                <a:spcPct val="110000"/>
              </a:lnSpc>
              <a:buNone/>
            </a:pPr>
            <a:r>
              <a:rPr lang="es-MX" sz="2300" b="0">
                <a:solidFill>
                  <a:srgbClr val="18213A"/>
                </a:solidFill>
                <a:latin typeface="Arial"/>
              </a:rPr>
              <a:t>Aprendo al entender</a:t>
            </a:r>
          </a:p>
          <a:p>
            <a:pPr algn="l" marL="0" indent="0">
              <a:lnSpc>
                <a:spcPct val="110000"/>
              </a:lnSpc>
              <a:buNone/>
            </a:pPr>
            <a:r>
              <a:rPr lang="es-MX" sz="2300" b="0">
                <a:solidFill>
                  <a:srgbClr val="18213A"/>
                </a:solidFill>
                <a:latin typeface="Arial"/>
              </a:rPr>
              <a:t>decisiones ajenas</a:t>
            </a:r>
          </a:p>
          <a:p>
            <a:pPr algn="l" marL="0" indent="0">
              <a:lnSpc>
                <a:spcPct val="110000"/>
              </a:lnSpc>
              <a:buNone/>
            </a:pPr>
            <a:r>
              <a:rPr lang="es-MX" sz="2300" b="0">
                <a:solidFill>
                  <a:srgbClr val="18213A"/>
                </a:solidFill>
                <a:latin typeface="Arial"/>
              </a:rPr>
              <a:t>y mejorar lo que existe.</a:t>
            </a:r>
          </a:p>
        </p:txBody>
      </p:sp>
      <p:sp>
        <p:nvSpPr>
          <p:cNvPr id="500" name="Fuente y sección"/>
          <p:cNvSpPr txBox="1"/>
          <p:nvPr/>
        </p:nvSpPr>
        <p:spPr>
          <a:xfrm>
            <a:off x="838200" y="6553200"/>
            <a:ext cx="9271000" cy="228600"/>
          </a:xfrm>
          <a:prstGeom prst="rect">
            <a:avLst/>
          </a:prstGeom>
          <a:noFill/>
          <a:ln>
            <a:noFill/>
          </a:ln>
        </p:spPr>
        <p:txBody>
          <a:bodyPr wrap="square" lIns="0" tIns="0" rIns="0" bIns="0" anchor="t">
            <a:noAutofit/>
          </a:bodyPr>
          <a:lstStyle/>
          <a:p>
            <a:pPr algn="l" marL="0" indent="0">
              <a:lnSpc>
                <a:spcPct val="110000"/>
              </a:lnSpc>
              <a:buNone/>
            </a:pPr>
            <a:r>
              <a:rPr lang="es-MX" sz="1100" b="0">
                <a:solidFill>
                  <a:srgbClr val="FFFFFF"/>
                </a:solidFill>
                <a:latin typeface="Arial"/>
              </a:rPr>
              <a:t>Prefacio y capítulo 1</a:t>
            </a:r>
          </a:p>
        </p:txBody>
      </p:sp>
      <p:sp>
        <p:nvSpPr>
          <p:cNvPr id="501" name="Número de diapositiva"/>
          <p:cNvSpPr txBox="1"/>
          <p:nvPr/>
        </p:nvSpPr>
        <p:spPr>
          <a:xfrm>
            <a:off x="10795000" y="6540500"/>
            <a:ext cx="508000" cy="228600"/>
          </a:xfrm>
          <a:prstGeom prst="rect">
            <a:avLst/>
          </a:prstGeom>
          <a:noFill/>
          <a:ln>
            <a:noFill/>
          </a:ln>
        </p:spPr>
        <p:txBody>
          <a:bodyPr wrap="square" lIns="0" tIns="0" rIns="0" bIns="0" anchor="t">
            <a:noAutofit/>
          </a:bodyPr>
          <a:lstStyle/>
          <a:p>
            <a:pPr algn="r" marL="0" indent="0">
              <a:lnSpc>
                <a:spcPct val="110000"/>
              </a:lnSpc>
              <a:buNone/>
            </a:pPr>
            <a:r>
              <a:rPr lang="es-MX" sz="1100" b="0">
                <a:solidFill>
                  <a:srgbClr val="FFFFFF"/>
                </a:solidFill>
                <a:latin typeface="Arial"/>
              </a:rPr>
              <a:t>4</a:t>
            </a:r>
          </a:p>
        </p:txBody>
      </p:sp>
    </p:spTree>
    <p:extLst>
      <p:ext uri="{BB962C8B-B14F-4D97-AF65-F5344CB8AC3E}">
        <ns3:creationId val="3588295322"/>
      </p:ext>
    </p:extLst>
  </p:cSld>
  <p:clrMapOvr>
    <a:masterClrMapping/>
  </p:clrMapOvr>
</p:sld>
</file>

<file path=ppt/slides/slide5.xml><?xml version="1.0" encoding="utf-8"?>
<p:sld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Título"/>
          <p:cNvSpPr txBox="1"/>
          <p:nvPr/>
        </p:nvSpPr>
        <p:spPr>
          <a:xfrm>
            <a:off x="838200" y="673100"/>
            <a:ext cx="10668000" cy="1016000"/>
          </a:xfrm>
          <a:prstGeom prst="rect">
            <a:avLst/>
          </a:prstGeom>
          <a:noFill/>
          <a:ln>
            <a:noFill/>
          </a:ln>
        </p:spPr>
        <p:txBody>
          <a:bodyPr wrap="square" lIns="0" tIns="0" rIns="0" bIns="0" anchor="t">
            <a:noAutofit/>
          </a:bodyPr>
          <a:lstStyle/>
          <a:p>
            <a:pPr algn="l" marL="0" indent="0">
              <a:lnSpc>
                <a:spcPct val="110000"/>
              </a:lnSpc>
              <a:buNone/>
            </a:pPr>
            <a:r>
              <a:rPr lang="es-MX" sz="3200" b="1">
                <a:solidFill>
                  <a:srgbClr val="25204E"/>
                </a:solidFill>
                <a:latin typeface="Arial"/>
              </a:rPr>
              <a:t>Mi primera tarea es entender el problema</a:t>
            </a:r>
          </a:p>
        </p:txBody>
      </p:sp>
      <p:sp>
        <p:nvSpPr>
          <p:cNvPr id="10" name="Texto"/>
          <p:cNvSpPr txBox="1"/>
          <p:nvPr/>
        </p:nvSpPr>
        <p:spPr>
          <a:xfrm>
            <a:off x="838200" y="1778000"/>
            <a:ext cx="10160000" cy="609600"/>
          </a:xfrm>
          <a:prstGeom prst="rect">
            <a:avLst/>
          </a:prstGeom>
          <a:noFill/>
          <a:ln>
            <a:noFill/>
          </a:ln>
        </p:spPr>
        <p:txBody>
          <a:bodyPr wrap="square" lIns="0" tIns="0" rIns="0" bIns="0" anchor="t">
            <a:noAutofit/>
          </a:bodyPr>
          <a:lstStyle/>
          <a:p>
            <a:pPr algn="l" marL="0" indent="0">
              <a:lnSpc>
                <a:spcPct val="110000"/>
              </a:lnSpc>
              <a:buNone/>
            </a:pPr>
            <a:r>
              <a:rPr lang="es-MX" sz="3100" b="1">
                <a:solidFill>
                  <a:srgbClr val="25204E"/>
                </a:solidFill>
                <a:latin typeface="Arial"/>
              </a:rPr>
              <a:t>Antes de pedir una implementación…</a:t>
            </a:r>
          </a:p>
        </p:txBody>
      </p:sp>
      <p:sp>
        <p:nvSpPr>
          <p:cNvPr id="11" name="Texto"/>
          <p:cNvSpPr txBox="1"/>
          <p:nvPr/>
        </p:nvSpPr>
        <p:spPr>
          <a:xfrm>
            <a:off x="838200" y="2730500"/>
            <a:ext cx="10160000" cy="431800"/>
          </a:xfrm>
          <a:prstGeom prst="rect">
            <a:avLst/>
          </a:prstGeom>
          <a:noFill/>
          <a:ln>
            <a:noFill/>
          </a:ln>
        </p:spPr>
        <p:txBody>
          <a:bodyPr wrap="square" lIns="0" tIns="0" rIns="0" bIns="0" anchor="t">
            <a:noAutofit/>
          </a:bodyPr>
          <a:lstStyle/>
          <a:p>
            <a:pPr algn="l" marL="0" indent="0">
              <a:lnSpc>
                <a:spcPct val="110000"/>
              </a:lnSpc>
              <a:buNone/>
            </a:pPr>
            <a:r>
              <a:rPr lang="es-MX" sz="2600" b="1">
                <a:solidFill>
                  <a:srgbClr val="00AEEF"/>
                </a:solidFill>
                <a:latin typeface="Arial"/>
              </a:rPr>
              <a:t>¿Qué necesita la persona?</a:t>
            </a:r>
          </a:p>
        </p:txBody>
      </p:sp>
      <p:sp>
        <p:nvSpPr>
          <p:cNvPr id="12" name="Texto"/>
          <p:cNvSpPr txBox="1"/>
          <p:nvPr/>
        </p:nvSpPr>
        <p:spPr>
          <a:xfrm>
            <a:off x="838200" y="3162300"/>
            <a:ext cx="10160000" cy="596900"/>
          </a:xfrm>
          <a:prstGeom prst="rect">
            <a:avLst/>
          </a:prstGeom>
          <a:noFill/>
          <a:ln>
            <a:noFill/>
          </a:ln>
        </p:spPr>
        <p:txBody>
          <a:bodyPr wrap="square" lIns="0" tIns="0" rIns="0" bIns="0" anchor="t">
            <a:noAutofit/>
          </a:bodyPr>
          <a:lstStyle/>
          <a:p>
            <a:pPr algn="l" marL="0" indent="0">
              <a:lnSpc>
                <a:spcPct val="110000"/>
              </a:lnSpc>
              <a:buNone/>
            </a:pPr>
            <a:r>
              <a:rPr lang="es-MX" sz="2300" b="0">
                <a:solidFill>
                  <a:srgbClr val="18213A"/>
                </a:solidFill>
                <a:latin typeface="Arial"/>
              </a:rPr>
              <a:t>El objetivo empieza en su problema.</a:t>
            </a:r>
          </a:p>
        </p:txBody>
      </p:sp>
      <p:sp>
        <p:nvSpPr>
          <p:cNvPr id="13" name="Texto"/>
          <p:cNvSpPr txBox="1"/>
          <p:nvPr/>
        </p:nvSpPr>
        <p:spPr>
          <a:xfrm>
            <a:off x="838200" y="3683000"/>
            <a:ext cx="10160000" cy="431800"/>
          </a:xfrm>
          <a:prstGeom prst="rect">
            <a:avLst/>
          </a:prstGeom>
          <a:noFill/>
          <a:ln>
            <a:noFill/>
          </a:ln>
        </p:spPr>
        <p:txBody>
          <a:bodyPr wrap="square" lIns="0" tIns="0" rIns="0" bIns="0" anchor="t">
            <a:noAutofit/>
          </a:bodyPr>
          <a:lstStyle/>
          <a:p>
            <a:pPr algn="l" marL="0" indent="0">
              <a:lnSpc>
                <a:spcPct val="110000"/>
              </a:lnSpc>
              <a:buNone/>
            </a:pPr>
            <a:r>
              <a:rPr lang="es-MX" sz="2600" b="1">
                <a:solidFill>
                  <a:srgbClr val="00AEEF"/>
                </a:solidFill>
                <a:latin typeface="Arial"/>
              </a:rPr>
              <a:t>¿Qué restricciones importan?</a:t>
            </a:r>
          </a:p>
        </p:txBody>
      </p:sp>
      <p:sp>
        <p:nvSpPr>
          <p:cNvPr id="14" name="Texto"/>
          <p:cNvSpPr txBox="1"/>
          <p:nvPr/>
        </p:nvSpPr>
        <p:spPr>
          <a:xfrm>
            <a:off x="838200" y="4114800"/>
            <a:ext cx="10160000" cy="596900"/>
          </a:xfrm>
          <a:prstGeom prst="rect">
            <a:avLst/>
          </a:prstGeom>
          <a:noFill/>
          <a:ln>
            <a:noFill/>
          </a:ln>
        </p:spPr>
        <p:txBody>
          <a:bodyPr wrap="square" lIns="0" tIns="0" rIns="0" bIns="0" anchor="t">
            <a:noAutofit/>
          </a:bodyPr>
          <a:lstStyle/>
          <a:p>
            <a:pPr algn="l" marL="0" indent="0">
              <a:lnSpc>
                <a:spcPct val="110000"/>
              </a:lnSpc>
              <a:buNone/>
            </a:pPr>
            <a:r>
              <a:rPr lang="es-MX" sz="2300" b="0">
                <a:solidFill>
                  <a:srgbClr val="18213A"/>
                </a:solidFill>
                <a:latin typeface="Arial"/>
              </a:rPr>
              <a:t>Tiempo, riesgos y contexto del sistema.</a:t>
            </a:r>
          </a:p>
        </p:txBody>
      </p:sp>
      <p:sp>
        <p:nvSpPr>
          <p:cNvPr id="15" name="Texto"/>
          <p:cNvSpPr txBox="1"/>
          <p:nvPr/>
        </p:nvSpPr>
        <p:spPr>
          <a:xfrm>
            <a:off x="838200" y="4635500"/>
            <a:ext cx="10160000" cy="431800"/>
          </a:xfrm>
          <a:prstGeom prst="rect">
            <a:avLst/>
          </a:prstGeom>
          <a:noFill/>
          <a:ln>
            <a:noFill/>
          </a:ln>
        </p:spPr>
        <p:txBody>
          <a:bodyPr wrap="square" lIns="0" tIns="0" rIns="0" bIns="0" anchor="t">
            <a:noAutofit/>
          </a:bodyPr>
          <a:lstStyle/>
          <a:p>
            <a:pPr algn="l" marL="0" indent="0">
              <a:lnSpc>
                <a:spcPct val="110000"/>
              </a:lnSpc>
              <a:buNone/>
            </a:pPr>
            <a:r>
              <a:rPr lang="es-MX" sz="2600" b="1">
                <a:solidFill>
                  <a:srgbClr val="00AEEF"/>
                </a:solidFill>
                <a:latin typeface="Arial"/>
              </a:rPr>
              <a:t>¿Cómo sabremos que funciona?</a:t>
            </a:r>
          </a:p>
        </p:txBody>
      </p:sp>
      <p:sp>
        <p:nvSpPr>
          <p:cNvPr id="16" name="Texto"/>
          <p:cNvSpPr txBox="1"/>
          <p:nvPr/>
        </p:nvSpPr>
        <p:spPr>
          <a:xfrm>
            <a:off x="838200" y="5067300"/>
            <a:ext cx="10160000" cy="596900"/>
          </a:xfrm>
          <a:prstGeom prst="rect">
            <a:avLst/>
          </a:prstGeom>
          <a:noFill/>
          <a:ln>
            <a:noFill/>
          </a:ln>
        </p:spPr>
        <p:txBody>
          <a:bodyPr wrap="square" lIns="0" tIns="0" rIns="0" bIns="0" anchor="t">
            <a:noAutofit/>
          </a:bodyPr>
          <a:lstStyle/>
          <a:p>
            <a:pPr algn="l" marL="0" indent="0">
              <a:lnSpc>
                <a:spcPct val="110000"/>
              </a:lnSpc>
              <a:buNone/>
            </a:pPr>
            <a:r>
              <a:rPr lang="es-MX" sz="2300" b="0">
                <a:solidFill>
                  <a:srgbClr val="18213A"/>
                </a:solidFill>
                <a:latin typeface="Arial"/>
              </a:rPr>
              <a:t>Un resultado observable y comprobable.</a:t>
            </a:r>
          </a:p>
        </p:txBody>
      </p:sp>
      <p:sp>
        <p:nvSpPr>
          <p:cNvPr id="500" name="Fuente y sección"/>
          <p:cNvSpPr txBox="1"/>
          <p:nvPr/>
        </p:nvSpPr>
        <p:spPr>
          <a:xfrm>
            <a:off x="838200" y="6553200"/>
            <a:ext cx="9271000" cy="228600"/>
          </a:xfrm>
          <a:prstGeom prst="rect">
            <a:avLst/>
          </a:prstGeom>
          <a:noFill/>
          <a:ln>
            <a:noFill/>
          </a:ln>
        </p:spPr>
        <p:txBody>
          <a:bodyPr wrap="square" lIns="0" tIns="0" rIns="0" bIns="0" anchor="t">
            <a:noAutofit/>
          </a:bodyPr>
          <a:lstStyle/>
          <a:p>
            <a:pPr algn="l" marL="0" indent="0">
              <a:lnSpc>
                <a:spcPct val="110000"/>
              </a:lnSpc>
              <a:buNone/>
            </a:pPr>
            <a:r>
              <a:rPr lang="es-MX" sz="1100" b="0">
                <a:solidFill>
                  <a:srgbClr val="FFFFFF"/>
                </a:solidFill>
                <a:latin typeface="Arial"/>
              </a:rPr>
              <a:t>Capítulo 1 / De programador a ingeniero</a:t>
            </a:r>
          </a:p>
        </p:txBody>
      </p:sp>
      <p:sp>
        <p:nvSpPr>
          <p:cNvPr id="501" name="Número de diapositiva"/>
          <p:cNvSpPr txBox="1"/>
          <p:nvPr/>
        </p:nvSpPr>
        <p:spPr>
          <a:xfrm>
            <a:off x="10795000" y="6540500"/>
            <a:ext cx="508000" cy="228600"/>
          </a:xfrm>
          <a:prstGeom prst="rect">
            <a:avLst/>
          </a:prstGeom>
          <a:noFill/>
          <a:ln>
            <a:noFill/>
          </a:ln>
        </p:spPr>
        <p:txBody>
          <a:bodyPr wrap="square" lIns="0" tIns="0" rIns="0" bIns="0" anchor="t">
            <a:noAutofit/>
          </a:bodyPr>
          <a:lstStyle/>
          <a:p>
            <a:pPr algn="r" marL="0" indent="0">
              <a:lnSpc>
                <a:spcPct val="110000"/>
              </a:lnSpc>
              <a:buNone/>
            </a:pPr>
            <a:r>
              <a:rPr lang="es-MX" sz="1100" b="0">
                <a:solidFill>
                  <a:srgbClr val="FFFFFF"/>
                </a:solidFill>
                <a:latin typeface="Arial"/>
              </a:rPr>
              <a:t>5</a:t>
            </a:r>
          </a:p>
        </p:txBody>
      </p:sp>
    </p:spTree>
    <p:extLst>
      <p:ext uri="{BB962C8B-B14F-4D97-AF65-F5344CB8AC3E}">
        <ns2:creationId val="3588295322"/>
      </p:ext>
    </p:extLst>
  </p:cSld>
  <p:clrMapOvr>
    <a:masterClrMapping/>
  </p:clrMapOvr>
</p:sld>
</file>

<file path=ppt/slides/slide6.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ítulo"/>
          <p:cNvSpPr txBox="1"/>
          <p:nvPr/>
        </p:nvSpPr>
        <p:spPr>
          <a:xfrm>
            <a:off x="838200" y="673100"/>
            <a:ext cx="10668000" cy="1016000"/>
          </a:xfrm>
          <a:prstGeom prst="rect">
            <a:avLst/>
          </a:prstGeom>
          <a:noFill/>
          <a:ln>
            <a:noFill/>
          </a:ln>
        </p:spPr>
        <p:txBody>
          <a:bodyPr wrap="square" lIns="0" tIns="0" rIns="0" bIns="0" anchor="t">
            <a:noAutofit/>
          </a:bodyPr>
          <a:lstStyle/>
          <a:p>
            <a:pPr algn="l" marL="0" indent="0">
              <a:lnSpc>
                <a:spcPct val="110000"/>
              </a:lnSpc>
              <a:buNone/>
            </a:pPr>
            <a:r>
              <a:rPr lang="es-MX" sz="3200" b="1">
                <a:solidFill>
                  <a:srgbClr val="25204E"/>
                </a:solidFill>
                <a:latin typeface="Arial"/>
              </a:rPr>
              <a:t>Leemos más código del que escribimos</a:t>
            </a:r>
          </a:p>
        </p:txBody>
      </p:sp>
      <p:sp>
        <p:nvSpPr>
          <p:cNvPr id="10" name="Texto"/>
          <p:cNvSpPr txBox="1"/>
          <p:nvPr/>
        </p:nvSpPr>
        <p:spPr>
          <a:xfrm>
            <a:off x="838200" y="1866900"/>
            <a:ext cx="4699000" cy="1828800"/>
          </a:xfrm>
          <a:prstGeom prst="rect">
            <a:avLst/>
          </a:prstGeom>
          <a:noFill/>
          <a:ln>
            <a:noFill/>
          </a:ln>
        </p:spPr>
        <p:txBody>
          <a:bodyPr wrap="square" lIns="0" tIns="0" rIns="0" bIns="0" anchor="t">
            <a:noAutofit/>
          </a:bodyPr>
          <a:lstStyle/>
          <a:p>
            <a:pPr algn="l" marL="0" indent="0">
              <a:lnSpc>
                <a:spcPct val="110000"/>
              </a:lnSpc>
              <a:buNone/>
            </a:pPr>
            <a:r>
              <a:rPr lang="es-MX" sz="3400" b="1">
                <a:solidFill>
                  <a:srgbClr val="25204E"/>
                </a:solidFill>
                <a:latin typeface="Arial"/>
              </a:rPr>
              <a:t>Leer es reconstruir</a:t>
            </a:r>
          </a:p>
          <a:p>
            <a:pPr algn="l" marL="0" indent="0">
              <a:lnSpc>
                <a:spcPct val="110000"/>
              </a:lnSpc>
              <a:buNone/>
            </a:pPr>
            <a:r>
              <a:rPr lang="es-MX" sz="3400" b="1">
                <a:solidFill>
                  <a:srgbClr val="25204E"/>
                </a:solidFill>
                <a:latin typeface="Arial"/>
              </a:rPr>
              <a:t>la intención de</a:t>
            </a:r>
          </a:p>
          <a:p>
            <a:pPr algn="l" marL="0" indent="0">
              <a:lnSpc>
                <a:spcPct val="110000"/>
              </a:lnSpc>
              <a:buNone/>
            </a:pPr>
            <a:r>
              <a:rPr lang="es-MX" sz="3400" b="1">
                <a:solidFill>
                  <a:srgbClr val="25204E"/>
                </a:solidFill>
                <a:latin typeface="Arial"/>
              </a:rPr>
              <a:t>otra persona.</a:t>
            </a:r>
          </a:p>
        </p:txBody>
      </p:sp>
      <p:sp>
        <p:nvSpPr>
          <p:cNvPr id="11" name="Texto"/>
          <p:cNvSpPr txBox="1"/>
          <p:nvPr/>
        </p:nvSpPr>
        <p:spPr>
          <a:xfrm>
            <a:off x="838200" y="4127500"/>
            <a:ext cx="4572000" cy="1270000"/>
          </a:xfrm>
          <a:prstGeom prst="rect">
            <a:avLst/>
          </a:prstGeom>
          <a:noFill/>
          <a:ln>
            <a:noFill/>
          </a:ln>
        </p:spPr>
        <p:txBody>
          <a:bodyPr wrap="square" lIns="0" tIns="0" rIns="0" bIns="0" anchor="t">
            <a:noAutofit/>
          </a:bodyPr>
          <a:lstStyle/>
          <a:p>
            <a:pPr algn="l" marL="0" indent="0">
              <a:lnSpc>
                <a:spcPct val="110000"/>
              </a:lnSpc>
              <a:buNone/>
            </a:pPr>
            <a:r>
              <a:rPr lang="es-MX" sz="2500" b="0">
                <a:solidFill>
                  <a:srgbClr val="18213A"/>
                </a:solidFill>
                <a:latin typeface="Arial"/>
              </a:rPr>
              <a:t>Antes de juzgar una solución,</a:t>
            </a:r>
          </a:p>
          <a:p>
            <a:pPr algn="l" marL="0" indent="0">
              <a:lnSpc>
                <a:spcPct val="110000"/>
              </a:lnSpc>
              <a:buNone/>
            </a:pPr>
            <a:r>
              <a:rPr lang="es-MX" sz="2500" b="0">
                <a:solidFill>
                  <a:srgbClr val="18213A"/>
                </a:solidFill>
                <a:latin typeface="Arial"/>
              </a:rPr>
              <a:t>necesito conocer su contexto.</a:t>
            </a:r>
          </a:p>
        </p:txBody>
      </p:sp>
      <p:pic>
        <p:nvPicPr>
          <p:cNvPr id="12" name="05-029-011" descr="Imagen de referencia del libro o herramienta"/>
          <p:cNvPicPr>
            <a:picLocks noChangeAspect="1"/>
          </p:cNvPicPr>
          <p:nvPr/>
        </p:nvPicPr>
        <p:blipFill>
          <a:blip r:embed="rId12"/>
          <a:stretch>
            <a:fillRect/>
          </a:stretch>
        </p:blipFill>
        <p:spPr>
          <a:xfrm>
            <a:off x="5918200" y="2104478"/>
            <a:ext cx="5334000" cy="3080845"/>
          </a:xfrm>
          <a:prstGeom prst="rect">
            <a:avLst/>
          </a:prstGeom>
        </p:spPr>
      </p:pic>
      <p:sp>
        <p:nvSpPr>
          <p:cNvPr id="13" name="Texto"/>
          <p:cNvSpPr txBox="1"/>
          <p:nvPr/>
        </p:nvSpPr>
        <p:spPr>
          <a:xfrm>
            <a:off x="5918200" y="5638800"/>
            <a:ext cx="5334000" cy="355600"/>
          </a:xfrm>
          <a:prstGeom prst="rect">
            <a:avLst/>
          </a:prstGeom>
          <a:noFill/>
          <a:ln>
            <a:noFill/>
          </a:ln>
        </p:spPr>
        <p:txBody>
          <a:bodyPr wrap="square" lIns="0" tIns="0" rIns="0" bIns="0" anchor="t">
            <a:noAutofit/>
          </a:bodyPr>
          <a:lstStyle/>
          <a:p>
            <a:pPr algn="l" marL="0" indent="0">
              <a:lnSpc>
                <a:spcPct val="110000"/>
              </a:lnSpc>
              <a:buNone/>
            </a:pPr>
            <a:r>
              <a:rPr lang="es-MX" sz="1200" b="0">
                <a:solidFill>
                  <a:srgbClr val="586276"/>
                </a:solidFill>
                <a:latin typeface="Arial"/>
              </a:rPr>
              <a:t>Figura 2-12. Vista de estructura de una clase</a:t>
            </a:r>
          </a:p>
        </p:txBody>
      </p:sp>
      <p:sp>
        <p:nvSpPr>
          <p:cNvPr id="500" name="Fuente y sección"/>
          <p:cNvSpPr txBox="1"/>
          <p:nvPr/>
        </p:nvSpPr>
        <p:spPr>
          <a:xfrm>
            <a:off x="838200" y="6553200"/>
            <a:ext cx="9271000" cy="228600"/>
          </a:xfrm>
          <a:prstGeom prst="rect">
            <a:avLst/>
          </a:prstGeom>
          <a:noFill/>
          <a:ln>
            <a:noFill/>
          </a:ln>
        </p:spPr>
        <p:txBody>
          <a:bodyPr wrap="square" lIns="0" tIns="0" rIns="0" bIns="0" anchor="t">
            <a:noAutofit/>
          </a:bodyPr>
          <a:lstStyle/>
          <a:p>
            <a:pPr algn="l" marL="0" indent="0">
              <a:lnSpc>
                <a:spcPct val="110000"/>
              </a:lnSpc>
              <a:buNone/>
            </a:pPr>
            <a:r>
              <a:rPr lang="es-MX" sz="1100" b="0">
                <a:solidFill>
                  <a:srgbClr val="FFFFFF"/>
                </a:solidFill>
                <a:latin typeface="Arial"/>
              </a:rPr>
              <a:t>Capítulo 2 / Lectura de código</a:t>
            </a:r>
          </a:p>
        </p:txBody>
      </p:sp>
      <p:sp>
        <p:nvSpPr>
          <p:cNvPr id="501" name="Número de diapositiva"/>
          <p:cNvSpPr txBox="1"/>
          <p:nvPr/>
        </p:nvSpPr>
        <p:spPr>
          <a:xfrm>
            <a:off x="10795000" y="6540500"/>
            <a:ext cx="508000" cy="228600"/>
          </a:xfrm>
          <a:prstGeom prst="rect">
            <a:avLst/>
          </a:prstGeom>
          <a:noFill/>
          <a:ln>
            <a:noFill/>
          </a:ln>
        </p:spPr>
        <p:txBody>
          <a:bodyPr wrap="square" lIns="0" tIns="0" rIns="0" bIns="0" anchor="t">
            <a:noAutofit/>
          </a:bodyPr>
          <a:lstStyle/>
          <a:p>
            <a:pPr algn="r" marL="0" indent="0">
              <a:lnSpc>
                <a:spcPct val="110000"/>
              </a:lnSpc>
              <a:buNone/>
            </a:pPr>
            <a:r>
              <a:rPr lang="es-MX" sz="1100" b="0">
                <a:solidFill>
                  <a:srgbClr val="FFFFFF"/>
                </a:solidFill>
                <a:latin typeface="Arial"/>
              </a:rPr>
              <a:t>6</a:t>
            </a:r>
          </a:p>
        </p:txBody>
      </p:sp>
    </p:spTree>
    <p:extLst>
      <p:ext uri="{BB962C8B-B14F-4D97-AF65-F5344CB8AC3E}">
        <ns3:creationId val="3588295322"/>
      </p:ext>
    </p:extLst>
  </p:cSld>
  <p:clrMapOvr>
    <a:masterClrMapping/>
  </p:clrMapOvr>
</p:sld>
</file>

<file path=ppt/slides/slide7.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ítulo"/>
          <p:cNvSpPr txBox="1"/>
          <p:nvPr/>
        </p:nvSpPr>
        <p:spPr>
          <a:xfrm>
            <a:off x="838200" y="673100"/>
            <a:ext cx="10668000" cy="1016000"/>
          </a:xfrm>
          <a:prstGeom prst="rect">
            <a:avLst/>
          </a:prstGeom>
          <a:noFill/>
          <a:ln>
            <a:noFill/>
          </a:ln>
        </p:spPr>
        <p:txBody>
          <a:bodyPr wrap="square" lIns="0" tIns="0" rIns="0" bIns="0" anchor="t">
            <a:noAutofit/>
          </a:bodyPr>
          <a:lstStyle/>
          <a:p>
            <a:pPr algn="l" marL="0" indent="0">
              <a:lnSpc>
                <a:spcPct val="110000"/>
              </a:lnSpc>
              <a:buNone/>
            </a:pPr>
            <a:r>
              <a:rPr lang="es-MX" sz="3200" b="1">
                <a:solidFill>
                  <a:srgbClr val="25204E"/>
                </a:solidFill>
                <a:latin typeface="Arial"/>
              </a:rPr>
              <a:t>Una ruta para explorar código desconocido</a:t>
            </a:r>
          </a:p>
        </p:txBody>
      </p:sp>
      <p:pic>
        <p:nvPicPr>
          <p:cNvPr id="10" name="05-014-001" descr="Imagen de referencia del libro o herramienta"/>
          <p:cNvPicPr>
            <a:picLocks noChangeAspect="1"/>
          </p:cNvPicPr>
          <p:nvPr/>
        </p:nvPicPr>
        <p:blipFill>
          <a:blip r:embed="rId10"/>
          <a:stretch>
            <a:fillRect/>
          </a:stretch>
        </p:blipFill>
        <p:spPr>
          <a:xfrm>
            <a:off x="838200" y="2738007"/>
            <a:ext cx="6604000" cy="2016985"/>
          </a:xfrm>
          <a:prstGeom prst="rect">
            <a:avLst/>
          </a:prstGeom>
        </p:spPr>
      </p:pic>
      <p:sp>
        <p:nvSpPr>
          <p:cNvPr id="11" name="Texto"/>
          <p:cNvSpPr txBox="1"/>
          <p:nvPr/>
        </p:nvSpPr>
        <p:spPr>
          <a:xfrm>
            <a:off x="838200" y="5549900"/>
            <a:ext cx="6604000" cy="355600"/>
          </a:xfrm>
          <a:prstGeom prst="rect">
            <a:avLst/>
          </a:prstGeom>
          <a:noFill/>
          <a:ln>
            <a:noFill/>
          </a:ln>
        </p:spPr>
        <p:txBody>
          <a:bodyPr wrap="square" lIns="0" tIns="0" rIns="0" bIns="0" anchor="t">
            <a:noAutofit/>
          </a:bodyPr>
          <a:lstStyle/>
          <a:p>
            <a:pPr algn="l" marL="0" indent="0">
              <a:lnSpc>
                <a:spcPct val="110000"/>
              </a:lnSpc>
              <a:buNone/>
            </a:pPr>
            <a:r>
              <a:rPr lang="es-MX" sz="1200" b="0">
                <a:solidFill>
                  <a:srgbClr val="586276"/>
                </a:solidFill>
                <a:latin typeface="Arial"/>
              </a:rPr>
              <a:t>Figura 2-2. Inspección del estado con un punto de interrupción</a:t>
            </a:r>
          </a:p>
        </p:txBody>
      </p:sp>
      <p:pic>
        <p:nvPicPr>
          <p:cNvPr id="12" name="intellij" descr="Imagen de referencia del libro o herramienta"/>
          <p:cNvPicPr>
            <a:picLocks noChangeAspect="1"/>
          </p:cNvPicPr>
          <p:nvPr/>
        </p:nvPicPr>
        <p:blipFill>
          <a:blip r:embed="rId12"/>
          <a:stretch>
            <a:fillRect/>
          </a:stretch>
        </p:blipFill>
        <p:spPr>
          <a:xfrm>
            <a:off x="7874000" y="1612900"/>
            <a:ext cx="635000" cy="635000"/>
          </a:xfrm>
          <a:prstGeom prst="rect">
            <a:avLst/>
          </a:prstGeom>
        </p:spPr>
      </p:pic>
      <p:sp>
        <p:nvSpPr>
          <p:cNvPr id="13" name="Texto"/>
          <p:cNvSpPr txBox="1"/>
          <p:nvPr/>
        </p:nvSpPr>
        <p:spPr>
          <a:xfrm>
            <a:off x="8674100" y="1765300"/>
            <a:ext cx="2603500" cy="406400"/>
          </a:xfrm>
          <a:prstGeom prst="rect">
            <a:avLst/>
          </a:prstGeom>
          <a:noFill/>
          <a:ln>
            <a:noFill/>
          </a:ln>
        </p:spPr>
        <p:txBody>
          <a:bodyPr wrap="square" lIns="0" tIns="0" rIns="0" bIns="0" anchor="t">
            <a:noAutofit/>
          </a:bodyPr>
          <a:lstStyle/>
          <a:p>
            <a:pPr algn="l" marL="0" indent="0">
              <a:lnSpc>
                <a:spcPct val="110000"/>
              </a:lnSpc>
              <a:buNone/>
            </a:pPr>
            <a:r>
              <a:rPr lang="es-MX" sz="2000" b="0">
                <a:solidFill>
                  <a:srgbClr val="586276"/>
                </a:solidFill>
                <a:latin typeface="Arial"/>
              </a:rPr>
              <a:t>IntelliJ IDEA</a:t>
            </a:r>
          </a:p>
        </p:txBody>
      </p:sp>
      <p:sp>
        <p:nvSpPr>
          <p:cNvPr id="14" name="Texto"/>
          <p:cNvSpPr txBox="1"/>
          <p:nvPr/>
        </p:nvSpPr>
        <p:spPr>
          <a:xfrm>
            <a:off x="7874000" y="2578100"/>
            <a:ext cx="3556000" cy="431800"/>
          </a:xfrm>
          <a:prstGeom prst="rect">
            <a:avLst/>
          </a:prstGeom>
          <a:noFill/>
          <a:ln>
            <a:noFill/>
          </a:ln>
        </p:spPr>
        <p:txBody>
          <a:bodyPr wrap="square" lIns="0" tIns="0" rIns="0" bIns="0" anchor="t">
            <a:noAutofit/>
          </a:bodyPr>
          <a:lstStyle/>
          <a:p>
            <a:pPr algn="l" marL="0" indent="0">
              <a:lnSpc>
                <a:spcPct val="110000"/>
              </a:lnSpc>
              <a:buNone/>
            </a:pPr>
            <a:r>
              <a:rPr lang="es-MX" sz="2300" b="1">
                <a:solidFill>
                  <a:srgbClr val="00AEEF"/>
                </a:solidFill>
                <a:latin typeface="Arial"/>
              </a:rPr>
              <a:t>1. Ejecutar</a:t>
            </a:r>
          </a:p>
        </p:txBody>
      </p:sp>
      <p:sp>
        <p:nvSpPr>
          <p:cNvPr id="15" name="Texto"/>
          <p:cNvSpPr txBox="1"/>
          <p:nvPr/>
        </p:nvSpPr>
        <p:spPr>
          <a:xfrm>
            <a:off x="7874000" y="3009900"/>
            <a:ext cx="3556000" cy="647700"/>
          </a:xfrm>
          <a:prstGeom prst="rect">
            <a:avLst/>
          </a:prstGeom>
          <a:noFill/>
          <a:ln>
            <a:noFill/>
          </a:ln>
        </p:spPr>
        <p:txBody>
          <a:bodyPr wrap="square" lIns="0" tIns="0" rIns="0" bIns="0" anchor="t">
            <a:noAutofit/>
          </a:bodyPr>
          <a:lstStyle/>
          <a:p>
            <a:pPr algn="l" marL="0" indent="0">
              <a:lnSpc>
                <a:spcPct val="110000"/>
              </a:lnSpc>
              <a:buNone/>
            </a:pPr>
            <a:r>
              <a:rPr lang="es-MX" sz="2000" b="0">
                <a:solidFill>
                  <a:srgbClr val="18213A"/>
                </a:solidFill>
                <a:latin typeface="Arial"/>
              </a:rPr>
              <a:t>Elegir un caso de uso.</a:t>
            </a:r>
          </a:p>
        </p:txBody>
      </p:sp>
      <p:sp>
        <p:nvSpPr>
          <p:cNvPr id="16" name="Texto"/>
          <p:cNvSpPr txBox="1"/>
          <p:nvPr/>
        </p:nvSpPr>
        <p:spPr>
          <a:xfrm>
            <a:off x="7874000" y="3581400"/>
            <a:ext cx="3556000" cy="431800"/>
          </a:xfrm>
          <a:prstGeom prst="rect">
            <a:avLst/>
          </a:prstGeom>
          <a:noFill/>
          <a:ln>
            <a:noFill/>
          </a:ln>
        </p:spPr>
        <p:txBody>
          <a:bodyPr wrap="square" lIns="0" tIns="0" rIns="0" bIns="0" anchor="t">
            <a:noAutofit/>
          </a:bodyPr>
          <a:lstStyle/>
          <a:p>
            <a:pPr algn="l" marL="0" indent="0">
              <a:lnSpc>
                <a:spcPct val="110000"/>
              </a:lnSpc>
              <a:buNone/>
            </a:pPr>
            <a:r>
              <a:rPr lang="es-MX" sz="2300" b="1">
                <a:solidFill>
                  <a:srgbClr val="00AEEF"/>
                </a:solidFill>
                <a:latin typeface="Arial"/>
              </a:rPr>
              <a:t>2. Seguir</a:t>
            </a:r>
          </a:p>
        </p:txBody>
      </p:sp>
      <p:sp>
        <p:nvSpPr>
          <p:cNvPr id="17" name="Texto"/>
          <p:cNvSpPr txBox="1"/>
          <p:nvPr/>
        </p:nvSpPr>
        <p:spPr>
          <a:xfrm>
            <a:off x="7874000" y="4013200"/>
            <a:ext cx="3556000" cy="647700"/>
          </a:xfrm>
          <a:prstGeom prst="rect">
            <a:avLst/>
          </a:prstGeom>
          <a:noFill/>
          <a:ln>
            <a:noFill/>
          </a:ln>
        </p:spPr>
        <p:txBody>
          <a:bodyPr wrap="square" lIns="0" tIns="0" rIns="0" bIns="0" anchor="t">
            <a:noAutofit/>
          </a:bodyPr>
          <a:lstStyle/>
          <a:p>
            <a:pPr algn="l" marL="0" indent="0">
              <a:lnSpc>
                <a:spcPct val="110000"/>
              </a:lnSpc>
              <a:buNone/>
            </a:pPr>
            <a:r>
              <a:rPr lang="es-MX" sz="2000" b="0">
                <a:solidFill>
                  <a:srgbClr val="18213A"/>
                </a:solidFill>
                <a:latin typeface="Arial"/>
              </a:rPr>
              <a:t>Leer llamadas y pruebas.</a:t>
            </a:r>
          </a:p>
        </p:txBody>
      </p:sp>
      <p:sp>
        <p:nvSpPr>
          <p:cNvPr id="18" name="Texto"/>
          <p:cNvSpPr txBox="1"/>
          <p:nvPr/>
        </p:nvSpPr>
        <p:spPr>
          <a:xfrm>
            <a:off x="7874000" y="4584700"/>
            <a:ext cx="3556000" cy="431800"/>
          </a:xfrm>
          <a:prstGeom prst="rect">
            <a:avLst/>
          </a:prstGeom>
          <a:noFill/>
          <a:ln>
            <a:noFill/>
          </a:ln>
        </p:spPr>
        <p:txBody>
          <a:bodyPr wrap="square" lIns="0" tIns="0" rIns="0" bIns="0" anchor="t">
            <a:noAutofit/>
          </a:bodyPr>
          <a:lstStyle/>
          <a:p>
            <a:pPr algn="l" marL="0" indent="0">
              <a:lnSpc>
                <a:spcPct val="110000"/>
              </a:lnSpc>
              <a:buNone/>
            </a:pPr>
            <a:r>
              <a:rPr lang="es-MX" sz="2300" b="1">
                <a:solidFill>
                  <a:srgbClr val="00AEEF"/>
                </a:solidFill>
                <a:latin typeface="Arial"/>
              </a:rPr>
              <a:t>3. Contrastar</a:t>
            </a:r>
          </a:p>
        </p:txBody>
      </p:sp>
      <p:sp>
        <p:nvSpPr>
          <p:cNvPr id="19" name="Texto"/>
          <p:cNvSpPr txBox="1"/>
          <p:nvPr/>
        </p:nvSpPr>
        <p:spPr>
          <a:xfrm>
            <a:off x="7874000" y="5016500"/>
            <a:ext cx="3556000" cy="647700"/>
          </a:xfrm>
          <a:prstGeom prst="rect">
            <a:avLst/>
          </a:prstGeom>
          <a:noFill/>
          <a:ln>
            <a:noFill/>
          </a:ln>
        </p:spPr>
        <p:txBody>
          <a:bodyPr wrap="square" lIns="0" tIns="0" rIns="0" bIns="0" anchor="t">
            <a:noAutofit/>
          </a:bodyPr>
          <a:lstStyle/>
          <a:p>
            <a:pPr algn="l" marL="0" indent="0">
              <a:lnSpc>
                <a:spcPct val="110000"/>
              </a:lnSpc>
              <a:buNone/>
            </a:pPr>
            <a:r>
              <a:rPr lang="es-MX" sz="2000" b="0">
                <a:solidFill>
                  <a:srgbClr val="18213A"/>
                </a:solidFill>
                <a:latin typeface="Arial"/>
              </a:rPr>
              <a:t>Depurar y revisar el historial.</a:t>
            </a:r>
          </a:p>
        </p:txBody>
      </p:sp>
      <p:sp>
        <p:nvSpPr>
          <p:cNvPr id="500" name="Fuente y sección"/>
          <p:cNvSpPr txBox="1"/>
          <p:nvPr/>
        </p:nvSpPr>
        <p:spPr>
          <a:xfrm>
            <a:off x="838200" y="6553200"/>
            <a:ext cx="9271000" cy="228600"/>
          </a:xfrm>
          <a:prstGeom prst="rect">
            <a:avLst/>
          </a:prstGeom>
          <a:noFill/>
          <a:ln>
            <a:noFill/>
          </a:ln>
        </p:spPr>
        <p:txBody>
          <a:bodyPr wrap="square" lIns="0" tIns="0" rIns="0" bIns="0" anchor="t">
            <a:noAutofit/>
          </a:bodyPr>
          <a:lstStyle/>
          <a:p>
            <a:pPr algn="l" marL="0" indent="0">
              <a:lnSpc>
                <a:spcPct val="110000"/>
              </a:lnSpc>
              <a:buNone/>
            </a:pPr>
            <a:r>
              <a:rPr lang="es-MX" sz="1100" b="0">
                <a:solidFill>
                  <a:srgbClr val="FFFFFF"/>
                </a:solidFill>
                <a:latin typeface="Arial"/>
              </a:rPr>
              <a:t>Capítulo 2 / Lectura de código</a:t>
            </a:r>
          </a:p>
        </p:txBody>
      </p:sp>
      <p:sp>
        <p:nvSpPr>
          <p:cNvPr id="501" name="Número de diapositiva"/>
          <p:cNvSpPr txBox="1"/>
          <p:nvPr/>
        </p:nvSpPr>
        <p:spPr>
          <a:xfrm>
            <a:off x="10795000" y="6540500"/>
            <a:ext cx="508000" cy="228600"/>
          </a:xfrm>
          <a:prstGeom prst="rect">
            <a:avLst/>
          </a:prstGeom>
          <a:noFill/>
          <a:ln>
            <a:noFill/>
          </a:ln>
        </p:spPr>
        <p:txBody>
          <a:bodyPr wrap="square" lIns="0" tIns="0" rIns="0" bIns="0" anchor="t">
            <a:noAutofit/>
          </a:bodyPr>
          <a:lstStyle/>
          <a:p>
            <a:pPr algn="r" marL="0" indent="0">
              <a:lnSpc>
                <a:spcPct val="110000"/>
              </a:lnSpc>
              <a:buNone/>
            </a:pPr>
            <a:r>
              <a:rPr lang="es-MX" sz="1100" b="0">
                <a:solidFill>
                  <a:srgbClr val="FFFFFF"/>
                </a:solidFill>
                <a:latin typeface="Arial"/>
              </a:rPr>
              <a:t>7</a:t>
            </a:r>
          </a:p>
        </p:txBody>
      </p:sp>
    </p:spTree>
    <p:extLst>
      <p:ext uri="{BB962C8B-B14F-4D97-AF65-F5344CB8AC3E}">
        <ns3:creationId val="3588295322"/>
      </p:ext>
    </p:extLst>
  </p:cSld>
  <p:clrMapOvr>
    <a:masterClrMapping/>
  </p:clrMapOvr>
</p:sld>
</file>

<file path=ppt/slides/slide8.xml><?xml version="1.0" encoding="utf-8"?>
<p:sld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Título"/>
          <p:cNvSpPr txBox="1"/>
          <p:nvPr/>
        </p:nvSpPr>
        <p:spPr>
          <a:xfrm>
            <a:off x="838200" y="673100"/>
            <a:ext cx="10668000" cy="1016000"/>
          </a:xfrm>
          <a:prstGeom prst="rect">
            <a:avLst/>
          </a:prstGeom>
          <a:noFill/>
          <a:ln>
            <a:noFill/>
          </a:ln>
        </p:spPr>
        <p:txBody>
          <a:bodyPr wrap="square" lIns="0" tIns="0" rIns="0" bIns="0" anchor="t">
            <a:noAutofit/>
          </a:bodyPr>
          <a:lstStyle/>
          <a:p>
            <a:pPr algn="l" marL="0" indent="0">
              <a:lnSpc>
                <a:spcPct val="110000"/>
              </a:lnSpc>
              <a:buNone/>
            </a:pPr>
            <a:r>
              <a:rPr lang="es-MX" sz="3200" b="1">
                <a:solidFill>
                  <a:srgbClr val="25204E"/>
                </a:solidFill>
                <a:latin typeface="Arial"/>
              </a:rPr>
              <a:t>El código también lo leen personas</a:t>
            </a:r>
          </a:p>
        </p:txBody>
      </p:sp>
      <p:sp>
        <p:nvSpPr>
          <p:cNvPr id="10" name="Texto"/>
          <p:cNvSpPr txBox="1"/>
          <p:nvPr/>
        </p:nvSpPr>
        <p:spPr>
          <a:xfrm>
            <a:off x="838200" y="1879600"/>
            <a:ext cx="4635500" cy="444500"/>
          </a:xfrm>
          <a:prstGeom prst="rect">
            <a:avLst/>
          </a:prstGeom>
          <a:noFill/>
          <a:ln>
            <a:noFill/>
          </a:ln>
        </p:spPr>
        <p:txBody>
          <a:bodyPr wrap="square" lIns="0" tIns="0" rIns="0" bIns="0" anchor="t">
            <a:noAutofit/>
          </a:bodyPr>
          <a:lstStyle/>
          <a:p>
            <a:pPr algn="l" marL="0" indent="0">
              <a:lnSpc>
                <a:spcPct val="110000"/>
              </a:lnSpc>
              <a:buNone/>
            </a:pPr>
            <a:r>
              <a:rPr lang="es-MX" sz="2500" b="1">
                <a:solidFill>
                  <a:srgbClr val="586276"/>
                </a:solidFill>
                <a:latin typeface="Arial"/>
              </a:rPr>
              <a:t>Intención escondida</a:t>
            </a:r>
          </a:p>
        </p:txBody>
      </p:sp>
      <p:sp>
        <p:nvSpPr>
          <p:cNvPr id="11" name="Texto"/>
          <p:cNvSpPr txBox="1"/>
          <p:nvPr/>
        </p:nvSpPr>
        <p:spPr>
          <a:xfrm>
            <a:off x="838200" y="2667000"/>
            <a:ext cx="5016500" cy="1397000"/>
          </a:xfrm>
          <a:prstGeom prst="rect">
            <a:avLst/>
          </a:prstGeom>
          <a:noFill/>
          <a:ln>
            <a:noFill/>
          </a:ln>
        </p:spPr>
        <p:txBody>
          <a:bodyPr wrap="square" lIns="0" tIns="0" rIns="0" bIns="0" anchor="t">
            <a:noAutofit/>
          </a:bodyPr>
          <a:lstStyle/>
          <a:p>
            <a:pPr algn="l" marL="0" indent="0">
              <a:lnSpc>
                <a:spcPct val="110000"/>
              </a:lnSpc>
              <a:buNone/>
            </a:pPr>
            <a:r>
              <a:rPr lang="es-MX" sz="2300" b="0">
                <a:solidFill>
                  <a:srgbClr val="25204E"/>
                </a:solidFill>
                <a:latin typeface="Menlo"/>
              </a:rPr>
              <a:t>s = sum(x.v for x in xs</a:t>
            </a:r>
          </a:p>
          <a:p>
            <a:pPr algn="l" marL="0" indent="0">
              <a:lnSpc>
                <a:spcPct val="110000"/>
              </a:lnSpc>
              <a:buNone/>
            </a:pPr>
            <a:r>
              <a:rPr lang="es-MX" sz="2300" b="0">
                <a:solidFill>
                  <a:srgbClr val="25204E"/>
                </a:solidFill>
                <a:latin typeface="Menlo"/>
              </a:rPr>
              <a:t>        if x.ok)</a:t>
            </a:r>
          </a:p>
        </p:txBody>
      </p:sp>
      <p:sp>
        <p:nvSpPr>
          <p:cNvPr id="12" name="Texto"/>
          <p:cNvSpPr txBox="1"/>
          <p:nvPr/>
        </p:nvSpPr>
        <p:spPr>
          <a:xfrm>
            <a:off x="6299200" y="1879600"/>
            <a:ext cx="5080000" cy="444500"/>
          </a:xfrm>
          <a:prstGeom prst="rect">
            <a:avLst/>
          </a:prstGeom>
          <a:noFill/>
          <a:ln>
            <a:noFill/>
          </a:ln>
        </p:spPr>
        <p:txBody>
          <a:bodyPr wrap="square" lIns="0" tIns="0" rIns="0" bIns="0" anchor="t">
            <a:noAutofit/>
          </a:bodyPr>
          <a:lstStyle/>
          <a:p>
            <a:pPr algn="l" marL="0" indent="0">
              <a:lnSpc>
                <a:spcPct val="110000"/>
              </a:lnSpc>
              <a:buNone/>
            </a:pPr>
            <a:r>
              <a:rPr lang="es-MX" sz="2500" b="1">
                <a:solidFill>
                  <a:srgbClr val="00AEEF"/>
                </a:solidFill>
                <a:latin typeface="Arial"/>
              </a:rPr>
              <a:t>Intención visible</a:t>
            </a:r>
          </a:p>
        </p:txBody>
      </p:sp>
      <p:sp>
        <p:nvSpPr>
          <p:cNvPr id="13" name="Texto"/>
          <p:cNvSpPr txBox="1"/>
          <p:nvPr/>
        </p:nvSpPr>
        <p:spPr>
          <a:xfrm>
            <a:off x="6299200" y="2667000"/>
            <a:ext cx="5080000" cy="2286000"/>
          </a:xfrm>
          <a:prstGeom prst="rect">
            <a:avLst/>
          </a:prstGeom>
          <a:noFill/>
          <a:ln>
            <a:noFill/>
          </a:ln>
        </p:spPr>
        <p:txBody>
          <a:bodyPr wrap="square" lIns="0" tIns="0" rIns="0" bIns="0" anchor="t">
            <a:noAutofit/>
          </a:bodyPr>
          <a:lstStyle/>
          <a:p>
            <a:pPr algn="l" marL="0" indent="0">
              <a:lnSpc>
                <a:spcPct val="110000"/>
              </a:lnSpc>
              <a:buNone/>
            </a:pPr>
            <a:r>
              <a:rPr lang="es-MX" sz="2200" b="0">
                <a:solidFill>
                  <a:srgbClr val="25204E"/>
                </a:solidFill>
                <a:latin typeface="Menlo"/>
              </a:rPr>
              <a:t>total_pagado = sum(</a:t>
            </a:r>
          </a:p>
          <a:p>
            <a:pPr algn="l" marL="0" indent="0">
              <a:lnSpc>
                <a:spcPct val="110000"/>
              </a:lnSpc>
              <a:buNone/>
            </a:pPr>
            <a:r>
              <a:rPr lang="es-MX" sz="2200" b="0">
                <a:solidFill>
                  <a:srgbClr val="25204E"/>
                </a:solidFill>
                <a:latin typeface="Menlo"/>
              </a:rPr>
              <a:t>    pago.importe</a:t>
            </a:r>
          </a:p>
          <a:p>
            <a:pPr algn="l" marL="0" indent="0">
              <a:lnSpc>
                <a:spcPct val="110000"/>
              </a:lnSpc>
              <a:buNone/>
            </a:pPr>
            <a:r>
              <a:rPr lang="es-MX" sz="2200" b="0">
                <a:solidFill>
                  <a:srgbClr val="25204E"/>
                </a:solidFill>
                <a:latin typeface="Menlo"/>
              </a:rPr>
              <a:t>    for pago in pagos</a:t>
            </a:r>
          </a:p>
          <a:p>
            <a:pPr algn="l" marL="0" indent="0">
              <a:lnSpc>
                <a:spcPct val="110000"/>
              </a:lnSpc>
              <a:buNone/>
            </a:pPr>
            <a:r>
              <a:rPr lang="es-MX" sz="2200" b="0">
                <a:solidFill>
                  <a:srgbClr val="25204E"/>
                </a:solidFill>
                <a:latin typeface="Menlo"/>
              </a:rPr>
              <a:t>    if pago.confirmado</a:t>
            </a:r>
          </a:p>
          <a:p>
            <a:pPr algn="l" marL="0" indent="0">
              <a:lnSpc>
                <a:spcPct val="110000"/>
              </a:lnSpc>
              <a:buNone/>
            </a:pPr>
            <a:r>
              <a:rPr lang="es-MX" sz="2200" b="0">
                <a:solidFill>
                  <a:srgbClr val="25204E"/>
                </a:solidFill>
                <a:latin typeface="Menlo"/>
              </a:rPr>
              <a:t>)</a:t>
            </a:r>
          </a:p>
        </p:txBody>
      </p:sp>
      <p:sp>
        <p:nvSpPr>
          <p:cNvPr id="14" name="Texto"/>
          <p:cNvSpPr txBox="1"/>
          <p:nvPr/>
        </p:nvSpPr>
        <p:spPr>
          <a:xfrm>
            <a:off x="838200" y="5499100"/>
            <a:ext cx="10160000" cy="711200"/>
          </a:xfrm>
          <a:prstGeom prst="rect">
            <a:avLst/>
          </a:prstGeom>
          <a:noFill/>
          <a:ln>
            <a:noFill/>
          </a:ln>
        </p:spPr>
        <p:txBody>
          <a:bodyPr wrap="square" lIns="0" tIns="0" rIns="0" bIns="0" anchor="t">
            <a:noAutofit/>
          </a:bodyPr>
          <a:lstStyle/>
          <a:p>
            <a:pPr algn="l" marL="0" indent="0">
              <a:lnSpc>
                <a:spcPct val="110000"/>
              </a:lnSpc>
              <a:buNone/>
            </a:pPr>
            <a:r>
              <a:rPr lang="es-MX" sz="2400" b="0">
                <a:solidFill>
                  <a:srgbClr val="18213A"/>
                </a:solidFill>
                <a:latin typeface="Arial"/>
              </a:rPr>
              <a:t>La estructura y los nombres deben ayudar a comprender el comportamiento.</a:t>
            </a:r>
          </a:p>
        </p:txBody>
      </p:sp>
      <p:sp>
        <p:nvSpPr>
          <p:cNvPr id="500" name="Fuente y sección"/>
          <p:cNvSpPr txBox="1"/>
          <p:nvPr/>
        </p:nvSpPr>
        <p:spPr>
          <a:xfrm>
            <a:off x="838200" y="6553200"/>
            <a:ext cx="9271000" cy="228600"/>
          </a:xfrm>
          <a:prstGeom prst="rect">
            <a:avLst/>
          </a:prstGeom>
          <a:noFill/>
          <a:ln>
            <a:noFill/>
          </a:ln>
        </p:spPr>
        <p:txBody>
          <a:bodyPr wrap="square" lIns="0" tIns="0" rIns="0" bIns="0" anchor="t">
            <a:noAutofit/>
          </a:bodyPr>
          <a:lstStyle/>
          <a:p>
            <a:pPr algn="l" marL="0" indent="0">
              <a:lnSpc>
                <a:spcPct val="110000"/>
              </a:lnSpc>
              <a:buNone/>
            </a:pPr>
            <a:r>
              <a:rPr lang="es-MX" sz="1100" b="0">
                <a:solidFill>
                  <a:srgbClr val="FFFFFF"/>
                </a:solidFill>
                <a:latin typeface="Arial"/>
              </a:rPr>
              <a:t>Capítulo 3 / Escribir código</a:t>
            </a:r>
          </a:p>
        </p:txBody>
      </p:sp>
      <p:sp>
        <p:nvSpPr>
          <p:cNvPr id="501" name="Número de diapositiva"/>
          <p:cNvSpPr txBox="1"/>
          <p:nvPr/>
        </p:nvSpPr>
        <p:spPr>
          <a:xfrm>
            <a:off x="10795000" y="6540500"/>
            <a:ext cx="508000" cy="228600"/>
          </a:xfrm>
          <a:prstGeom prst="rect">
            <a:avLst/>
          </a:prstGeom>
          <a:noFill/>
          <a:ln>
            <a:noFill/>
          </a:ln>
        </p:spPr>
        <p:txBody>
          <a:bodyPr wrap="square" lIns="0" tIns="0" rIns="0" bIns="0" anchor="t">
            <a:noAutofit/>
          </a:bodyPr>
          <a:lstStyle/>
          <a:p>
            <a:pPr algn="r" marL="0" indent="0">
              <a:lnSpc>
                <a:spcPct val="110000"/>
              </a:lnSpc>
              <a:buNone/>
            </a:pPr>
            <a:r>
              <a:rPr lang="es-MX" sz="1100" b="0">
                <a:solidFill>
                  <a:srgbClr val="FFFFFF"/>
                </a:solidFill>
                <a:latin typeface="Arial"/>
              </a:rPr>
              <a:t>8</a:t>
            </a:r>
          </a:p>
        </p:txBody>
      </p:sp>
    </p:spTree>
    <p:extLst>
      <p:ext uri="{BB962C8B-B14F-4D97-AF65-F5344CB8AC3E}">
        <ns2:creationId val="3588295322"/>
      </p:ext>
    </p:extLst>
  </p:cSld>
  <p:clrMapOvr>
    <a:masterClrMapping/>
  </p:clrMapOvr>
</p:sld>
</file>

<file path=ppt/slides/slide9.xml><?xml version="1.0" encoding="utf-8"?>
<p:sld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Título"/>
          <p:cNvSpPr txBox="1"/>
          <p:nvPr/>
        </p:nvSpPr>
        <p:spPr>
          <a:xfrm>
            <a:off x="838200" y="673100"/>
            <a:ext cx="10668000" cy="1016000"/>
          </a:xfrm>
          <a:prstGeom prst="rect">
            <a:avLst/>
          </a:prstGeom>
          <a:noFill/>
          <a:ln>
            <a:noFill/>
          </a:ln>
        </p:spPr>
        <p:txBody>
          <a:bodyPr wrap="square" lIns="0" tIns="0" rIns="0" bIns="0" anchor="t">
            <a:noAutofit/>
          </a:bodyPr>
          <a:lstStyle/>
          <a:p>
            <a:pPr algn="l" marL="0" indent="0">
              <a:lnSpc>
                <a:spcPct val="110000"/>
              </a:lnSpc>
              <a:buNone/>
            </a:pPr>
            <a:r>
              <a:rPr lang="es-MX" sz="3200" b="1">
                <a:solidFill>
                  <a:srgbClr val="25204E"/>
                </a:solidFill>
                <a:latin typeface="Arial"/>
              </a:rPr>
              <a:t>Buenas prácticas para mantener software</a:t>
            </a:r>
          </a:p>
        </p:txBody>
      </p:sp>
      <p:sp>
        <p:nvSpPr>
          <p:cNvPr id="10" name="Texto"/>
          <p:cNvSpPr txBox="1"/>
          <p:nvPr/>
        </p:nvSpPr>
        <p:spPr>
          <a:xfrm>
            <a:off x="838200" y="1981200"/>
            <a:ext cx="4953000" cy="431800"/>
          </a:xfrm>
          <a:prstGeom prst="rect">
            <a:avLst/>
          </a:prstGeom>
          <a:noFill/>
          <a:ln>
            <a:noFill/>
          </a:ln>
        </p:spPr>
        <p:txBody>
          <a:bodyPr wrap="square" lIns="0" tIns="0" rIns="0" bIns="0" anchor="t">
            <a:noAutofit/>
          </a:bodyPr>
          <a:lstStyle/>
          <a:p>
            <a:pPr algn="l" marL="0" indent="0">
              <a:lnSpc>
                <a:spcPct val="110000"/>
              </a:lnSpc>
              <a:buNone/>
            </a:pPr>
            <a:r>
              <a:rPr lang="es-MX" sz="2600" b="1">
                <a:solidFill>
                  <a:srgbClr val="00AEEF"/>
                </a:solidFill>
                <a:latin typeface="Arial"/>
              </a:rPr>
              <a:t>Responsabilidades claras</a:t>
            </a:r>
          </a:p>
        </p:txBody>
      </p:sp>
      <p:sp>
        <p:nvSpPr>
          <p:cNvPr id="11" name="Texto"/>
          <p:cNvSpPr txBox="1"/>
          <p:nvPr/>
        </p:nvSpPr>
        <p:spPr>
          <a:xfrm>
            <a:off x="838200" y="2413000"/>
            <a:ext cx="4953000" cy="1460500"/>
          </a:xfrm>
          <a:prstGeom prst="rect">
            <a:avLst/>
          </a:prstGeom>
          <a:noFill/>
          <a:ln>
            <a:noFill/>
          </a:ln>
        </p:spPr>
        <p:txBody>
          <a:bodyPr wrap="square" lIns="0" tIns="0" rIns="0" bIns="0" anchor="t">
            <a:noAutofit/>
          </a:bodyPr>
          <a:lstStyle/>
          <a:p>
            <a:pPr algn="l" marL="0" indent="0">
              <a:lnSpc>
                <a:spcPct val="110000"/>
              </a:lnSpc>
              <a:buNone/>
            </a:pPr>
            <a:r>
              <a:rPr lang="es-MX" sz="2300" b="0">
                <a:solidFill>
                  <a:srgbClr val="18213A"/>
                </a:solidFill>
                <a:latin typeface="Arial"/>
              </a:rPr>
              <a:t>Una función debe poder explicarse con facilidad.</a:t>
            </a:r>
          </a:p>
        </p:txBody>
      </p:sp>
      <p:sp>
        <p:nvSpPr>
          <p:cNvPr id="12" name="Texto"/>
          <p:cNvSpPr txBox="1"/>
          <p:nvPr/>
        </p:nvSpPr>
        <p:spPr>
          <a:xfrm>
            <a:off x="838200" y="3797300"/>
            <a:ext cx="4953000" cy="431800"/>
          </a:xfrm>
          <a:prstGeom prst="rect">
            <a:avLst/>
          </a:prstGeom>
          <a:noFill/>
          <a:ln>
            <a:noFill/>
          </a:ln>
        </p:spPr>
        <p:txBody>
          <a:bodyPr wrap="square" lIns="0" tIns="0" rIns="0" bIns="0" anchor="t">
            <a:noAutofit/>
          </a:bodyPr>
          <a:lstStyle/>
          <a:p>
            <a:pPr algn="l" marL="0" indent="0">
              <a:lnSpc>
                <a:spcPct val="110000"/>
              </a:lnSpc>
              <a:buNone/>
            </a:pPr>
            <a:r>
              <a:rPr lang="es-MX" sz="2600" b="1">
                <a:solidFill>
                  <a:srgbClr val="00AEEF"/>
                </a:solidFill>
                <a:latin typeface="Arial"/>
              </a:rPr>
              <a:t>Convenciones compartidas</a:t>
            </a:r>
          </a:p>
        </p:txBody>
      </p:sp>
      <p:sp>
        <p:nvSpPr>
          <p:cNvPr id="13" name="Texto"/>
          <p:cNvSpPr txBox="1"/>
          <p:nvPr/>
        </p:nvSpPr>
        <p:spPr>
          <a:xfrm>
            <a:off x="838200" y="4229100"/>
            <a:ext cx="4953000" cy="1460500"/>
          </a:xfrm>
          <a:prstGeom prst="rect">
            <a:avLst/>
          </a:prstGeom>
          <a:noFill/>
          <a:ln>
            <a:noFill/>
          </a:ln>
        </p:spPr>
        <p:txBody>
          <a:bodyPr wrap="square" lIns="0" tIns="0" rIns="0" bIns="0" anchor="t">
            <a:noAutofit/>
          </a:bodyPr>
          <a:lstStyle/>
          <a:p>
            <a:pPr algn="l" marL="0" indent="0">
              <a:lnSpc>
                <a:spcPct val="110000"/>
              </a:lnSpc>
              <a:buNone/>
            </a:pPr>
            <a:r>
              <a:rPr lang="es-MX" sz="2300" b="0">
                <a:solidFill>
                  <a:srgbClr val="18213A"/>
                </a:solidFill>
                <a:latin typeface="Arial"/>
              </a:rPr>
              <a:t>Nombres del dominio y decisiones consistentes.</a:t>
            </a:r>
          </a:p>
        </p:txBody>
      </p:sp>
      <p:sp>
        <p:nvSpPr>
          <p:cNvPr id="14" name="Texto"/>
          <p:cNvSpPr txBox="1"/>
          <p:nvPr/>
        </p:nvSpPr>
        <p:spPr>
          <a:xfrm>
            <a:off x="6350000" y="1981200"/>
            <a:ext cx="4953000" cy="431800"/>
          </a:xfrm>
          <a:prstGeom prst="rect">
            <a:avLst/>
          </a:prstGeom>
          <a:noFill/>
          <a:ln>
            <a:noFill/>
          </a:ln>
        </p:spPr>
        <p:txBody>
          <a:bodyPr wrap="square" lIns="0" tIns="0" rIns="0" bIns="0" anchor="t">
            <a:noAutofit/>
          </a:bodyPr>
          <a:lstStyle/>
          <a:p>
            <a:pPr algn="l" marL="0" indent="0">
              <a:lnSpc>
                <a:spcPct val="110000"/>
              </a:lnSpc>
              <a:buNone/>
            </a:pPr>
            <a:r>
              <a:rPr lang="es-MX" sz="2600" b="1">
                <a:solidFill>
                  <a:srgbClr val="00AEEF"/>
                </a:solidFill>
                <a:latin typeface="Arial"/>
              </a:rPr>
              <a:t>Complejidad justificada</a:t>
            </a:r>
          </a:p>
        </p:txBody>
      </p:sp>
      <p:sp>
        <p:nvSpPr>
          <p:cNvPr id="15" name="Texto"/>
          <p:cNvSpPr txBox="1"/>
          <p:nvPr/>
        </p:nvSpPr>
        <p:spPr>
          <a:xfrm>
            <a:off x="6350000" y="2413000"/>
            <a:ext cx="4953000" cy="1460500"/>
          </a:xfrm>
          <a:prstGeom prst="rect">
            <a:avLst/>
          </a:prstGeom>
          <a:noFill/>
          <a:ln>
            <a:noFill/>
          </a:ln>
        </p:spPr>
        <p:txBody>
          <a:bodyPr wrap="square" lIns="0" tIns="0" rIns="0" bIns="0" anchor="t">
            <a:noAutofit/>
          </a:bodyPr>
          <a:lstStyle/>
          <a:p>
            <a:pPr algn="l" marL="0" indent="0">
              <a:lnSpc>
                <a:spcPct val="110000"/>
              </a:lnSpc>
              <a:buNone/>
            </a:pPr>
            <a:r>
              <a:rPr lang="es-MX" sz="2300" b="0">
                <a:solidFill>
                  <a:srgbClr val="18213A"/>
                </a:solidFill>
                <a:latin typeface="Arial"/>
              </a:rPr>
              <a:t>La abstracción necesita un problema real.</a:t>
            </a:r>
          </a:p>
        </p:txBody>
      </p:sp>
      <p:sp>
        <p:nvSpPr>
          <p:cNvPr id="16" name="Texto"/>
          <p:cNvSpPr txBox="1"/>
          <p:nvPr/>
        </p:nvSpPr>
        <p:spPr>
          <a:xfrm>
            <a:off x="6350000" y="3797300"/>
            <a:ext cx="4953000" cy="431800"/>
          </a:xfrm>
          <a:prstGeom prst="rect">
            <a:avLst/>
          </a:prstGeom>
          <a:noFill/>
          <a:ln>
            <a:noFill/>
          </a:ln>
        </p:spPr>
        <p:txBody>
          <a:bodyPr wrap="square" lIns="0" tIns="0" rIns="0" bIns="0" anchor="t">
            <a:noAutofit/>
          </a:bodyPr>
          <a:lstStyle/>
          <a:p>
            <a:pPr algn="l" marL="0" indent="0">
              <a:lnSpc>
                <a:spcPct val="110000"/>
              </a:lnSpc>
              <a:buNone/>
            </a:pPr>
            <a:r>
              <a:rPr lang="es-MX" sz="2600" b="1">
                <a:solidFill>
                  <a:srgbClr val="00AEEF"/>
                </a:solidFill>
                <a:latin typeface="Arial"/>
              </a:rPr>
              <a:t>Revisión entre personas</a:t>
            </a:r>
          </a:p>
        </p:txBody>
      </p:sp>
      <p:sp>
        <p:nvSpPr>
          <p:cNvPr id="17" name="Texto"/>
          <p:cNvSpPr txBox="1"/>
          <p:nvPr/>
        </p:nvSpPr>
        <p:spPr>
          <a:xfrm>
            <a:off x="6350000" y="4229100"/>
            <a:ext cx="4953000" cy="1460500"/>
          </a:xfrm>
          <a:prstGeom prst="rect">
            <a:avLst/>
          </a:prstGeom>
          <a:noFill/>
          <a:ln>
            <a:noFill/>
          </a:ln>
        </p:spPr>
        <p:txBody>
          <a:bodyPr wrap="square" lIns="0" tIns="0" rIns="0" bIns="0" anchor="t">
            <a:noAutofit/>
          </a:bodyPr>
          <a:lstStyle/>
          <a:p>
            <a:pPr algn="l" marL="0" indent="0">
              <a:lnSpc>
                <a:spcPct val="110000"/>
              </a:lnSpc>
              <a:buNone/>
            </a:pPr>
            <a:r>
              <a:rPr lang="es-MX" sz="2300" b="0">
                <a:solidFill>
                  <a:srgbClr val="18213A"/>
                </a:solidFill>
                <a:latin typeface="Arial"/>
              </a:rPr>
              <a:t>Preguntar, argumentar y aceptar retroalimentación.</a:t>
            </a:r>
          </a:p>
        </p:txBody>
      </p:sp>
      <p:sp>
        <p:nvSpPr>
          <p:cNvPr id="500" name="Fuente y sección"/>
          <p:cNvSpPr txBox="1"/>
          <p:nvPr/>
        </p:nvSpPr>
        <p:spPr>
          <a:xfrm>
            <a:off x="838200" y="6553200"/>
            <a:ext cx="9271000" cy="228600"/>
          </a:xfrm>
          <a:prstGeom prst="rect">
            <a:avLst/>
          </a:prstGeom>
          <a:noFill/>
          <a:ln>
            <a:noFill/>
          </a:ln>
        </p:spPr>
        <p:txBody>
          <a:bodyPr wrap="square" lIns="0" tIns="0" rIns="0" bIns="0" anchor="t">
            <a:noAutofit/>
          </a:bodyPr>
          <a:lstStyle/>
          <a:p>
            <a:pPr algn="l" marL="0" indent="0">
              <a:lnSpc>
                <a:spcPct val="110000"/>
              </a:lnSpc>
              <a:buNone/>
            </a:pPr>
            <a:r>
              <a:rPr lang="es-MX" sz="1100" b="0">
                <a:solidFill>
                  <a:srgbClr val="FFFFFF"/>
                </a:solidFill>
                <a:latin typeface="Arial"/>
              </a:rPr>
              <a:t>Capítulos 1 y 3</a:t>
            </a:r>
          </a:p>
        </p:txBody>
      </p:sp>
      <p:sp>
        <p:nvSpPr>
          <p:cNvPr id="501" name="Número de diapositiva"/>
          <p:cNvSpPr txBox="1"/>
          <p:nvPr/>
        </p:nvSpPr>
        <p:spPr>
          <a:xfrm>
            <a:off x="10795000" y="6540500"/>
            <a:ext cx="508000" cy="228600"/>
          </a:xfrm>
          <a:prstGeom prst="rect">
            <a:avLst/>
          </a:prstGeom>
          <a:noFill/>
          <a:ln>
            <a:noFill/>
          </a:ln>
        </p:spPr>
        <p:txBody>
          <a:bodyPr wrap="square" lIns="0" tIns="0" rIns="0" bIns="0" anchor="t">
            <a:noAutofit/>
          </a:bodyPr>
          <a:lstStyle/>
          <a:p>
            <a:pPr algn="r" marL="0" indent="0">
              <a:lnSpc>
                <a:spcPct val="110000"/>
              </a:lnSpc>
              <a:buNone/>
            </a:pPr>
            <a:r>
              <a:rPr lang="es-MX" sz="1100" b="0">
                <a:solidFill>
                  <a:srgbClr val="FFFFFF"/>
                </a:solidFill>
                <a:latin typeface="Arial"/>
              </a:rPr>
              <a:t>9</a:t>
            </a:r>
          </a:p>
        </p:txBody>
      </p:sp>
    </p:spTree>
    <p:extLst>
      <p:ext uri="{BB962C8B-B14F-4D97-AF65-F5344CB8AC3E}">
        <ns2:creationId val="3588295322"/>
      </p:ext>
    </p:extLst>
  </p:cSld>
  <p:clrMapOvr>
    <a:masterClrMapping/>
  </p:clrMapOvr>
</p:sld>
</file>

<file path=ppt/slides/slide10.xml><?xml version="1.0" encoding="utf-8"?>
<p:sld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Título"/>
          <p:cNvSpPr txBox="1"/>
          <p:nvPr/>
        </p:nvSpPr>
        <p:spPr>
          <a:xfrm>
            <a:off x="838200" y="673100"/>
            <a:ext cx="10668000" cy="1016000"/>
          </a:xfrm>
          <a:prstGeom prst="rect">
            <a:avLst/>
          </a:prstGeom>
          <a:noFill/>
          <a:ln>
            <a:noFill/>
          </a:ln>
        </p:spPr>
        <p:txBody>
          <a:bodyPr wrap="square" lIns="0" tIns="0" rIns="0" bIns="0" anchor="t">
            <a:noAutofit/>
          </a:bodyPr>
          <a:lstStyle/>
          <a:p>
            <a:pPr algn="l" marL="0" indent="0">
              <a:lnSpc>
                <a:spcPct val="110000"/>
              </a:lnSpc>
              <a:buNone/>
            </a:pPr>
            <a:r>
              <a:rPr lang="es-MX" sz="3200" b="1">
                <a:solidFill>
                  <a:srgbClr val="25204E"/>
                </a:solidFill>
                <a:latin typeface="Arial"/>
              </a:rPr>
              <a:t>La documentación conserva el contexto</a:t>
            </a:r>
          </a:p>
        </p:txBody>
      </p:sp>
      <p:sp>
        <p:nvSpPr>
          <p:cNvPr id="10" name="Texto"/>
          <p:cNvSpPr txBox="1"/>
          <p:nvPr/>
        </p:nvSpPr>
        <p:spPr>
          <a:xfrm>
            <a:off x="838200" y="1905000"/>
            <a:ext cx="5080000" cy="571500"/>
          </a:xfrm>
          <a:prstGeom prst="rect">
            <a:avLst/>
          </a:prstGeom>
          <a:noFill/>
          <a:ln>
            <a:noFill/>
          </a:ln>
        </p:spPr>
        <p:txBody>
          <a:bodyPr wrap="square" lIns="0" tIns="0" rIns="0" bIns="0" anchor="t">
            <a:noAutofit/>
          </a:bodyPr>
          <a:lstStyle/>
          <a:p>
            <a:pPr algn="l" marL="0" indent="0">
              <a:lnSpc>
                <a:spcPct val="110000"/>
              </a:lnSpc>
              <a:buNone/>
            </a:pPr>
            <a:r>
              <a:rPr lang="es-MX" sz="2700" b="1">
                <a:solidFill>
                  <a:srgbClr val="25204E"/>
                </a:solidFill>
                <a:latin typeface="Arial"/>
              </a:rPr>
              <a:t>Lo que otra persona necesita</a:t>
            </a:r>
          </a:p>
        </p:txBody>
      </p:sp>
      <p:sp>
        <p:nvSpPr>
          <p:cNvPr id="11" name="Texto"/>
          <p:cNvSpPr txBox="1"/>
          <p:nvPr/>
        </p:nvSpPr>
        <p:spPr>
          <a:xfrm>
            <a:off x="838200" y="2794000"/>
            <a:ext cx="5207000" cy="2413000"/>
          </a:xfrm>
          <a:prstGeom prst="rect">
            <a:avLst/>
          </a:prstGeom>
          <a:noFill/>
          <a:ln>
            <a:noFill/>
          </a:ln>
        </p:spPr>
        <p:txBody>
          <a:bodyPr wrap="square" lIns="0" tIns="0" rIns="0" bIns="0" anchor="t">
            <a:noAutofit/>
          </a:bodyPr>
          <a:lstStyle/>
          <a:p>
            <a:pPr algn="l" marL="0" indent="0">
              <a:lnSpc>
                <a:spcPct val="110000"/>
              </a:lnSpc>
              <a:buNone/>
            </a:pPr>
            <a:r>
              <a:rPr lang="es-MX" sz="2500" b="0">
                <a:solidFill>
                  <a:srgbClr val="18213A"/>
                </a:solidFill>
                <a:latin typeface="Arial"/>
              </a:rPr>
              <a:t>Cómo ejecutar el proyecto</a:t>
            </a:r>
          </a:p>
          <a:p>
            <a:pPr algn="l" marL="0" indent="0">
              <a:lnSpc>
                <a:spcPct val="110000"/>
              </a:lnSpc>
              <a:buNone/>
            </a:pPr>
            <a:r>
              <a:rPr lang="es-MX" sz="2500" b="0">
                <a:solidFill>
                  <a:srgbClr val="18213A"/>
                </a:solidFill>
                <a:latin typeface="Arial"/>
              </a:rPr>
              <a:t>Por qué tomamos una decisión</a:t>
            </a:r>
          </a:p>
          <a:p>
            <a:pPr algn="l" marL="0" indent="0">
              <a:lnSpc>
                <a:spcPct val="110000"/>
              </a:lnSpc>
              <a:buNone/>
            </a:pPr>
            <a:r>
              <a:rPr lang="es-MX" sz="2500" b="0">
                <a:solidFill>
                  <a:srgbClr val="18213A"/>
                </a:solidFill>
                <a:latin typeface="Arial"/>
              </a:rPr>
              <a:t>Qué comportamiento esperamos</a:t>
            </a:r>
          </a:p>
          <a:p>
            <a:pPr algn="l" marL="0" indent="0">
              <a:lnSpc>
                <a:spcPct val="110000"/>
              </a:lnSpc>
              <a:buNone/>
            </a:pPr>
            <a:r>
              <a:rPr lang="es-MX" sz="2500" b="0">
                <a:solidFill>
                  <a:srgbClr val="18213A"/>
                </a:solidFill>
                <a:latin typeface="Arial"/>
              </a:rPr>
              <a:t>Qué cambió y dónde impacta</a:t>
            </a:r>
          </a:p>
        </p:txBody>
      </p:sp>
      <p:sp>
        <p:nvSpPr>
          <p:cNvPr id="12" name="Texto"/>
          <p:cNvSpPr txBox="1"/>
          <p:nvPr/>
        </p:nvSpPr>
        <p:spPr>
          <a:xfrm>
            <a:off x="838200" y="5397500"/>
            <a:ext cx="5334000" cy="635000"/>
          </a:xfrm>
          <a:prstGeom prst="rect">
            <a:avLst/>
          </a:prstGeom>
          <a:noFill/>
          <a:ln>
            <a:noFill/>
          </a:ln>
        </p:spPr>
        <p:txBody>
          <a:bodyPr wrap="square" lIns="0" tIns="0" rIns="0" bIns="0" anchor="t">
            <a:noAutofit/>
          </a:bodyPr>
          <a:lstStyle/>
          <a:p>
            <a:pPr algn="l" marL="0" indent="0">
              <a:lnSpc>
                <a:spcPct val="110000"/>
              </a:lnSpc>
              <a:buNone/>
            </a:pPr>
            <a:r>
              <a:rPr lang="es-MX" sz="2200" b="1">
                <a:solidFill>
                  <a:srgbClr val="00AEEF"/>
                </a:solidFill>
                <a:latin typeface="Arial"/>
              </a:rPr>
              <a:t>Se actualiza junto con el código.</a:t>
            </a:r>
          </a:p>
        </p:txBody>
      </p:sp>
      <p:sp>
        <p:nvSpPr>
          <p:cNvPr id="13" name="Texto"/>
          <p:cNvSpPr txBox="1"/>
          <p:nvPr/>
        </p:nvSpPr>
        <p:spPr>
          <a:xfrm>
            <a:off x="6794500" y="1905000"/>
            <a:ext cx="4572000" cy="571500"/>
          </a:xfrm>
          <a:prstGeom prst="rect">
            <a:avLst/>
          </a:prstGeom>
          <a:noFill/>
          <a:ln>
            <a:noFill/>
          </a:ln>
        </p:spPr>
        <p:txBody>
          <a:bodyPr wrap="square" lIns="0" tIns="0" rIns="0" bIns="0" anchor="t">
            <a:noAutofit/>
          </a:bodyPr>
          <a:lstStyle/>
          <a:p>
            <a:pPr algn="l" marL="0" indent="0">
              <a:lnSpc>
                <a:spcPct val="110000"/>
              </a:lnSpc>
              <a:buNone/>
            </a:pPr>
            <a:r>
              <a:rPr lang="es-MX" sz="2500" b="1">
                <a:solidFill>
                  <a:srgbClr val="00AEEF"/>
                </a:solidFill>
                <a:latin typeface="Arial"/>
              </a:rPr>
              <a:t>Ejemplo de una decisión</a:t>
            </a:r>
          </a:p>
        </p:txBody>
      </p:sp>
      <p:sp>
        <p:nvSpPr>
          <p:cNvPr id="14" name="Texto"/>
          <p:cNvSpPr txBox="1"/>
          <p:nvPr/>
        </p:nvSpPr>
        <p:spPr>
          <a:xfrm>
            <a:off x="6794500" y="2667000"/>
            <a:ext cx="4318000" cy="3048000"/>
          </a:xfrm>
          <a:prstGeom prst="rect">
            <a:avLst/>
          </a:prstGeom>
          <a:noFill/>
          <a:ln>
            <a:noFill/>
          </a:ln>
        </p:spPr>
        <p:txBody>
          <a:bodyPr wrap="square" lIns="0" tIns="0" rIns="0" bIns="0" anchor="t">
            <a:noAutofit/>
          </a:bodyPr>
          <a:lstStyle/>
          <a:p>
            <a:pPr algn="l" marL="0" indent="0">
              <a:lnSpc>
                <a:spcPct val="110000"/>
              </a:lnSpc>
              <a:buNone/>
            </a:pPr>
            <a:r>
              <a:rPr lang="es-MX" sz="2200" b="0">
                <a:solidFill>
                  <a:srgbClr val="18213A"/>
                </a:solidFill>
                <a:latin typeface="Arial"/>
              </a:rPr>
              <a:t>Contexto</a:t>
            </a:r>
          </a:p>
          <a:p>
            <a:pPr algn="l" marL="0" indent="0">
              <a:lnSpc>
                <a:spcPct val="110000"/>
              </a:lnSpc>
              <a:buNone/>
            </a:pPr>
            <a:r>
              <a:rPr lang="es-MX" sz="2200" b="0">
                <a:solidFill>
                  <a:srgbClr val="18213A"/>
                </a:solidFill>
                <a:latin typeface="Arial"/>
              </a:rPr>
              <a:t>Un pago puede reenviarse.</a:t>
            </a:r>
          </a:p>
          <a:p>
            <a:pPr algn="l" marL="0" indent="0">
              <a:lnSpc>
                <a:spcPct val="110000"/>
              </a:lnSpc>
              <a:buNone/>
            </a:pPr>
            <a:r>
              <a:rPr lang="es-MX" sz="2200" b="0">
                <a:solidFill>
                  <a:srgbClr val="18213A"/>
                </a:solidFill>
                <a:latin typeface="Arial"/>
              </a:rPr>
              <a:t/>
            </a:r>
          </a:p>
          <a:p>
            <a:pPr algn="l" marL="0" indent="0">
              <a:lnSpc>
                <a:spcPct val="110000"/>
              </a:lnSpc>
              <a:buNone/>
            </a:pPr>
            <a:r>
              <a:rPr lang="es-MX" sz="2200" b="0">
                <a:solidFill>
                  <a:srgbClr val="18213A"/>
                </a:solidFill>
                <a:latin typeface="Arial"/>
              </a:rPr>
              <a:t>Decisión</a:t>
            </a:r>
          </a:p>
          <a:p>
            <a:pPr algn="l" marL="0" indent="0">
              <a:lnSpc>
                <a:spcPct val="110000"/>
              </a:lnSpc>
              <a:buNone/>
            </a:pPr>
            <a:r>
              <a:rPr lang="es-MX" sz="2200" b="0">
                <a:solidFill>
                  <a:srgbClr val="18213A"/>
                </a:solidFill>
                <a:latin typeface="Arial"/>
              </a:rPr>
              <a:t>Identificar cada operación.</a:t>
            </a:r>
          </a:p>
          <a:p>
            <a:pPr algn="l" marL="0" indent="0">
              <a:lnSpc>
                <a:spcPct val="110000"/>
              </a:lnSpc>
              <a:buNone/>
            </a:pPr>
            <a:r>
              <a:rPr lang="es-MX" sz="2200" b="0">
                <a:solidFill>
                  <a:srgbClr val="18213A"/>
                </a:solidFill>
                <a:latin typeface="Arial"/>
              </a:rPr>
              <a:t/>
            </a:r>
          </a:p>
          <a:p>
            <a:pPr algn="l" marL="0" indent="0">
              <a:lnSpc>
                <a:spcPct val="110000"/>
              </a:lnSpc>
              <a:buNone/>
            </a:pPr>
            <a:r>
              <a:rPr lang="es-MX" sz="2200" b="0">
                <a:solidFill>
                  <a:srgbClr val="18213A"/>
                </a:solidFill>
                <a:latin typeface="Arial"/>
              </a:rPr>
              <a:t>Motivo</a:t>
            </a:r>
          </a:p>
          <a:p>
            <a:pPr algn="l" marL="0" indent="0">
              <a:lnSpc>
                <a:spcPct val="110000"/>
              </a:lnSpc>
              <a:buNone/>
            </a:pPr>
            <a:r>
              <a:rPr lang="es-MX" sz="2200" b="0">
                <a:solidFill>
                  <a:srgbClr val="18213A"/>
                </a:solidFill>
                <a:latin typeface="Arial"/>
              </a:rPr>
              <a:t>Evitar cobros duplicados.</a:t>
            </a:r>
          </a:p>
        </p:txBody>
      </p:sp>
      <p:sp>
        <p:nvSpPr>
          <p:cNvPr id="500" name="Fuente y sección"/>
          <p:cNvSpPr txBox="1"/>
          <p:nvPr/>
        </p:nvSpPr>
        <p:spPr>
          <a:xfrm>
            <a:off x="838200" y="6553200"/>
            <a:ext cx="9271000" cy="228600"/>
          </a:xfrm>
          <a:prstGeom prst="rect">
            <a:avLst/>
          </a:prstGeom>
          <a:noFill/>
          <a:ln>
            <a:noFill/>
          </a:ln>
        </p:spPr>
        <p:txBody>
          <a:bodyPr wrap="square" lIns="0" tIns="0" rIns="0" bIns="0" anchor="t">
            <a:noAutofit/>
          </a:bodyPr>
          <a:lstStyle/>
          <a:p>
            <a:pPr algn="l" marL="0" indent="0">
              <a:lnSpc>
                <a:spcPct val="110000"/>
              </a:lnSpc>
              <a:buNone/>
            </a:pPr>
            <a:r>
              <a:rPr lang="es-MX" sz="1100" b="0">
                <a:solidFill>
                  <a:srgbClr val="FFFFFF"/>
                </a:solidFill>
                <a:latin typeface="Arial"/>
              </a:rPr>
              <a:t>Capítulos 2, 3 y 4</a:t>
            </a:r>
          </a:p>
        </p:txBody>
      </p:sp>
      <p:sp>
        <p:nvSpPr>
          <p:cNvPr id="501" name="Número de diapositiva"/>
          <p:cNvSpPr txBox="1"/>
          <p:nvPr/>
        </p:nvSpPr>
        <p:spPr>
          <a:xfrm>
            <a:off x="10795000" y="6540500"/>
            <a:ext cx="508000" cy="228600"/>
          </a:xfrm>
          <a:prstGeom prst="rect">
            <a:avLst/>
          </a:prstGeom>
          <a:noFill/>
          <a:ln>
            <a:noFill/>
          </a:ln>
        </p:spPr>
        <p:txBody>
          <a:bodyPr wrap="square" lIns="0" tIns="0" rIns="0" bIns="0" anchor="t">
            <a:noAutofit/>
          </a:bodyPr>
          <a:lstStyle/>
          <a:p>
            <a:pPr algn="r" marL="0" indent="0">
              <a:lnSpc>
                <a:spcPct val="110000"/>
              </a:lnSpc>
              <a:buNone/>
            </a:pPr>
            <a:r>
              <a:rPr lang="es-MX" sz="1100" b="0">
                <a:solidFill>
                  <a:srgbClr val="FFFFFF"/>
                </a:solidFill>
                <a:latin typeface="Arial"/>
              </a:rPr>
              <a:t>10</a:t>
            </a:r>
          </a:p>
        </p:txBody>
      </p:sp>
    </p:spTree>
    <p:extLst>
      <p:ext uri="{BB962C8B-B14F-4D97-AF65-F5344CB8AC3E}">
        <ns2:creationId val="3588295322"/>
      </p:ext>
    </p:extLst>
  </p:cSld>
  <p:clrMapOvr>
    <a:masterClrMapping/>
  </p:clrMapOvr>
</p:sld>
</file>

<file path=ppt/slides/slide11.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ítulo"/>
          <p:cNvSpPr txBox="1"/>
          <p:nvPr/>
        </p:nvSpPr>
        <p:spPr>
          <a:xfrm>
            <a:off x="838200" y="673100"/>
            <a:ext cx="10668000" cy="1016000"/>
          </a:xfrm>
          <a:prstGeom prst="rect">
            <a:avLst/>
          </a:prstGeom>
          <a:noFill/>
          <a:ln>
            <a:noFill/>
          </a:ln>
        </p:spPr>
        <p:txBody>
          <a:bodyPr wrap="square" lIns="0" tIns="0" rIns="0" bIns="0" anchor="t">
            <a:noAutofit/>
          </a:bodyPr>
          <a:lstStyle/>
          <a:p>
            <a:pPr algn="l" marL="0" indent="0">
              <a:lnSpc>
                <a:spcPct val="110000"/>
              </a:lnSpc>
              <a:buNone/>
            </a:pPr>
            <a:r>
              <a:rPr lang="es-MX" sz="3200" b="1">
                <a:solidFill>
                  <a:srgbClr val="25204E"/>
                </a:solidFill>
                <a:latin typeface="Arial"/>
              </a:rPr>
              <a:t>Modelar ayuda a conversar antes de construir</a:t>
            </a:r>
          </a:p>
        </p:txBody>
      </p:sp>
      <p:pic>
        <p:nvPicPr>
          <p:cNvPr id="10" name="07-009-001" descr="Imagen de referencia del libro o herramienta"/>
          <p:cNvPicPr>
            <a:picLocks noChangeAspect="1"/>
          </p:cNvPicPr>
          <p:nvPr/>
        </p:nvPicPr>
        <p:blipFill>
          <a:blip r:embed="rId10"/>
          <a:stretch>
            <a:fillRect/>
          </a:stretch>
        </p:blipFill>
        <p:spPr>
          <a:xfrm>
            <a:off x="1122213" y="2120900"/>
            <a:ext cx="6543974" cy="3683000"/>
          </a:xfrm>
          <a:prstGeom prst="rect">
            <a:avLst/>
          </a:prstGeom>
        </p:spPr>
      </p:pic>
      <p:sp>
        <p:nvSpPr>
          <p:cNvPr id="11" name="Texto"/>
          <p:cNvSpPr txBox="1"/>
          <p:nvPr/>
        </p:nvSpPr>
        <p:spPr>
          <a:xfrm>
            <a:off x="838200" y="5892800"/>
            <a:ext cx="7112000" cy="355600"/>
          </a:xfrm>
          <a:prstGeom prst="rect">
            <a:avLst/>
          </a:prstGeom>
          <a:noFill/>
          <a:ln>
            <a:noFill/>
          </a:ln>
        </p:spPr>
        <p:txBody>
          <a:bodyPr wrap="square" lIns="0" tIns="0" rIns="0" bIns="0" anchor="t">
            <a:noAutofit/>
          </a:bodyPr>
          <a:lstStyle/>
          <a:p>
            <a:pPr algn="l" marL="0" indent="0">
              <a:lnSpc>
                <a:spcPct val="110000"/>
              </a:lnSpc>
              <a:buNone/>
            </a:pPr>
            <a:r>
              <a:rPr lang="es-MX" sz="1200" b="0">
                <a:solidFill>
                  <a:srgbClr val="586276"/>
                </a:solidFill>
                <a:latin typeface="Arial"/>
              </a:rPr>
              <a:t>Figura 4-2. Diagrama de contexto del libro</a:t>
            </a:r>
          </a:p>
        </p:txBody>
      </p:sp>
      <p:sp>
        <p:nvSpPr>
          <p:cNvPr id="12" name="Texto"/>
          <p:cNvSpPr txBox="1"/>
          <p:nvPr/>
        </p:nvSpPr>
        <p:spPr>
          <a:xfrm>
            <a:off x="8382000" y="2159000"/>
            <a:ext cx="3175000" cy="1905000"/>
          </a:xfrm>
          <a:prstGeom prst="rect">
            <a:avLst/>
          </a:prstGeom>
          <a:noFill/>
          <a:ln>
            <a:noFill/>
          </a:ln>
        </p:spPr>
        <p:txBody>
          <a:bodyPr wrap="square" lIns="0" tIns="0" rIns="0" bIns="0" anchor="t">
            <a:noAutofit/>
          </a:bodyPr>
          <a:lstStyle/>
          <a:p>
            <a:pPr algn="l" marL="0" indent="0">
              <a:lnSpc>
                <a:spcPct val="110000"/>
              </a:lnSpc>
              <a:buNone/>
            </a:pPr>
            <a:r>
              <a:rPr lang="es-MX" sz="2900" b="1">
                <a:solidFill>
                  <a:srgbClr val="25204E"/>
                </a:solidFill>
                <a:latin typeface="Arial"/>
              </a:rPr>
              <a:t>¿Quién usa el sistema</a:t>
            </a:r>
          </a:p>
          <a:p>
            <a:pPr algn="l" marL="0" indent="0">
              <a:lnSpc>
                <a:spcPct val="110000"/>
              </a:lnSpc>
              <a:buNone/>
            </a:pPr>
            <a:r>
              <a:rPr lang="es-MX" sz="2900" b="1">
                <a:solidFill>
                  <a:srgbClr val="25204E"/>
                </a:solidFill>
                <a:latin typeface="Arial"/>
              </a:rPr>
              <a:t>y qué intercambia</a:t>
            </a:r>
          </a:p>
          <a:p>
            <a:pPr algn="l" marL="0" indent="0">
              <a:lnSpc>
                <a:spcPct val="110000"/>
              </a:lnSpc>
              <a:buNone/>
            </a:pPr>
            <a:r>
              <a:rPr lang="es-MX" sz="2900" b="1">
                <a:solidFill>
                  <a:srgbClr val="25204E"/>
                </a:solidFill>
                <a:latin typeface="Arial"/>
              </a:rPr>
              <a:t>con él?</a:t>
            </a:r>
          </a:p>
        </p:txBody>
      </p:sp>
      <p:sp>
        <p:nvSpPr>
          <p:cNvPr id="13" name="Texto"/>
          <p:cNvSpPr txBox="1"/>
          <p:nvPr/>
        </p:nvSpPr>
        <p:spPr>
          <a:xfrm>
            <a:off x="8382000" y="4419600"/>
            <a:ext cx="3175000" cy="1143000"/>
          </a:xfrm>
          <a:prstGeom prst="rect">
            <a:avLst/>
          </a:prstGeom>
          <a:noFill/>
          <a:ln>
            <a:noFill/>
          </a:ln>
        </p:spPr>
        <p:txBody>
          <a:bodyPr wrap="square" lIns="0" tIns="0" rIns="0" bIns="0" anchor="t">
            <a:noAutofit/>
          </a:bodyPr>
          <a:lstStyle/>
          <a:p>
            <a:pPr algn="l" marL="0" indent="0">
              <a:lnSpc>
                <a:spcPct val="110000"/>
              </a:lnSpc>
              <a:buNone/>
            </a:pPr>
            <a:r>
              <a:rPr lang="es-MX" sz="2300" b="0">
                <a:solidFill>
                  <a:srgbClr val="18213A"/>
                </a:solidFill>
                <a:latin typeface="Arial"/>
              </a:rPr>
              <a:t>El modelo hace visibles</a:t>
            </a:r>
          </a:p>
          <a:p>
            <a:pPr algn="l" marL="0" indent="0">
              <a:lnSpc>
                <a:spcPct val="110000"/>
              </a:lnSpc>
              <a:buNone/>
            </a:pPr>
            <a:r>
              <a:rPr lang="es-MX" sz="2300" b="0">
                <a:solidFill>
                  <a:srgbClr val="18213A"/>
                </a:solidFill>
                <a:latin typeface="Arial"/>
              </a:rPr>
              <a:t>los límites y los supuestos.</a:t>
            </a:r>
          </a:p>
        </p:txBody>
      </p:sp>
      <p:sp>
        <p:nvSpPr>
          <p:cNvPr id="500" name="Fuente y sección"/>
          <p:cNvSpPr txBox="1"/>
          <p:nvPr/>
        </p:nvSpPr>
        <p:spPr>
          <a:xfrm>
            <a:off x="838200" y="6553200"/>
            <a:ext cx="9271000" cy="228600"/>
          </a:xfrm>
          <a:prstGeom prst="rect">
            <a:avLst/>
          </a:prstGeom>
          <a:noFill/>
          <a:ln>
            <a:noFill/>
          </a:ln>
        </p:spPr>
        <p:txBody>
          <a:bodyPr wrap="square" lIns="0" tIns="0" rIns="0" bIns="0" anchor="t">
            <a:noAutofit/>
          </a:bodyPr>
          <a:lstStyle/>
          <a:p>
            <a:pPr algn="l" marL="0" indent="0">
              <a:lnSpc>
                <a:spcPct val="110000"/>
              </a:lnSpc>
              <a:buNone/>
            </a:pPr>
            <a:r>
              <a:rPr lang="es-MX" sz="1100" b="0">
                <a:solidFill>
                  <a:srgbClr val="FFFFFF"/>
                </a:solidFill>
                <a:latin typeface="Arial"/>
              </a:rPr>
              <a:t>Capítulo 4 / Modelado</a:t>
            </a:r>
          </a:p>
        </p:txBody>
      </p:sp>
      <p:sp>
        <p:nvSpPr>
          <p:cNvPr id="501" name="Número de diapositiva"/>
          <p:cNvSpPr txBox="1"/>
          <p:nvPr/>
        </p:nvSpPr>
        <p:spPr>
          <a:xfrm>
            <a:off x="10795000" y="6540500"/>
            <a:ext cx="508000" cy="228600"/>
          </a:xfrm>
          <a:prstGeom prst="rect">
            <a:avLst/>
          </a:prstGeom>
          <a:noFill/>
          <a:ln>
            <a:noFill/>
          </a:ln>
        </p:spPr>
        <p:txBody>
          <a:bodyPr wrap="square" lIns="0" tIns="0" rIns="0" bIns="0" anchor="t">
            <a:noAutofit/>
          </a:bodyPr>
          <a:lstStyle/>
          <a:p>
            <a:pPr algn="r" marL="0" indent="0">
              <a:lnSpc>
                <a:spcPct val="110000"/>
              </a:lnSpc>
              <a:buNone/>
            </a:pPr>
            <a:r>
              <a:rPr lang="es-MX" sz="1100" b="0">
                <a:solidFill>
                  <a:srgbClr val="FFFFFF"/>
                </a:solidFill>
                <a:latin typeface="Arial"/>
              </a:rPr>
              <a:t>11</a:t>
            </a:r>
          </a:p>
        </p:txBody>
      </p:sp>
    </p:spTree>
    <p:extLst>
      <p:ext uri="{BB962C8B-B14F-4D97-AF65-F5344CB8AC3E}">
        <ns3:creationId val="3588295322"/>
      </p:ext>
    </p:extLst>
  </p:cSld>
  <p:clrMapOvr>
    <a:masterClrMapping/>
  </p:clrMapOvr>
</p:sld>
</file>

<file path=ppt/slides/slide12.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ítulo"/>
          <p:cNvSpPr txBox="1"/>
          <p:nvPr/>
        </p:nvSpPr>
        <p:spPr>
          <a:xfrm>
            <a:off x="838200" y="673100"/>
            <a:ext cx="10668000" cy="1016000"/>
          </a:xfrm>
          <a:prstGeom prst="rect">
            <a:avLst/>
          </a:prstGeom>
          <a:noFill/>
          <a:ln>
            <a:noFill/>
          </a:ln>
        </p:spPr>
        <p:txBody>
          <a:bodyPr wrap="square" lIns="0" tIns="0" rIns="0" bIns="0" anchor="t">
            <a:noAutofit/>
          </a:bodyPr>
          <a:lstStyle/>
          <a:p>
            <a:pPr algn="l" marL="0" indent="0">
              <a:lnSpc>
                <a:spcPct val="110000"/>
              </a:lnSpc>
              <a:buNone/>
            </a:pPr>
            <a:r>
              <a:rPr lang="es-MX" sz="3200" b="1">
                <a:solidFill>
                  <a:srgbClr val="25204E"/>
                </a:solidFill>
                <a:latin typeface="Arial"/>
              </a:rPr>
              <a:t>Cada modelo responde una pregunta</a:t>
            </a:r>
          </a:p>
        </p:txBody>
      </p:sp>
      <p:sp>
        <p:nvSpPr>
          <p:cNvPr id="10" name="Texto"/>
          <p:cNvSpPr txBox="1"/>
          <p:nvPr/>
        </p:nvSpPr>
        <p:spPr>
          <a:xfrm>
            <a:off x="838200" y="1841500"/>
            <a:ext cx="4572000" cy="431800"/>
          </a:xfrm>
          <a:prstGeom prst="rect">
            <a:avLst/>
          </a:prstGeom>
          <a:noFill/>
          <a:ln>
            <a:noFill/>
          </a:ln>
        </p:spPr>
        <p:txBody>
          <a:bodyPr wrap="square" lIns="0" tIns="0" rIns="0" bIns="0" anchor="t">
            <a:noAutofit/>
          </a:bodyPr>
          <a:lstStyle/>
          <a:p>
            <a:pPr algn="l" marL="0" indent="0">
              <a:lnSpc>
                <a:spcPct val="110000"/>
              </a:lnSpc>
              <a:buNone/>
            </a:pPr>
            <a:r>
              <a:rPr lang="es-MX" sz="2500" b="1">
                <a:solidFill>
                  <a:srgbClr val="00AEEF"/>
                </a:solidFill>
                <a:latin typeface="Arial"/>
              </a:rPr>
              <a:t>Contexto</a:t>
            </a:r>
          </a:p>
        </p:txBody>
      </p:sp>
      <p:sp>
        <p:nvSpPr>
          <p:cNvPr id="11" name="Texto"/>
          <p:cNvSpPr txBox="1"/>
          <p:nvPr/>
        </p:nvSpPr>
        <p:spPr>
          <a:xfrm>
            <a:off x="838200" y="2273300"/>
            <a:ext cx="4572000" cy="914400"/>
          </a:xfrm>
          <a:prstGeom prst="rect">
            <a:avLst/>
          </a:prstGeom>
          <a:noFill/>
          <a:ln>
            <a:noFill/>
          </a:ln>
        </p:spPr>
        <p:txBody>
          <a:bodyPr wrap="square" lIns="0" tIns="0" rIns="0" bIns="0" anchor="t">
            <a:noAutofit/>
          </a:bodyPr>
          <a:lstStyle/>
          <a:p>
            <a:pPr algn="l" marL="0" indent="0">
              <a:lnSpc>
                <a:spcPct val="110000"/>
              </a:lnSpc>
              <a:buNone/>
            </a:pPr>
            <a:r>
              <a:rPr lang="es-MX" sz="2200" b="0">
                <a:solidFill>
                  <a:srgbClr val="18213A"/>
                </a:solidFill>
                <a:latin typeface="Arial"/>
              </a:rPr>
              <a:t>¿Quién se relaciona con el sistema?</a:t>
            </a:r>
          </a:p>
        </p:txBody>
      </p:sp>
      <p:sp>
        <p:nvSpPr>
          <p:cNvPr id="12" name="Texto"/>
          <p:cNvSpPr txBox="1"/>
          <p:nvPr/>
        </p:nvSpPr>
        <p:spPr>
          <a:xfrm>
            <a:off x="838200" y="3111500"/>
            <a:ext cx="4572000" cy="431800"/>
          </a:xfrm>
          <a:prstGeom prst="rect">
            <a:avLst/>
          </a:prstGeom>
          <a:noFill/>
          <a:ln>
            <a:noFill/>
          </a:ln>
        </p:spPr>
        <p:txBody>
          <a:bodyPr wrap="square" lIns="0" tIns="0" rIns="0" bIns="0" anchor="t">
            <a:noAutofit/>
          </a:bodyPr>
          <a:lstStyle/>
          <a:p>
            <a:pPr algn="l" marL="0" indent="0">
              <a:lnSpc>
                <a:spcPct val="110000"/>
              </a:lnSpc>
              <a:buNone/>
            </a:pPr>
            <a:r>
              <a:rPr lang="es-MX" sz="2500" b="1">
                <a:solidFill>
                  <a:srgbClr val="00AEEF"/>
                </a:solidFill>
                <a:latin typeface="Arial"/>
              </a:rPr>
              <a:t>Componentes</a:t>
            </a:r>
          </a:p>
        </p:txBody>
      </p:sp>
      <p:sp>
        <p:nvSpPr>
          <p:cNvPr id="13" name="Texto"/>
          <p:cNvSpPr txBox="1"/>
          <p:nvPr/>
        </p:nvSpPr>
        <p:spPr>
          <a:xfrm>
            <a:off x="838200" y="3543300"/>
            <a:ext cx="4572000" cy="914400"/>
          </a:xfrm>
          <a:prstGeom prst="rect">
            <a:avLst/>
          </a:prstGeom>
          <a:noFill/>
          <a:ln>
            <a:noFill/>
          </a:ln>
        </p:spPr>
        <p:txBody>
          <a:bodyPr wrap="square" lIns="0" tIns="0" rIns="0" bIns="0" anchor="t">
            <a:noAutofit/>
          </a:bodyPr>
          <a:lstStyle/>
          <a:p>
            <a:pPr algn="l" marL="0" indent="0">
              <a:lnSpc>
                <a:spcPct val="110000"/>
              </a:lnSpc>
              <a:buNone/>
            </a:pPr>
            <a:r>
              <a:rPr lang="es-MX" sz="2200" b="0">
                <a:solidFill>
                  <a:srgbClr val="18213A"/>
                </a:solidFill>
                <a:latin typeface="Arial"/>
              </a:rPr>
              <a:t>¿Cómo se reparten las responsabilidades?</a:t>
            </a:r>
          </a:p>
        </p:txBody>
      </p:sp>
      <p:sp>
        <p:nvSpPr>
          <p:cNvPr id="14" name="Texto"/>
          <p:cNvSpPr txBox="1"/>
          <p:nvPr/>
        </p:nvSpPr>
        <p:spPr>
          <a:xfrm>
            <a:off x="838200" y="4381500"/>
            <a:ext cx="4572000" cy="431800"/>
          </a:xfrm>
          <a:prstGeom prst="rect">
            <a:avLst/>
          </a:prstGeom>
          <a:noFill/>
          <a:ln>
            <a:noFill/>
          </a:ln>
        </p:spPr>
        <p:txBody>
          <a:bodyPr wrap="square" lIns="0" tIns="0" rIns="0" bIns="0" anchor="t">
            <a:noAutofit/>
          </a:bodyPr>
          <a:lstStyle/>
          <a:p>
            <a:pPr algn="l" marL="0" indent="0">
              <a:lnSpc>
                <a:spcPct val="110000"/>
              </a:lnSpc>
              <a:buNone/>
            </a:pPr>
            <a:r>
              <a:rPr lang="es-MX" sz="2500" b="1">
                <a:solidFill>
                  <a:srgbClr val="00AEEF"/>
                </a:solidFill>
                <a:latin typeface="Arial"/>
              </a:rPr>
              <a:t>Secuencia</a:t>
            </a:r>
          </a:p>
        </p:txBody>
      </p:sp>
      <p:sp>
        <p:nvSpPr>
          <p:cNvPr id="15" name="Texto"/>
          <p:cNvSpPr txBox="1"/>
          <p:nvPr/>
        </p:nvSpPr>
        <p:spPr>
          <a:xfrm>
            <a:off x="838200" y="4813300"/>
            <a:ext cx="4572000" cy="914400"/>
          </a:xfrm>
          <a:prstGeom prst="rect">
            <a:avLst/>
          </a:prstGeom>
          <a:noFill/>
          <a:ln>
            <a:noFill/>
          </a:ln>
        </p:spPr>
        <p:txBody>
          <a:bodyPr wrap="square" lIns="0" tIns="0" rIns="0" bIns="0" anchor="t">
            <a:noAutofit/>
          </a:bodyPr>
          <a:lstStyle/>
          <a:p>
            <a:pPr algn="l" marL="0" indent="0">
              <a:lnSpc>
                <a:spcPct val="110000"/>
              </a:lnSpc>
              <a:buNone/>
            </a:pPr>
            <a:r>
              <a:rPr lang="es-MX" sz="2200" b="0">
                <a:solidFill>
                  <a:srgbClr val="18213A"/>
                </a:solidFill>
                <a:latin typeface="Arial"/>
              </a:rPr>
              <a:t>¿En qué orden colaboran las partes?</a:t>
            </a:r>
          </a:p>
        </p:txBody>
      </p:sp>
      <p:pic>
        <p:nvPicPr>
          <p:cNvPr id="16" name="07-014-004" descr="Imagen de referencia del libro o herramienta"/>
          <p:cNvPicPr>
            <a:picLocks noChangeAspect="1"/>
          </p:cNvPicPr>
          <p:nvPr/>
        </p:nvPicPr>
        <p:blipFill>
          <a:blip r:embed="rId16"/>
          <a:stretch>
            <a:fillRect/>
          </a:stretch>
        </p:blipFill>
        <p:spPr>
          <a:xfrm>
            <a:off x="6192715" y="1739900"/>
            <a:ext cx="4759569" cy="3810000"/>
          </a:xfrm>
          <a:prstGeom prst="rect">
            <a:avLst/>
          </a:prstGeom>
        </p:spPr>
      </p:pic>
      <p:sp>
        <p:nvSpPr>
          <p:cNvPr id="17" name="Texto"/>
          <p:cNvSpPr txBox="1"/>
          <p:nvPr/>
        </p:nvSpPr>
        <p:spPr>
          <a:xfrm>
            <a:off x="5969000" y="5638800"/>
            <a:ext cx="5207000" cy="355600"/>
          </a:xfrm>
          <a:prstGeom prst="rect">
            <a:avLst/>
          </a:prstGeom>
          <a:noFill/>
          <a:ln>
            <a:noFill/>
          </a:ln>
        </p:spPr>
        <p:txBody>
          <a:bodyPr wrap="square" lIns="0" tIns="0" rIns="0" bIns="0" anchor="t">
            <a:noAutofit/>
          </a:bodyPr>
          <a:lstStyle/>
          <a:p>
            <a:pPr algn="l" marL="0" indent="0">
              <a:lnSpc>
                <a:spcPct val="110000"/>
              </a:lnSpc>
              <a:buNone/>
            </a:pPr>
            <a:r>
              <a:rPr lang="es-MX" sz="1200" b="0">
                <a:solidFill>
                  <a:srgbClr val="586276"/>
                </a:solidFill>
                <a:latin typeface="Arial"/>
              </a:rPr>
              <a:t>Figura 4-5. Ejemplo de diagrama de secuencia</a:t>
            </a:r>
          </a:p>
        </p:txBody>
      </p:sp>
      <p:sp>
        <p:nvSpPr>
          <p:cNvPr id="500" name="Fuente y sección"/>
          <p:cNvSpPr txBox="1"/>
          <p:nvPr/>
        </p:nvSpPr>
        <p:spPr>
          <a:xfrm>
            <a:off x="838200" y="6553200"/>
            <a:ext cx="9271000" cy="228600"/>
          </a:xfrm>
          <a:prstGeom prst="rect">
            <a:avLst/>
          </a:prstGeom>
          <a:noFill/>
          <a:ln>
            <a:noFill/>
          </a:ln>
        </p:spPr>
        <p:txBody>
          <a:bodyPr wrap="square" lIns="0" tIns="0" rIns="0" bIns="0" anchor="t">
            <a:noAutofit/>
          </a:bodyPr>
          <a:lstStyle/>
          <a:p>
            <a:pPr algn="l" marL="0" indent="0">
              <a:lnSpc>
                <a:spcPct val="110000"/>
              </a:lnSpc>
              <a:buNone/>
            </a:pPr>
            <a:r>
              <a:rPr lang="es-MX" sz="1100" b="0">
                <a:solidFill>
                  <a:srgbClr val="FFFFFF"/>
                </a:solidFill>
                <a:latin typeface="Arial"/>
              </a:rPr>
              <a:t>Capítulo 4 / Modelado</a:t>
            </a:r>
          </a:p>
        </p:txBody>
      </p:sp>
      <p:sp>
        <p:nvSpPr>
          <p:cNvPr id="501" name="Número de diapositiva"/>
          <p:cNvSpPr txBox="1"/>
          <p:nvPr/>
        </p:nvSpPr>
        <p:spPr>
          <a:xfrm>
            <a:off x="10795000" y="6540500"/>
            <a:ext cx="508000" cy="228600"/>
          </a:xfrm>
          <a:prstGeom prst="rect">
            <a:avLst/>
          </a:prstGeom>
          <a:noFill/>
          <a:ln>
            <a:noFill/>
          </a:ln>
        </p:spPr>
        <p:txBody>
          <a:bodyPr wrap="square" lIns="0" tIns="0" rIns="0" bIns="0" anchor="t">
            <a:noAutofit/>
          </a:bodyPr>
          <a:lstStyle/>
          <a:p>
            <a:pPr algn="r" marL="0" indent="0">
              <a:lnSpc>
                <a:spcPct val="110000"/>
              </a:lnSpc>
              <a:buNone/>
            </a:pPr>
            <a:r>
              <a:rPr lang="es-MX" sz="1100" b="0">
                <a:solidFill>
                  <a:srgbClr val="FFFFFF"/>
                </a:solidFill>
                <a:latin typeface="Arial"/>
              </a:rPr>
              <a:t>12</a:t>
            </a:r>
          </a:p>
        </p:txBody>
      </p:sp>
    </p:spTree>
    <p:extLst>
      <p:ext uri="{BB962C8B-B14F-4D97-AF65-F5344CB8AC3E}">
        <ns3:creationId val="3588295322"/>
      </p:ext>
    </p:extLst>
  </p:cSld>
  <p:clrMapOvr>
    <a:masterClrMapping/>
  </p:clrMapOvr>
</p:sld>
</file>

<file path=ppt/slides/slide13.xml><?xml version="1.0" encoding="utf-8"?>
<p:sld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Título"/>
          <p:cNvSpPr txBox="1"/>
          <p:nvPr/>
        </p:nvSpPr>
        <p:spPr>
          <a:xfrm>
            <a:off x="838200" y="673100"/>
            <a:ext cx="10668000" cy="1016000"/>
          </a:xfrm>
          <a:prstGeom prst="rect">
            <a:avLst/>
          </a:prstGeom>
          <a:noFill/>
          <a:ln>
            <a:noFill/>
          </a:ln>
        </p:spPr>
        <p:txBody>
          <a:bodyPr wrap="square" lIns="0" tIns="0" rIns="0" bIns="0" anchor="t">
            <a:noAutofit/>
          </a:bodyPr>
          <a:lstStyle/>
          <a:p>
            <a:pPr algn="l" marL="0" indent="0">
              <a:lnSpc>
                <a:spcPct val="110000"/>
              </a:lnSpc>
              <a:buNone/>
            </a:pPr>
            <a:r>
              <a:rPr lang="es-MX" sz="3200" b="1">
                <a:solidFill>
                  <a:srgbClr val="25204E"/>
                </a:solidFill>
                <a:latin typeface="Arial"/>
              </a:rPr>
              <a:t>La sencillez depende del público</a:t>
            </a:r>
          </a:p>
        </p:txBody>
      </p:sp>
      <p:sp>
        <p:nvSpPr>
          <p:cNvPr id="10" name="Texto"/>
          <p:cNvSpPr txBox="1"/>
          <p:nvPr/>
        </p:nvSpPr>
        <p:spPr>
          <a:xfrm>
            <a:off x="838200" y="1841500"/>
            <a:ext cx="10414000" cy="1270000"/>
          </a:xfrm>
          <a:prstGeom prst="rect">
            <a:avLst/>
          </a:prstGeom>
          <a:noFill/>
          <a:ln>
            <a:noFill/>
          </a:ln>
        </p:spPr>
        <p:txBody>
          <a:bodyPr wrap="square" lIns="0" tIns="0" rIns="0" bIns="0" anchor="t">
            <a:noAutofit/>
          </a:bodyPr>
          <a:lstStyle/>
          <a:p>
            <a:pPr algn="l" marL="0" indent="0">
              <a:lnSpc>
                <a:spcPct val="110000"/>
              </a:lnSpc>
              <a:buNone/>
            </a:pPr>
            <a:r>
              <a:rPr lang="es-MX" sz="3600" b="1">
                <a:solidFill>
                  <a:srgbClr val="25204E"/>
                </a:solidFill>
                <a:latin typeface="Arial"/>
              </a:rPr>
              <a:t>Un modelo es útil cuando su audiencia</a:t>
            </a:r>
          </a:p>
          <a:p>
            <a:pPr algn="l" marL="0" indent="0">
              <a:lnSpc>
                <a:spcPct val="110000"/>
              </a:lnSpc>
              <a:buNone/>
            </a:pPr>
            <a:r>
              <a:rPr lang="es-MX" sz="3600" b="1">
                <a:solidFill>
                  <a:srgbClr val="25204E"/>
                </a:solidFill>
                <a:latin typeface="Arial"/>
              </a:rPr>
              <a:t>puede explicar lo importante.</a:t>
            </a:r>
          </a:p>
        </p:txBody>
      </p:sp>
      <p:sp>
        <p:nvSpPr>
          <p:cNvPr id="11" name="Texto"/>
          <p:cNvSpPr txBox="1"/>
          <p:nvPr/>
        </p:nvSpPr>
        <p:spPr>
          <a:xfrm>
            <a:off x="838200" y="3759200"/>
            <a:ext cx="4953000" cy="571500"/>
          </a:xfrm>
          <a:prstGeom prst="rect">
            <a:avLst/>
          </a:prstGeom>
          <a:noFill/>
          <a:ln>
            <a:noFill/>
          </a:ln>
        </p:spPr>
        <p:txBody>
          <a:bodyPr wrap="square" lIns="0" tIns="0" rIns="0" bIns="0" anchor="t">
            <a:noAutofit/>
          </a:bodyPr>
          <a:lstStyle/>
          <a:p>
            <a:pPr algn="l" marL="0" indent="0">
              <a:lnSpc>
                <a:spcPct val="110000"/>
              </a:lnSpc>
              <a:buNone/>
            </a:pPr>
            <a:r>
              <a:rPr lang="es-MX" sz="2500" b="1">
                <a:solidFill>
                  <a:srgbClr val="00AEEF"/>
                </a:solidFill>
                <a:latin typeface="Arial"/>
              </a:rPr>
              <a:t>Para conversar con negocio</a:t>
            </a:r>
          </a:p>
        </p:txBody>
      </p:sp>
      <p:sp>
        <p:nvSpPr>
          <p:cNvPr id="12" name="Texto"/>
          <p:cNvSpPr txBox="1"/>
          <p:nvPr/>
        </p:nvSpPr>
        <p:spPr>
          <a:xfrm>
            <a:off x="838200" y="4495800"/>
            <a:ext cx="4953000" cy="1270000"/>
          </a:xfrm>
          <a:prstGeom prst="rect">
            <a:avLst/>
          </a:prstGeom>
          <a:noFill/>
          <a:ln>
            <a:noFill/>
          </a:ln>
        </p:spPr>
        <p:txBody>
          <a:bodyPr wrap="square" lIns="0" tIns="0" rIns="0" bIns="0" anchor="t">
            <a:noAutofit/>
          </a:bodyPr>
          <a:lstStyle/>
          <a:p>
            <a:pPr algn="l" marL="0" indent="0">
              <a:lnSpc>
                <a:spcPct val="110000"/>
              </a:lnSpc>
              <a:buNone/>
            </a:pPr>
            <a:r>
              <a:rPr lang="es-MX" sz="2500" b="0">
                <a:solidFill>
                  <a:srgbClr val="18213A"/>
                </a:solidFill>
                <a:latin typeface="Arial"/>
              </a:rPr>
              <a:t>Actores, objetivos y límites.</a:t>
            </a:r>
          </a:p>
          <a:p>
            <a:pPr algn="l" marL="0" indent="0">
              <a:lnSpc>
                <a:spcPct val="110000"/>
              </a:lnSpc>
              <a:buNone/>
            </a:pPr>
            <a:r>
              <a:rPr lang="es-MX" sz="2500" b="0">
                <a:solidFill>
                  <a:srgbClr val="18213A"/>
                </a:solidFill>
                <a:latin typeface="Arial"/>
              </a:rPr>
              <a:t>Vocabulario del problema.</a:t>
            </a:r>
          </a:p>
        </p:txBody>
      </p:sp>
      <p:sp>
        <p:nvSpPr>
          <p:cNvPr id="13" name="Texto"/>
          <p:cNvSpPr txBox="1"/>
          <p:nvPr/>
        </p:nvSpPr>
        <p:spPr>
          <a:xfrm>
            <a:off x="6350000" y="3759200"/>
            <a:ext cx="5080000" cy="571500"/>
          </a:xfrm>
          <a:prstGeom prst="rect">
            <a:avLst/>
          </a:prstGeom>
          <a:noFill/>
          <a:ln>
            <a:noFill/>
          </a:ln>
        </p:spPr>
        <p:txBody>
          <a:bodyPr wrap="square" lIns="0" tIns="0" rIns="0" bIns="0" anchor="t">
            <a:noAutofit/>
          </a:bodyPr>
          <a:lstStyle/>
          <a:p>
            <a:pPr algn="l" marL="0" indent="0">
              <a:lnSpc>
                <a:spcPct val="110000"/>
              </a:lnSpc>
              <a:buNone/>
            </a:pPr>
            <a:r>
              <a:rPr lang="es-MX" sz="2500" b="1">
                <a:solidFill>
                  <a:srgbClr val="00AEEF"/>
                </a:solidFill>
                <a:latin typeface="Arial"/>
              </a:rPr>
              <a:t>Para conversar con el equipo</a:t>
            </a:r>
          </a:p>
        </p:txBody>
      </p:sp>
      <p:sp>
        <p:nvSpPr>
          <p:cNvPr id="14" name="Texto"/>
          <p:cNvSpPr txBox="1"/>
          <p:nvPr/>
        </p:nvSpPr>
        <p:spPr>
          <a:xfrm>
            <a:off x="6350000" y="4495800"/>
            <a:ext cx="5080000" cy="1270000"/>
          </a:xfrm>
          <a:prstGeom prst="rect">
            <a:avLst/>
          </a:prstGeom>
          <a:noFill/>
          <a:ln>
            <a:noFill/>
          </a:ln>
        </p:spPr>
        <p:txBody>
          <a:bodyPr wrap="square" lIns="0" tIns="0" rIns="0" bIns="0" anchor="t">
            <a:noAutofit/>
          </a:bodyPr>
          <a:lstStyle/>
          <a:p>
            <a:pPr algn="l" marL="0" indent="0">
              <a:lnSpc>
                <a:spcPct val="110000"/>
              </a:lnSpc>
              <a:buNone/>
            </a:pPr>
            <a:r>
              <a:rPr lang="es-MX" sz="2500" b="0">
                <a:solidFill>
                  <a:srgbClr val="18213A"/>
                </a:solidFill>
                <a:latin typeface="Arial"/>
              </a:rPr>
              <a:t>Responsabilidades e interacciones.</a:t>
            </a:r>
          </a:p>
          <a:p>
            <a:pPr algn="l" marL="0" indent="0">
              <a:lnSpc>
                <a:spcPct val="110000"/>
              </a:lnSpc>
              <a:buNone/>
            </a:pPr>
            <a:r>
              <a:rPr lang="es-MX" sz="2500" b="0">
                <a:solidFill>
                  <a:srgbClr val="18213A"/>
                </a:solidFill>
                <a:latin typeface="Arial"/>
              </a:rPr>
              <a:t>Detalle técnico suficiente.</a:t>
            </a:r>
          </a:p>
        </p:txBody>
      </p:sp>
      <p:sp>
        <p:nvSpPr>
          <p:cNvPr id="500" name="Fuente y sección"/>
          <p:cNvSpPr txBox="1"/>
          <p:nvPr/>
        </p:nvSpPr>
        <p:spPr>
          <a:xfrm>
            <a:off x="838200" y="6553200"/>
            <a:ext cx="9271000" cy="228600"/>
          </a:xfrm>
          <a:prstGeom prst="rect">
            <a:avLst/>
          </a:prstGeom>
          <a:noFill/>
          <a:ln>
            <a:noFill/>
          </a:ln>
        </p:spPr>
        <p:txBody>
          <a:bodyPr wrap="square" lIns="0" tIns="0" rIns="0" bIns="0" anchor="t">
            <a:noAutofit/>
          </a:bodyPr>
          <a:lstStyle/>
          <a:p>
            <a:pPr algn="l" marL="0" indent="0">
              <a:lnSpc>
                <a:spcPct val="110000"/>
              </a:lnSpc>
              <a:buNone/>
            </a:pPr>
            <a:r>
              <a:rPr lang="es-MX" sz="1100" b="0">
                <a:solidFill>
                  <a:srgbClr val="FFFFFF"/>
                </a:solidFill>
                <a:latin typeface="Arial"/>
              </a:rPr>
              <a:t>Capítulo 4 / Buenas prácticas de modelado</a:t>
            </a:r>
          </a:p>
        </p:txBody>
      </p:sp>
      <p:sp>
        <p:nvSpPr>
          <p:cNvPr id="501" name="Número de diapositiva"/>
          <p:cNvSpPr txBox="1"/>
          <p:nvPr/>
        </p:nvSpPr>
        <p:spPr>
          <a:xfrm>
            <a:off x="10795000" y="6540500"/>
            <a:ext cx="508000" cy="228600"/>
          </a:xfrm>
          <a:prstGeom prst="rect">
            <a:avLst/>
          </a:prstGeom>
          <a:noFill/>
          <a:ln>
            <a:noFill/>
          </a:ln>
        </p:spPr>
        <p:txBody>
          <a:bodyPr wrap="square" lIns="0" tIns="0" rIns="0" bIns="0" anchor="t">
            <a:noAutofit/>
          </a:bodyPr>
          <a:lstStyle/>
          <a:p>
            <a:pPr algn="r" marL="0" indent="0">
              <a:lnSpc>
                <a:spcPct val="110000"/>
              </a:lnSpc>
              <a:buNone/>
            </a:pPr>
            <a:r>
              <a:rPr lang="es-MX" sz="1100" b="0">
                <a:solidFill>
                  <a:srgbClr val="FFFFFF"/>
                </a:solidFill>
                <a:latin typeface="Arial"/>
              </a:rPr>
              <a:t>13</a:t>
            </a:r>
          </a:p>
        </p:txBody>
      </p:sp>
    </p:spTree>
    <p:extLst>
      <p:ext uri="{BB962C8B-B14F-4D97-AF65-F5344CB8AC3E}">
        <ns2:creationId val="3588295322"/>
      </p:ext>
    </p:extLst>
  </p:cSld>
  <p:clrMapOvr>
    <a:masterClrMapping/>
  </p:clrMapOvr>
</p:sld>
</file>

<file path=ppt/slides/slide14.xml><?xml version="1.0" encoding="utf-8"?>
<p:sld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Título"/>
          <p:cNvSpPr txBox="1"/>
          <p:nvPr/>
        </p:nvSpPr>
        <p:spPr>
          <a:xfrm>
            <a:off x="838200" y="673100"/>
            <a:ext cx="10668000" cy="1016000"/>
          </a:xfrm>
          <a:prstGeom prst="rect">
            <a:avLst/>
          </a:prstGeom>
          <a:noFill/>
          <a:ln>
            <a:noFill/>
          </a:ln>
        </p:spPr>
        <p:txBody>
          <a:bodyPr wrap="square" lIns="0" tIns="0" rIns="0" bIns="0" anchor="t">
            <a:noAutofit/>
          </a:bodyPr>
          <a:lstStyle/>
          <a:p>
            <a:pPr algn="l" marL="0" indent="0">
              <a:lnSpc>
                <a:spcPct val="110000"/>
              </a:lnSpc>
              <a:buNone/>
            </a:pPr>
            <a:r>
              <a:rPr lang="es-MX" sz="3200" b="1">
                <a:solidFill>
                  <a:srgbClr val="25204E"/>
                </a:solidFill>
                <a:latin typeface="Arial"/>
              </a:rPr>
              <a:t>Las pruebas me dan confianza para cambiar</a:t>
            </a:r>
          </a:p>
        </p:txBody>
      </p:sp>
      <p:sp>
        <p:nvSpPr>
          <p:cNvPr id="10" name="Texto"/>
          <p:cNvSpPr txBox="1"/>
          <p:nvPr/>
        </p:nvSpPr>
        <p:spPr>
          <a:xfrm>
            <a:off x="838200" y="1841500"/>
            <a:ext cx="10414000" cy="1397000"/>
          </a:xfrm>
          <a:prstGeom prst="rect">
            <a:avLst/>
          </a:prstGeom>
          <a:noFill/>
          <a:ln>
            <a:noFill/>
          </a:ln>
        </p:spPr>
        <p:txBody>
          <a:bodyPr wrap="square" lIns="0" tIns="0" rIns="0" bIns="0" anchor="t">
            <a:noAutofit/>
          </a:bodyPr>
          <a:lstStyle/>
          <a:p>
            <a:pPr algn="l" marL="0" indent="0">
              <a:lnSpc>
                <a:spcPct val="110000"/>
              </a:lnSpc>
              <a:buNone/>
            </a:pPr>
            <a:r>
              <a:rPr lang="es-MX" sz="3500" b="1">
                <a:solidFill>
                  <a:srgbClr val="25204E"/>
                </a:solidFill>
                <a:latin typeface="Arial"/>
              </a:rPr>
              <a:t>Puedo refactorizar con más confianza</a:t>
            </a:r>
          </a:p>
          <a:p>
            <a:pPr algn="l" marL="0" indent="0">
              <a:lnSpc>
                <a:spcPct val="110000"/>
              </a:lnSpc>
              <a:buNone/>
            </a:pPr>
            <a:r>
              <a:rPr lang="es-MX" sz="3500" b="1">
                <a:solidFill>
                  <a:srgbClr val="25204E"/>
                </a:solidFill>
                <a:latin typeface="Arial"/>
              </a:rPr>
              <a:t>cuando tengo evidencia del comportamiento.</a:t>
            </a:r>
          </a:p>
        </p:txBody>
      </p:sp>
      <p:sp>
        <p:nvSpPr>
          <p:cNvPr id="11" name="Texto"/>
          <p:cNvSpPr txBox="1"/>
          <p:nvPr/>
        </p:nvSpPr>
        <p:spPr>
          <a:xfrm>
            <a:off x="838200" y="3810000"/>
            <a:ext cx="2667000" cy="736600"/>
          </a:xfrm>
          <a:prstGeom prst="rect">
            <a:avLst/>
          </a:prstGeom>
          <a:noFill/>
          <a:ln>
            <a:noFill/>
          </a:ln>
        </p:spPr>
        <p:txBody>
          <a:bodyPr wrap="square" lIns="0" tIns="0" rIns="0" bIns="0" anchor="t">
            <a:noAutofit/>
          </a:bodyPr>
          <a:lstStyle/>
          <a:p>
            <a:pPr algn="l" marL="0" indent="0">
              <a:lnSpc>
                <a:spcPct val="110000"/>
              </a:lnSpc>
              <a:buNone/>
            </a:pPr>
            <a:r>
              <a:rPr lang="es-MX" sz="4400" b="1">
                <a:solidFill>
                  <a:srgbClr val="00AEEF"/>
                </a:solidFill>
                <a:latin typeface="Arial"/>
              </a:rPr>
              <a:t>01</a:t>
            </a:r>
          </a:p>
        </p:txBody>
      </p:sp>
      <p:sp>
        <p:nvSpPr>
          <p:cNvPr id="12" name="Texto"/>
          <p:cNvSpPr txBox="1"/>
          <p:nvPr/>
        </p:nvSpPr>
        <p:spPr>
          <a:xfrm>
            <a:off x="838200" y="4686300"/>
            <a:ext cx="3175000" cy="444500"/>
          </a:xfrm>
          <a:prstGeom prst="rect">
            <a:avLst/>
          </a:prstGeom>
          <a:noFill/>
          <a:ln>
            <a:noFill/>
          </a:ln>
        </p:spPr>
        <p:txBody>
          <a:bodyPr wrap="square" lIns="0" tIns="0" rIns="0" bIns="0" anchor="t">
            <a:noAutofit/>
          </a:bodyPr>
          <a:lstStyle/>
          <a:p>
            <a:pPr algn="l" marL="0" indent="0">
              <a:lnSpc>
                <a:spcPct val="110000"/>
              </a:lnSpc>
              <a:buNone/>
            </a:pPr>
            <a:r>
              <a:rPr lang="es-MX" sz="2600" b="1">
                <a:solidFill>
                  <a:srgbClr val="25204E"/>
                </a:solidFill>
                <a:latin typeface="Arial"/>
              </a:rPr>
              <a:t>Antes</a:t>
            </a:r>
          </a:p>
        </p:txBody>
      </p:sp>
      <p:sp>
        <p:nvSpPr>
          <p:cNvPr id="13" name="Texto"/>
          <p:cNvSpPr txBox="1"/>
          <p:nvPr/>
        </p:nvSpPr>
        <p:spPr>
          <a:xfrm>
            <a:off x="838200" y="5245100"/>
            <a:ext cx="3175000" cy="698500"/>
          </a:xfrm>
          <a:prstGeom prst="rect">
            <a:avLst/>
          </a:prstGeom>
          <a:noFill/>
          <a:ln>
            <a:noFill/>
          </a:ln>
        </p:spPr>
        <p:txBody>
          <a:bodyPr wrap="square" lIns="0" tIns="0" rIns="0" bIns="0" anchor="t">
            <a:noAutofit/>
          </a:bodyPr>
          <a:lstStyle/>
          <a:p>
            <a:pPr algn="l" marL="0" indent="0">
              <a:lnSpc>
                <a:spcPct val="110000"/>
              </a:lnSpc>
              <a:buNone/>
            </a:pPr>
            <a:r>
              <a:rPr lang="es-MX" sz="2200" b="0">
                <a:solidFill>
                  <a:srgbClr val="18213A"/>
                </a:solidFill>
                <a:latin typeface="Arial"/>
              </a:rPr>
              <a:t>Comprobar el estado actual.</a:t>
            </a:r>
          </a:p>
        </p:txBody>
      </p:sp>
      <p:sp>
        <p:nvSpPr>
          <p:cNvPr id="14" name="Texto"/>
          <p:cNvSpPr txBox="1"/>
          <p:nvPr/>
        </p:nvSpPr>
        <p:spPr>
          <a:xfrm>
            <a:off x="4572000" y="3810000"/>
            <a:ext cx="2667000" cy="736600"/>
          </a:xfrm>
          <a:prstGeom prst="rect">
            <a:avLst/>
          </a:prstGeom>
          <a:noFill/>
          <a:ln>
            <a:noFill/>
          </a:ln>
        </p:spPr>
        <p:txBody>
          <a:bodyPr wrap="square" lIns="0" tIns="0" rIns="0" bIns="0" anchor="t">
            <a:noAutofit/>
          </a:bodyPr>
          <a:lstStyle/>
          <a:p>
            <a:pPr algn="l" marL="0" indent="0">
              <a:lnSpc>
                <a:spcPct val="110000"/>
              </a:lnSpc>
              <a:buNone/>
            </a:pPr>
            <a:r>
              <a:rPr lang="es-MX" sz="4400" b="1">
                <a:solidFill>
                  <a:srgbClr val="00AEEF"/>
                </a:solidFill>
                <a:latin typeface="Arial"/>
              </a:rPr>
              <a:t>02</a:t>
            </a:r>
          </a:p>
        </p:txBody>
      </p:sp>
      <p:sp>
        <p:nvSpPr>
          <p:cNvPr id="15" name="Texto"/>
          <p:cNvSpPr txBox="1"/>
          <p:nvPr/>
        </p:nvSpPr>
        <p:spPr>
          <a:xfrm>
            <a:off x="4572000" y="4686300"/>
            <a:ext cx="3175000" cy="444500"/>
          </a:xfrm>
          <a:prstGeom prst="rect">
            <a:avLst/>
          </a:prstGeom>
          <a:noFill/>
          <a:ln>
            <a:noFill/>
          </a:ln>
        </p:spPr>
        <p:txBody>
          <a:bodyPr wrap="square" lIns="0" tIns="0" rIns="0" bIns="0" anchor="t">
            <a:noAutofit/>
          </a:bodyPr>
          <a:lstStyle/>
          <a:p>
            <a:pPr algn="l" marL="0" indent="0">
              <a:lnSpc>
                <a:spcPct val="110000"/>
              </a:lnSpc>
              <a:buNone/>
            </a:pPr>
            <a:r>
              <a:rPr lang="es-MX" sz="2600" b="1">
                <a:solidFill>
                  <a:srgbClr val="25204E"/>
                </a:solidFill>
                <a:latin typeface="Arial"/>
              </a:rPr>
              <a:t>Durante</a:t>
            </a:r>
          </a:p>
        </p:txBody>
      </p:sp>
      <p:sp>
        <p:nvSpPr>
          <p:cNvPr id="16" name="Texto"/>
          <p:cNvSpPr txBox="1"/>
          <p:nvPr/>
        </p:nvSpPr>
        <p:spPr>
          <a:xfrm>
            <a:off x="4572000" y="5245100"/>
            <a:ext cx="3175000" cy="698500"/>
          </a:xfrm>
          <a:prstGeom prst="rect">
            <a:avLst/>
          </a:prstGeom>
          <a:noFill/>
          <a:ln>
            <a:noFill/>
          </a:ln>
        </p:spPr>
        <p:txBody>
          <a:bodyPr wrap="square" lIns="0" tIns="0" rIns="0" bIns="0" anchor="t">
            <a:noAutofit/>
          </a:bodyPr>
          <a:lstStyle/>
          <a:p>
            <a:pPr algn="l" marL="0" indent="0">
              <a:lnSpc>
                <a:spcPct val="110000"/>
              </a:lnSpc>
              <a:buNone/>
            </a:pPr>
            <a:r>
              <a:rPr lang="es-MX" sz="2200" b="0">
                <a:solidFill>
                  <a:srgbClr val="18213A"/>
                </a:solidFill>
                <a:latin typeface="Arial"/>
              </a:rPr>
              <a:t>Cambiar una responsabilidad.</a:t>
            </a:r>
          </a:p>
        </p:txBody>
      </p:sp>
      <p:sp>
        <p:nvSpPr>
          <p:cNvPr id="17" name="Texto"/>
          <p:cNvSpPr txBox="1"/>
          <p:nvPr/>
        </p:nvSpPr>
        <p:spPr>
          <a:xfrm>
            <a:off x="8280400" y="3810000"/>
            <a:ext cx="2667000" cy="736600"/>
          </a:xfrm>
          <a:prstGeom prst="rect">
            <a:avLst/>
          </a:prstGeom>
          <a:noFill/>
          <a:ln>
            <a:noFill/>
          </a:ln>
        </p:spPr>
        <p:txBody>
          <a:bodyPr wrap="square" lIns="0" tIns="0" rIns="0" bIns="0" anchor="t">
            <a:noAutofit/>
          </a:bodyPr>
          <a:lstStyle/>
          <a:p>
            <a:pPr algn="l" marL="0" indent="0">
              <a:lnSpc>
                <a:spcPct val="110000"/>
              </a:lnSpc>
              <a:buNone/>
            </a:pPr>
            <a:r>
              <a:rPr lang="es-MX" sz="4400" b="1">
                <a:solidFill>
                  <a:srgbClr val="00AEEF"/>
                </a:solidFill>
                <a:latin typeface="Arial"/>
              </a:rPr>
              <a:t>03</a:t>
            </a:r>
          </a:p>
        </p:txBody>
      </p:sp>
      <p:sp>
        <p:nvSpPr>
          <p:cNvPr id="18" name="Texto"/>
          <p:cNvSpPr txBox="1"/>
          <p:nvPr/>
        </p:nvSpPr>
        <p:spPr>
          <a:xfrm>
            <a:off x="8280400" y="4686300"/>
            <a:ext cx="3175000" cy="444500"/>
          </a:xfrm>
          <a:prstGeom prst="rect">
            <a:avLst/>
          </a:prstGeom>
          <a:noFill/>
          <a:ln>
            <a:noFill/>
          </a:ln>
        </p:spPr>
        <p:txBody>
          <a:bodyPr wrap="square" lIns="0" tIns="0" rIns="0" bIns="0" anchor="t">
            <a:noAutofit/>
          </a:bodyPr>
          <a:lstStyle/>
          <a:p>
            <a:pPr algn="l" marL="0" indent="0">
              <a:lnSpc>
                <a:spcPct val="110000"/>
              </a:lnSpc>
              <a:buNone/>
            </a:pPr>
            <a:r>
              <a:rPr lang="es-MX" sz="2600" b="1">
                <a:solidFill>
                  <a:srgbClr val="25204E"/>
                </a:solidFill>
                <a:latin typeface="Arial"/>
              </a:rPr>
              <a:t>Después</a:t>
            </a:r>
          </a:p>
        </p:txBody>
      </p:sp>
      <p:sp>
        <p:nvSpPr>
          <p:cNvPr id="19" name="Texto"/>
          <p:cNvSpPr txBox="1"/>
          <p:nvPr/>
        </p:nvSpPr>
        <p:spPr>
          <a:xfrm>
            <a:off x="8280400" y="5245100"/>
            <a:ext cx="3175000" cy="698500"/>
          </a:xfrm>
          <a:prstGeom prst="rect">
            <a:avLst/>
          </a:prstGeom>
          <a:noFill/>
          <a:ln>
            <a:noFill/>
          </a:ln>
        </p:spPr>
        <p:txBody>
          <a:bodyPr wrap="square" lIns="0" tIns="0" rIns="0" bIns="0" anchor="t">
            <a:noAutofit/>
          </a:bodyPr>
          <a:lstStyle/>
          <a:p>
            <a:pPr algn="l" marL="0" indent="0">
              <a:lnSpc>
                <a:spcPct val="110000"/>
              </a:lnSpc>
              <a:buNone/>
            </a:pPr>
            <a:r>
              <a:rPr lang="es-MX" sz="2200" b="0">
                <a:solidFill>
                  <a:srgbClr val="18213A"/>
                </a:solidFill>
                <a:latin typeface="Arial"/>
              </a:rPr>
              <a:t>Buscar regresiones.</a:t>
            </a:r>
          </a:p>
        </p:txBody>
      </p:sp>
      <p:sp>
        <p:nvSpPr>
          <p:cNvPr id="500" name="Fuente y sección"/>
          <p:cNvSpPr txBox="1"/>
          <p:nvPr/>
        </p:nvSpPr>
        <p:spPr>
          <a:xfrm>
            <a:off x="838200" y="6553200"/>
            <a:ext cx="9271000" cy="228600"/>
          </a:xfrm>
          <a:prstGeom prst="rect">
            <a:avLst/>
          </a:prstGeom>
          <a:noFill/>
          <a:ln>
            <a:noFill/>
          </a:ln>
        </p:spPr>
        <p:txBody>
          <a:bodyPr wrap="square" lIns="0" tIns="0" rIns="0" bIns="0" anchor="t">
            <a:noAutofit/>
          </a:bodyPr>
          <a:lstStyle/>
          <a:p>
            <a:pPr algn="l" marL="0" indent="0">
              <a:lnSpc>
                <a:spcPct val="110000"/>
              </a:lnSpc>
              <a:buNone/>
            </a:pPr>
            <a:r>
              <a:rPr lang="es-MX" sz="1100" b="0">
                <a:solidFill>
                  <a:srgbClr val="FFFFFF"/>
                </a:solidFill>
                <a:latin typeface="Arial"/>
              </a:rPr>
              <a:t>Capítulo 5 / Pruebas automatizadas</a:t>
            </a:r>
          </a:p>
        </p:txBody>
      </p:sp>
      <p:sp>
        <p:nvSpPr>
          <p:cNvPr id="501" name="Número de diapositiva"/>
          <p:cNvSpPr txBox="1"/>
          <p:nvPr/>
        </p:nvSpPr>
        <p:spPr>
          <a:xfrm>
            <a:off x="10795000" y="6540500"/>
            <a:ext cx="508000" cy="228600"/>
          </a:xfrm>
          <a:prstGeom prst="rect">
            <a:avLst/>
          </a:prstGeom>
          <a:noFill/>
          <a:ln>
            <a:noFill/>
          </a:ln>
        </p:spPr>
        <p:txBody>
          <a:bodyPr wrap="square" lIns="0" tIns="0" rIns="0" bIns="0" anchor="t">
            <a:noAutofit/>
          </a:bodyPr>
          <a:lstStyle/>
          <a:p>
            <a:pPr algn="r" marL="0" indent="0">
              <a:lnSpc>
                <a:spcPct val="110000"/>
              </a:lnSpc>
              <a:buNone/>
            </a:pPr>
            <a:r>
              <a:rPr lang="es-MX" sz="1100" b="0">
                <a:solidFill>
                  <a:srgbClr val="FFFFFF"/>
                </a:solidFill>
                <a:latin typeface="Arial"/>
              </a:rPr>
              <a:t>14</a:t>
            </a:r>
          </a:p>
        </p:txBody>
      </p:sp>
    </p:spTree>
    <p:extLst>
      <p:ext uri="{BB962C8B-B14F-4D97-AF65-F5344CB8AC3E}">
        <ns2:creationId val="3588295322"/>
      </p:ext>
    </p:extLst>
  </p:cSld>
  <p:clrMapOvr>
    <a:masterClrMapping/>
  </p:clrMapOvr>
</p:sld>
</file>

<file path=ppt/slides/slide15.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ítulo"/>
          <p:cNvSpPr txBox="1"/>
          <p:nvPr/>
        </p:nvSpPr>
        <p:spPr>
          <a:xfrm>
            <a:off x="838200" y="673100"/>
            <a:ext cx="10668000" cy="1016000"/>
          </a:xfrm>
          <a:prstGeom prst="rect">
            <a:avLst/>
          </a:prstGeom>
          <a:noFill/>
          <a:ln>
            <a:noFill/>
          </a:ln>
        </p:spPr>
        <p:txBody>
          <a:bodyPr wrap="square" lIns="0" tIns="0" rIns="0" bIns="0" anchor="t">
            <a:noAutofit/>
          </a:bodyPr>
          <a:lstStyle/>
          <a:p>
            <a:pPr algn="l" marL="0" indent="0">
              <a:lnSpc>
                <a:spcPct val="110000"/>
              </a:lnSpc>
              <a:buNone/>
            </a:pPr>
            <a:r>
              <a:rPr lang="es-MX" sz="3200" b="1">
                <a:solidFill>
                  <a:srgbClr val="25204E"/>
                </a:solidFill>
                <a:latin typeface="Arial"/>
              </a:rPr>
              <a:t>La pirámide orienta la combinación de pruebas</a:t>
            </a:r>
          </a:p>
        </p:txBody>
      </p:sp>
      <p:pic>
        <p:nvPicPr>
          <p:cNvPr id="10" name="08-009-000" descr="Imagen de referencia del libro o herramienta"/>
          <p:cNvPicPr>
            <a:picLocks noChangeAspect="1"/>
          </p:cNvPicPr>
          <p:nvPr/>
        </p:nvPicPr>
        <p:blipFill>
          <a:blip r:embed="rId10"/>
          <a:stretch>
            <a:fillRect/>
          </a:stretch>
        </p:blipFill>
        <p:spPr>
          <a:xfrm>
            <a:off x="851807" y="1778000"/>
            <a:ext cx="4735286" cy="4000500"/>
          </a:xfrm>
          <a:prstGeom prst="rect">
            <a:avLst/>
          </a:prstGeom>
        </p:spPr>
      </p:pic>
      <p:sp>
        <p:nvSpPr>
          <p:cNvPr id="11" name="Texto"/>
          <p:cNvSpPr txBox="1"/>
          <p:nvPr/>
        </p:nvSpPr>
        <p:spPr>
          <a:xfrm>
            <a:off x="838200" y="5867400"/>
            <a:ext cx="4762500" cy="355600"/>
          </a:xfrm>
          <a:prstGeom prst="rect">
            <a:avLst/>
          </a:prstGeom>
          <a:noFill/>
          <a:ln>
            <a:noFill/>
          </a:ln>
        </p:spPr>
        <p:txBody>
          <a:bodyPr wrap="square" lIns="0" tIns="0" rIns="0" bIns="0" anchor="t">
            <a:noAutofit/>
          </a:bodyPr>
          <a:lstStyle/>
          <a:p>
            <a:pPr algn="l" marL="0" indent="0">
              <a:lnSpc>
                <a:spcPct val="110000"/>
              </a:lnSpc>
              <a:buNone/>
            </a:pPr>
            <a:r>
              <a:rPr lang="es-MX" sz="1200" b="0">
                <a:solidFill>
                  <a:srgbClr val="586276"/>
                </a:solidFill>
                <a:latin typeface="Arial"/>
              </a:rPr>
              <a:t>Figura 5-1. Pirámide de pruebas del libro</a:t>
            </a:r>
          </a:p>
        </p:txBody>
      </p:sp>
      <p:sp>
        <p:nvSpPr>
          <p:cNvPr id="12" name="Texto"/>
          <p:cNvSpPr txBox="1"/>
          <p:nvPr/>
        </p:nvSpPr>
        <p:spPr>
          <a:xfrm>
            <a:off x="6223000" y="1905000"/>
            <a:ext cx="5143500" cy="431800"/>
          </a:xfrm>
          <a:prstGeom prst="rect">
            <a:avLst/>
          </a:prstGeom>
          <a:noFill/>
          <a:ln>
            <a:noFill/>
          </a:ln>
        </p:spPr>
        <p:txBody>
          <a:bodyPr wrap="square" lIns="0" tIns="0" rIns="0" bIns="0" anchor="t">
            <a:noAutofit/>
          </a:bodyPr>
          <a:lstStyle/>
          <a:p>
            <a:pPr algn="l" marL="0" indent="0">
              <a:lnSpc>
                <a:spcPct val="110000"/>
              </a:lnSpc>
              <a:buNone/>
            </a:pPr>
            <a:r>
              <a:rPr lang="es-MX" sz="2700" b="1">
                <a:solidFill>
                  <a:srgbClr val="00AEEF"/>
                </a:solidFill>
                <a:latin typeface="Arial"/>
              </a:rPr>
              <a:t>Extremo a extremo</a:t>
            </a:r>
          </a:p>
        </p:txBody>
      </p:sp>
      <p:sp>
        <p:nvSpPr>
          <p:cNvPr id="13" name="Texto"/>
          <p:cNvSpPr txBox="1"/>
          <p:nvPr/>
        </p:nvSpPr>
        <p:spPr>
          <a:xfrm>
            <a:off x="6223000" y="2336800"/>
            <a:ext cx="5143500" cy="901700"/>
          </a:xfrm>
          <a:prstGeom prst="rect">
            <a:avLst/>
          </a:prstGeom>
          <a:noFill/>
          <a:ln>
            <a:noFill/>
          </a:ln>
        </p:spPr>
        <p:txBody>
          <a:bodyPr wrap="square" lIns="0" tIns="0" rIns="0" bIns="0" anchor="t">
            <a:noAutofit/>
          </a:bodyPr>
          <a:lstStyle/>
          <a:p>
            <a:pPr algn="l" marL="0" indent="0">
              <a:lnSpc>
                <a:spcPct val="110000"/>
              </a:lnSpc>
              <a:buNone/>
            </a:pPr>
            <a:r>
              <a:rPr lang="es-MX" sz="2400" b="0">
                <a:solidFill>
                  <a:srgbClr val="18213A"/>
                </a:solidFill>
                <a:latin typeface="Arial"/>
              </a:rPr>
              <a:t>Un recorrido completo del usuario.</a:t>
            </a:r>
          </a:p>
        </p:txBody>
      </p:sp>
      <p:sp>
        <p:nvSpPr>
          <p:cNvPr id="14" name="Texto"/>
          <p:cNvSpPr txBox="1"/>
          <p:nvPr/>
        </p:nvSpPr>
        <p:spPr>
          <a:xfrm>
            <a:off x="6223000" y="3162300"/>
            <a:ext cx="5143500" cy="431800"/>
          </a:xfrm>
          <a:prstGeom prst="rect">
            <a:avLst/>
          </a:prstGeom>
          <a:noFill/>
          <a:ln>
            <a:noFill/>
          </a:ln>
        </p:spPr>
        <p:txBody>
          <a:bodyPr wrap="square" lIns="0" tIns="0" rIns="0" bIns="0" anchor="t">
            <a:noAutofit/>
          </a:bodyPr>
          <a:lstStyle/>
          <a:p>
            <a:pPr algn="l" marL="0" indent="0">
              <a:lnSpc>
                <a:spcPct val="110000"/>
              </a:lnSpc>
              <a:buNone/>
            </a:pPr>
            <a:r>
              <a:rPr lang="es-MX" sz="2700" b="1">
                <a:solidFill>
                  <a:srgbClr val="00AEEF"/>
                </a:solidFill>
                <a:latin typeface="Arial"/>
              </a:rPr>
              <a:t>Integración</a:t>
            </a:r>
          </a:p>
        </p:txBody>
      </p:sp>
      <p:sp>
        <p:nvSpPr>
          <p:cNvPr id="15" name="Texto"/>
          <p:cNvSpPr txBox="1"/>
          <p:nvPr/>
        </p:nvSpPr>
        <p:spPr>
          <a:xfrm>
            <a:off x="6223000" y="3594100"/>
            <a:ext cx="5143500" cy="901700"/>
          </a:xfrm>
          <a:prstGeom prst="rect">
            <a:avLst/>
          </a:prstGeom>
          <a:noFill/>
          <a:ln>
            <a:noFill/>
          </a:ln>
        </p:spPr>
        <p:txBody>
          <a:bodyPr wrap="square" lIns="0" tIns="0" rIns="0" bIns="0" anchor="t">
            <a:noAutofit/>
          </a:bodyPr>
          <a:lstStyle/>
          <a:p>
            <a:pPr algn="l" marL="0" indent="0">
              <a:lnSpc>
                <a:spcPct val="110000"/>
              </a:lnSpc>
              <a:buNone/>
            </a:pPr>
            <a:r>
              <a:rPr lang="es-MX" sz="2400" b="0">
                <a:solidFill>
                  <a:srgbClr val="18213A"/>
                </a:solidFill>
                <a:latin typeface="Arial"/>
              </a:rPr>
              <a:t>La colaboración entre componentes.</a:t>
            </a:r>
          </a:p>
        </p:txBody>
      </p:sp>
      <p:sp>
        <p:nvSpPr>
          <p:cNvPr id="16" name="Texto"/>
          <p:cNvSpPr txBox="1"/>
          <p:nvPr/>
        </p:nvSpPr>
        <p:spPr>
          <a:xfrm>
            <a:off x="6223000" y="4419600"/>
            <a:ext cx="5143500" cy="431800"/>
          </a:xfrm>
          <a:prstGeom prst="rect">
            <a:avLst/>
          </a:prstGeom>
          <a:noFill/>
          <a:ln>
            <a:noFill/>
          </a:ln>
        </p:spPr>
        <p:txBody>
          <a:bodyPr wrap="square" lIns="0" tIns="0" rIns="0" bIns="0" anchor="t">
            <a:noAutofit/>
          </a:bodyPr>
          <a:lstStyle/>
          <a:p>
            <a:pPr algn="l" marL="0" indent="0">
              <a:lnSpc>
                <a:spcPct val="110000"/>
              </a:lnSpc>
              <a:buNone/>
            </a:pPr>
            <a:r>
              <a:rPr lang="es-MX" sz="2700" b="1">
                <a:solidFill>
                  <a:srgbClr val="00AEEF"/>
                </a:solidFill>
                <a:latin typeface="Arial"/>
              </a:rPr>
              <a:t>Unitarias</a:t>
            </a:r>
          </a:p>
        </p:txBody>
      </p:sp>
      <p:sp>
        <p:nvSpPr>
          <p:cNvPr id="17" name="Texto"/>
          <p:cNvSpPr txBox="1"/>
          <p:nvPr/>
        </p:nvSpPr>
        <p:spPr>
          <a:xfrm>
            <a:off x="6223000" y="4851400"/>
            <a:ext cx="5143500" cy="901700"/>
          </a:xfrm>
          <a:prstGeom prst="rect">
            <a:avLst/>
          </a:prstGeom>
          <a:noFill/>
          <a:ln>
            <a:noFill/>
          </a:ln>
        </p:spPr>
        <p:txBody>
          <a:bodyPr wrap="square" lIns="0" tIns="0" rIns="0" bIns="0" anchor="t">
            <a:noAutofit/>
          </a:bodyPr>
          <a:lstStyle/>
          <a:p>
            <a:pPr algn="l" marL="0" indent="0">
              <a:lnSpc>
                <a:spcPct val="110000"/>
              </a:lnSpc>
              <a:buNone/>
            </a:pPr>
            <a:r>
              <a:rPr lang="es-MX" sz="2400" b="0">
                <a:solidFill>
                  <a:srgbClr val="18213A"/>
                </a:solidFill>
                <a:latin typeface="Arial"/>
              </a:rPr>
              <a:t>Una regla o función aislada.</a:t>
            </a:r>
          </a:p>
        </p:txBody>
      </p:sp>
      <p:sp>
        <p:nvSpPr>
          <p:cNvPr id="500" name="Fuente y sección"/>
          <p:cNvSpPr txBox="1"/>
          <p:nvPr/>
        </p:nvSpPr>
        <p:spPr>
          <a:xfrm>
            <a:off x="838200" y="6553200"/>
            <a:ext cx="9271000" cy="228600"/>
          </a:xfrm>
          <a:prstGeom prst="rect">
            <a:avLst/>
          </a:prstGeom>
          <a:noFill/>
          <a:ln>
            <a:noFill/>
          </a:ln>
        </p:spPr>
        <p:txBody>
          <a:bodyPr wrap="square" lIns="0" tIns="0" rIns="0" bIns="0" anchor="t">
            <a:noAutofit/>
          </a:bodyPr>
          <a:lstStyle/>
          <a:p>
            <a:pPr algn="l" marL="0" indent="0">
              <a:lnSpc>
                <a:spcPct val="110000"/>
              </a:lnSpc>
              <a:buNone/>
            </a:pPr>
            <a:r>
              <a:rPr lang="es-MX" sz="1100" b="0">
                <a:solidFill>
                  <a:srgbClr val="FFFFFF"/>
                </a:solidFill>
                <a:latin typeface="Arial"/>
              </a:rPr>
              <a:t>Capítulo 5 / Pruebas automatizadas</a:t>
            </a:r>
          </a:p>
        </p:txBody>
      </p:sp>
      <p:sp>
        <p:nvSpPr>
          <p:cNvPr id="501" name="Número de diapositiva"/>
          <p:cNvSpPr txBox="1"/>
          <p:nvPr/>
        </p:nvSpPr>
        <p:spPr>
          <a:xfrm>
            <a:off x="10795000" y="6540500"/>
            <a:ext cx="508000" cy="228600"/>
          </a:xfrm>
          <a:prstGeom prst="rect">
            <a:avLst/>
          </a:prstGeom>
          <a:noFill/>
          <a:ln>
            <a:noFill/>
          </a:ln>
        </p:spPr>
        <p:txBody>
          <a:bodyPr wrap="square" lIns="0" tIns="0" rIns="0" bIns="0" anchor="t">
            <a:noAutofit/>
          </a:bodyPr>
          <a:lstStyle/>
          <a:p>
            <a:pPr algn="r" marL="0" indent="0">
              <a:lnSpc>
                <a:spcPct val="110000"/>
              </a:lnSpc>
              <a:buNone/>
            </a:pPr>
            <a:r>
              <a:rPr lang="es-MX" sz="1100" b="0">
                <a:solidFill>
                  <a:srgbClr val="FFFFFF"/>
                </a:solidFill>
                <a:latin typeface="Arial"/>
              </a:rPr>
              <a:t>15</a:t>
            </a:r>
          </a:p>
        </p:txBody>
      </p:sp>
    </p:spTree>
    <p:extLst>
      <p:ext uri="{BB962C8B-B14F-4D97-AF65-F5344CB8AC3E}">
        <ns3:creationId val="3588295322"/>
      </p:ext>
    </p:extLst>
  </p:cSld>
  <p:clrMapOvr>
    <a:masterClrMapping/>
  </p:clrMapOvr>
</p:sld>
</file>

<file path=ppt/slides/slide16.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ítulo"/>
          <p:cNvSpPr txBox="1"/>
          <p:nvPr/>
        </p:nvSpPr>
        <p:spPr>
          <a:xfrm>
            <a:off x="838200" y="673100"/>
            <a:ext cx="10668000" cy="1016000"/>
          </a:xfrm>
          <a:prstGeom prst="rect">
            <a:avLst/>
          </a:prstGeom>
          <a:noFill/>
          <a:ln>
            <a:noFill/>
          </a:ln>
        </p:spPr>
        <p:txBody>
          <a:bodyPr wrap="square" lIns="0" tIns="0" rIns="0" bIns="0" anchor="t">
            <a:noAutofit/>
          </a:bodyPr>
          <a:lstStyle/>
          <a:p>
            <a:pPr algn="l" marL="0" indent="0">
              <a:lnSpc>
                <a:spcPct val="110000"/>
              </a:lnSpc>
              <a:buNone/>
            </a:pPr>
            <a:r>
              <a:rPr lang="es-MX" sz="3200" b="1">
                <a:solidFill>
                  <a:srgbClr val="25204E"/>
                </a:solidFill>
                <a:latin typeface="Arial"/>
              </a:rPr>
              <a:t>Una prueba debe comprobar algo importante</a:t>
            </a:r>
          </a:p>
        </p:txBody>
      </p:sp>
      <p:sp>
        <p:nvSpPr>
          <p:cNvPr id="10" name="Texto"/>
          <p:cNvSpPr txBox="1"/>
          <p:nvPr/>
        </p:nvSpPr>
        <p:spPr>
          <a:xfrm>
            <a:off x="838200" y="1955800"/>
            <a:ext cx="4889500" cy="444500"/>
          </a:xfrm>
          <a:prstGeom prst="rect">
            <a:avLst/>
          </a:prstGeom>
          <a:noFill/>
          <a:ln>
            <a:noFill/>
          </a:ln>
        </p:spPr>
        <p:txBody>
          <a:bodyPr wrap="square" lIns="0" tIns="0" rIns="0" bIns="0" anchor="t">
            <a:noAutofit/>
          </a:bodyPr>
          <a:lstStyle/>
          <a:p>
            <a:pPr algn="l" marL="0" indent="0">
              <a:lnSpc>
                <a:spcPct val="110000"/>
              </a:lnSpc>
              <a:buNone/>
            </a:pPr>
            <a:r>
              <a:rPr lang="es-MX" sz="2500" b="1">
                <a:solidFill>
                  <a:srgbClr val="586276"/>
                </a:solidFill>
                <a:latin typeface="Arial"/>
              </a:rPr>
              <a:t>Ejecutar código</a:t>
            </a:r>
          </a:p>
        </p:txBody>
      </p:sp>
      <p:sp>
        <p:nvSpPr>
          <p:cNvPr id="11" name="Texto"/>
          <p:cNvSpPr txBox="1"/>
          <p:nvPr/>
        </p:nvSpPr>
        <p:spPr>
          <a:xfrm>
            <a:off x="838200" y="2857500"/>
            <a:ext cx="4826000" cy="736600"/>
          </a:xfrm>
          <a:prstGeom prst="rect">
            <a:avLst/>
          </a:prstGeom>
          <a:noFill/>
          <a:ln>
            <a:noFill/>
          </a:ln>
        </p:spPr>
        <p:txBody>
          <a:bodyPr wrap="square" lIns="0" tIns="0" rIns="0" bIns="0" anchor="t">
            <a:noAutofit/>
          </a:bodyPr>
          <a:lstStyle/>
          <a:p>
            <a:pPr algn="l" marL="0" indent="0">
              <a:lnSpc>
                <a:spcPct val="110000"/>
              </a:lnSpc>
              <a:buNone/>
            </a:pPr>
            <a:r>
              <a:rPr lang="es-MX" sz="2500" b="0">
                <a:solidFill>
                  <a:srgbClr val="25204E"/>
                </a:solidFill>
                <a:latin typeface="Menlo"/>
              </a:rPr>
              <a:t>cobrar(pedido)</a:t>
            </a:r>
          </a:p>
        </p:txBody>
      </p:sp>
      <p:sp>
        <p:nvSpPr>
          <p:cNvPr id="12" name="Texto"/>
          <p:cNvSpPr txBox="1"/>
          <p:nvPr/>
        </p:nvSpPr>
        <p:spPr>
          <a:xfrm>
            <a:off x="6223000" y="1955800"/>
            <a:ext cx="5207000" cy="444500"/>
          </a:xfrm>
          <a:prstGeom prst="rect">
            <a:avLst/>
          </a:prstGeom>
          <a:noFill/>
          <a:ln>
            <a:noFill/>
          </a:ln>
        </p:spPr>
        <p:txBody>
          <a:bodyPr wrap="square" lIns="0" tIns="0" rIns="0" bIns="0" anchor="t">
            <a:noAutofit/>
          </a:bodyPr>
          <a:lstStyle/>
          <a:p>
            <a:pPr algn="l" marL="0" indent="0">
              <a:lnSpc>
                <a:spcPct val="110000"/>
              </a:lnSpc>
              <a:buNone/>
            </a:pPr>
            <a:r>
              <a:rPr lang="es-MX" sz="2500" b="1">
                <a:solidFill>
                  <a:srgbClr val="00AEEF"/>
                </a:solidFill>
                <a:latin typeface="Arial"/>
              </a:rPr>
              <a:t>Verificar comportamiento</a:t>
            </a:r>
          </a:p>
        </p:txBody>
      </p:sp>
      <p:sp>
        <p:nvSpPr>
          <p:cNvPr id="13" name="Texto"/>
          <p:cNvSpPr txBox="1"/>
          <p:nvPr/>
        </p:nvSpPr>
        <p:spPr>
          <a:xfrm>
            <a:off x="6223000" y="2857500"/>
            <a:ext cx="5334000" cy="1587500"/>
          </a:xfrm>
          <a:prstGeom prst="rect">
            <a:avLst/>
          </a:prstGeom>
          <a:noFill/>
          <a:ln>
            <a:noFill/>
          </a:ln>
        </p:spPr>
        <p:txBody>
          <a:bodyPr wrap="square" lIns="0" tIns="0" rIns="0" bIns="0" anchor="t">
            <a:noAutofit/>
          </a:bodyPr>
          <a:lstStyle/>
          <a:p>
            <a:pPr algn="l" marL="0" indent="0">
              <a:lnSpc>
                <a:spcPct val="110000"/>
              </a:lnSpc>
              <a:buNone/>
            </a:pPr>
            <a:r>
              <a:rPr lang="es-MX" sz="1900" b="0">
                <a:solidFill>
                  <a:srgbClr val="25204E"/>
                </a:solidFill>
                <a:latin typeface="Menlo"/>
              </a:rPr>
              <a:t>resultado = cobrar(pedido)</a:t>
            </a:r>
          </a:p>
          <a:p>
            <a:pPr algn="l" marL="0" indent="0">
              <a:lnSpc>
                <a:spcPct val="110000"/>
              </a:lnSpc>
              <a:buNone/>
            </a:pPr>
            <a:r>
              <a:rPr lang="es-MX" sz="1900" b="0">
                <a:solidFill>
                  <a:srgbClr val="25204E"/>
                </a:solidFill>
                <a:latin typeface="Menlo"/>
              </a:rPr>
              <a:t>comprobar(resultado.total, 100)</a:t>
            </a:r>
          </a:p>
          <a:p>
            <a:pPr algn="l" marL="0" indent="0">
              <a:lnSpc>
                <a:spcPct val="110000"/>
              </a:lnSpc>
              <a:buNone/>
            </a:pPr>
            <a:r>
              <a:rPr lang="es-MX" sz="1900" b="0">
                <a:solidFill>
                  <a:srgbClr val="25204E"/>
                </a:solidFill>
                <a:latin typeface="Menlo"/>
              </a:rPr>
              <a:t>comprobar(cobros_creados, 1)</a:t>
            </a:r>
          </a:p>
        </p:txBody>
      </p:sp>
      <p:sp>
        <p:nvSpPr>
          <p:cNvPr id="14" name="Texto"/>
          <p:cNvSpPr txBox="1"/>
          <p:nvPr/>
        </p:nvSpPr>
        <p:spPr>
          <a:xfrm>
            <a:off x="838200" y="4673600"/>
            <a:ext cx="8382000" cy="1168400"/>
          </a:xfrm>
          <a:prstGeom prst="rect">
            <a:avLst/>
          </a:prstGeom>
          <a:noFill/>
          <a:ln>
            <a:noFill/>
          </a:ln>
        </p:spPr>
        <p:txBody>
          <a:bodyPr wrap="square" lIns="0" tIns="0" rIns="0" bIns="0" anchor="t">
            <a:noAutofit/>
          </a:bodyPr>
          <a:lstStyle/>
          <a:p>
            <a:pPr algn="l" marL="0" indent="0">
              <a:lnSpc>
                <a:spcPct val="110000"/>
              </a:lnSpc>
              <a:buNone/>
            </a:pPr>
            <a:r>
              <a:rPr lang="es-MX" sz="2600" b="1">
                <a:solidFill>
                  <a:srgbClr val="25204E"/>
                </a:solidFill>
                <a:latin typeface="Arial"/>
              </a:rPr>
              <a:t>La cobertura señala zonas por revisar.</a:t>
            </a:r>
          </a:p>
          <a:p>
            <a:pPr algn="l" marL="0" indent="0">
              <a:lnSpc>
                <a:spcPct val="110000"/>
              </a:lnSpc>
              <a:buNone/>
            </a:pPr>
            <a:r>
              <a:rPr lang="es-MX" sz="2600" b="1">
                <a:solidFill>
                  <a:srgbClr val="25204E"/>
                </a:solidFill>
                <a:latin typeface="Arial"/>
              </a:rPr>
              <a:t>La aserción comprueba lo que esperamos.</a:t>
            </a:r>
          </a:p>
        </p:txBody>
      </p:sp>
      <p:pic>
        <p:nvPicPr>
          <p:cNvPr id="15" name="junit" descr="Imagen de referencia del libro o herramienta"/>
          <p:cNvPicPr>
            <a:picLocks noChangeAspect="1"/>
          </p:cNvPicPr>
          <p:nvPr/>
        </p:nvPicPr>
        <p:blipFill>
          <a:blip r:embed="rId15"/>
          <a:stretch>
            <a:fillRect/>
          </a:stretch>
        </p:blipFill>
        <p:spPr>
          <a:xfrm>
            <a:off x="9652000" y="5074433"/>
            <a:ext cx="1651000" cy="468334"/>
          </a:xfrm>
          <a:prstGeom prst="rect">
            <a:avLst/>
          </a:prstGeom>
        </p:spPr>
      </p:pic>
      <p:sp>
        <p:nvSpPr>
          <p:cNvPr id="500" name="Fuente y sección"/>
          <p:cNvSpPr txBox="1"/>
          <p:nvPr/>
        </p:nvSpPr>
        <p:spPr>
          <a:xfrm>
            <a:off x="838200" y="6553200"/>
            <a:ext cx="9271000" cy="228600"/>
          </a:xfrm>
          <a:prstGeom prst="rect">
            <a:avLst/>
          </a:prstGeom>
          <a:noFill/>
          <a:ln>
            <a:noFill/>
          </a:ln>
        </p:spPr>
        <p:txBody>
          <a:bodyPr wrap="square" lIns="0" tIns="0" rIns="0" bIns="0" anchor="t">
            <a:noAutofit/>
          </a:bodyPr>
          <a:lstStyle/>
          <a:p>
            <a:pPr algn="l" marL="0" indent="0">
              <a:lnSpc>
                <a:spcPct val="110000"/>
              </a:lnSpc>
              <a:buNone/>
            </a:pPr>
            <a:r>
              <a:rPr lang="es-MX" sz="1100" b="0">
                <a:solidFill>
                  <a:srgbClr val="FFFFFF"/>
                </a:solidFill>
                <a:latin typeface="Arial"/>
              </a:rPr>
              <a:t>Capítulo 5 / Comportamiento y cobertura</a:t>
            </a:r>
          </a:p>
        </p:txBody>
      </p:sp>
      <p:sp>
        <p:nvSpPr>
          <p:cNvPr id="501" name="Número de diapositiva"/>
          <p:cNvSpPr txBox="1"/>
          <p:nvPr/>
        </p:nvSpPr>
        <p:spPr>
          <a:xfrm>
            <a:off x="10795000" y="6540500"/>
            <a:ext cx="508000" cy="228600"/>
          </a:xfrm>
          <a:prstGeom prst="rect">
            <a:avLst/>
          </a:prstGeom>
          <a:noFill/>
          <a:ln>
            <a:noFill/>
          </a:ln>
        </p:spPr>
        <p:txBody>
          <a:bodyPr wrap="square" lIns="0" tIns="0" rIns="0" bIns="0" anchor="t">
            <a:noAutofit/>
          </a:bodyPr>
          <a:lstStyle/>
          <a:p>
            <a:pPr algn="r" marL="0" indent="0">
              <a:lnSpc>
                <a:spcPct val="110000"/>
              </a:lnSpc>
              <a:buNone/>
            </a:pPr>
            <a:r>
              <a:rPr lang="es-MX" sz="1100" b="0">
                <a:solidFill>
                  <a:srgbClr val="FFFFFF"/>
                </a:solidFill>
                <a:latin typeface="Arial"/>
              </a:rPr>
              <a:t>16</a:t>
            </a:r>
          </a:p>
        </p:txBody>
      </p:sp>
    </p:spTree>
    <p:extLst>
      <p:ext uri="{BB962C8B-B14F-4D97-AF65-F5344CB8AC3E}">
        <ns3:creationId val="3588295322"/>
      </p:ext>
    </p:extLst>
  </p:cSld>
  <p:clrMapOvr>
    <a:masterClrMapping/>
  </p:clrMapOvr>
</p:sld>
</file>

<file path=ppt/slides/slide17.xml><?xml version="1.0" encoding="utf-8"?>
<p:sld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Título"/>
          <p:cNvSpPr txBox="1"/>
          <p:nvPr/>
        </p:nvSpPr>
        <p:spPr>
          <a:xfrm>
            <a:off x="838200" y="673100"/>
            <a:ext cx="10668000" cy="1016000"/>
          </a:xfrm>
          <a:prstGeom prst="rect">
            <a:avLst/>
          </a:prstGeom>
          <a:noFill/>
          <a:ln>
            <a:noFill/>
          </a:ln>
        </p:spPr>
        <p:txBody>
          <a:bodyPr wrap="square" lIns="0" tIns="0" rIns="0" bIns="0" anchor="t">
            <a:noAutofit/>
          </a:bodyPr>
          <a:lstStyle/>
          <a:p>
            <a:pPr algn="l" marL="0" indent="0">
              <a:lnSpc>
                <a:spcPct val="110000"/>
              </a:lnSpc>
              <a:buNone/>
            </a:pPr>
            <a:r>
              <a:rPr lang="es-MX" sz="3200" b="1">
                <a:solidFill>
                  <a:srgbClr val="25204E"/>
                </a:solidFill>
                <a:latin typeface="Arial"/>
              </a:rPr>
              <a:t>Así quiero trabajar con agentes de IA</a:t>
            </a:r>
          </a:p>
        </p:txBody>
      </p:sp>
      <p:sp>
        <p:nvSpPr>
          <p:cNvPr id="10" name="Texto"/>
          <p:cNvSpPr txBox="1"/>
          <p:nvPr/>
        </p:nvSpPr>
        <p:spPr>
          <a:xfrm>
            <a:off x="838200" y="1879600"/>
            <a:ext cx="10414000" cy="431800"/>
          </a:xfrm>
          <a:prstGeom prst="rect">
            <a:avLst/>
          </a:prstGeom>
          <a:noFill/>
          <a:ln>
            <a:noFill/>
          </a:ln>
        </p:spPr>
        <p:txBody>
          <a:bodyPr wrap="square" lIns="0" tIns="0" rIns="0" bIns="0" anchor="t">
            <a:noAutofit/>
          </a:bodyPr>
          <a:lstStyle/>
          <a:p>
            <a:pPr algn="l" marL="0" indent="0">
              <a:lnSpc>
                <a:spcPct val="110000"/>
              </a:lnSpc>
              <a:buNone/>
            </a:pPr>
            <a:r>
              <a:rPr lang="es-MX" sz="2800" b="1">
                <a:solidFill>
                  <a:srgbClr val="00AEEF"/>
                </a:solidFill>
                <a:latin typeface="Arial"/>
              </a:rPr>
              <a:t>Antes de delegar</a:t>
            </a:r>
          </a:p>
        </p:txBody>
      </p:sp>
      <p:sp>
        <p:nvSpPr>
          <p:cNvPr id="11" name="Texto"/>
          <p:cNvSpPr txBox="1"/>
          <p:nvPr/>
        </p:nvSpPr>
        <p:spPr>
          <a:xfrm>
            <a:off x="838200" y="2311400"/>
            <a:ext cx="10414000" cy="901700"/>
          </a:xfrm>
          <a:prstGeom prst="rect">
            <a:avLst/>
          </a:prstGeom>
          <a:noFill/>
          <a:ln>
            <a:noFill/>
          </a:ln>
        </p:spPr>
        <p:txBody>
          <a:bodyPr wrap="square" lIns="0" tIns="0" rIns="0" bIns="0" anchor="t">
            <a:noAutofit/>
          </a:bodyPr>
          <a:lstStyle/>
          <a:p>
            <a:pPr algn="l" marL="0" indent="0">
              <a:lnSpc>
                <a:spcPct val="110000"/>
              </a:lnSpc>
              <a:buNone/>
            </a:pPr>
            <a:r>
              <a:rPr lang="es-MX" sz="2500" b="0">
                <a:solidFill>
                  <a:srgbClr val="18213A"/>
                </a:solidFill>
                <a:latin typeface="Arial"/>
              </a:rPr>
              <a:t>Entender el problema y definir qué aceptaré.</a:t>
            </a:r>
          </a:p>
        </p:txBody>
      </p:sp>
      <p:sp>
        <p:nvSpPr>
          <p:cNvPr id="12" name="Texto"/>
          <p:cNvSpPr txBox="1"/>
          <p:nvPr/>
        </p:nvSpPr>
        <p:spPr>
          <a:xfrm>
            <a:off x="838200" y="3136900"/>
            <a:ext cx="10414000" cy="431800"/>
          </a:xfrm>
          <a:prstGeom prst="rect">
            <a:avLst/>
          </a:prstGeom>
          <a:noFill/>
          <a:ln>
            <a:noFill/>
          </a:ln>
        </p:spPr>
        <p:txBody>
          <a:bodyPr wrap="square" lIns="0" tIns="0" rIns="0" bIns="0" anchor="t">
            <a:noAutofit/>
          </a:bodyPr>
          <a:lstStyle/>
          <a:p>
            <a:pPr algn="l" marL="0" indent="0">
              <a:lnSpc>
                <a:spcPct val="110000"/>
              </a:lnSpc>
              <a:buNone/>
            </a:pPr>
            <a:r>
              <a:rPr lang="es-MX" sz="2800" b="1">
                <a:solidFill>
                  <a:srgbClr val="00AEEF"/>
                </a:solidFill>
                <a:latin typeface="Arial"/>
              </a:rPr>
              <a:t>Durante el cambio</a:t>
            </a:r>
          </a:p>
        </p:txBody>
      </p:sp>
      <p:sp>
        <p:nvSpPr>
          <p:cNvPr id="13" name="Texto"/>
          <p:cNvSpPr txBox="1"/>
          <p:nvPr/>
        </p:nvSpPr>
        <p:spPr>
          <a:xfrm>
            <a:off x="838200" y="3568700"/>
            <a:ext cx="10414000" cy="901700"/>
          </a:xfrm>
          <a:prstGeom prst="rect">
            <a:avLst/>
          </a:prstGeom>
          <a:noFill/>
          <a:ln>
            <a:noFill/>
          </a:ln>
        </p:spPr>
        <p:txBody>
          <a:bodyPr wrap="square" lIns="0" tIns="0" rIns="0" bIns="0" anchor="t">
            <a:noAutofit/>
          </a:bodyPr>
          <a:lstStyle/>
          <a:p>
            <a:pPr algn="l" marL="0" indent="0">
              <a:lnSpc>
                <a:spcPct val="110000"/>
              </a:lnSpc>
              <a:buNone/>
            </a:pPr>
            <a:r>
              <a:rPr lang="es-MX" sz="2500" b="0">
                <a:solidFill>
                  <a:srgbClr val="18213A"/>
                </a:solidFill>
                <a:latin typeface="Arial"/>
              </a:rPr>
              <a:t>Pedir un alcance pequeño y leer la propuesta.</a:t>
            </a:r>
          </a:p>
        </p:txBody>
      </p:sp>
      <p:sp>
        <p:nvSpPr>
          <p:cNvPr id="14" name="Texto"/>
          <p:cNvSpPr txBox="1"/>
          <p:nvPr/>
        </p:nvSpPr>
        <p:spPr>
          <a:xfrm>
            <a:off x="838200" y="4394200"/>
            <a:ext cx="10414000" cy="431800"/>
          </a:xfrm>
          <a:prstGeom prst="rect">
            <a:avLst/>
          </a:prstGeom>
          <a:noFill/>
          <a:ln>
            <a:noFill/>
          </a:ln>
        </p:spPr>
        <p:txBody>
          <a:bodyPr wrap="square" lIns="0" tIns="0" rIns="0" bIns="0" anchor="t">
            <a:noAutofit/>
          </a:bodyPr>
          <a:lstStyle/>
          <a:p>
            <a:pPr algn="l" marL="0" indent="0">
              <a:lnSpc>
                <a:spcPct val="110000"/>
              </a:lnSpc>
              <a:buNone/>
            </a:pPr>
            <a:r>
              <a:rPr lang="es-MX" sz="2800" b="1">
                <a:solidFill>
                  <a:srgbClr val="00AEEF"/>
                </a:solidFill>
                <a:latin typeface="Arial"/>
              </a:rPr>
              <a:t>Antes de integrar</a:t>
            </a:r>
          </a:p>
        </p:txBody>
      </p:sp>
      <p:sp>
        <p:nvSpPr>
          <p:cNvPr id="15" name="Texto"/>
          <p:cNvSpPr txBox="1"/>
          <p:nvPr/>
        </p:nvSpPr>
        <p:spPr>
          <a:xfrm>
            <a:off x="838200" y="4826000"/>
            <a:ext cx="10414000" cy="901700"/>
          </a:xfrm>
          <a:prstGeom prst="rect">
            <a:avLst/>
          </a:prstGeom>
          <a:noFill/>
          <a:ln>
            <a:noFill/>
          </a:ln>
        </p:spPr>
        <p:txBody>
          <a:bodyPr wrap="square" lIns="0" tIns="0" rIns="0" bIns="0" anchor="t">
            <a:noAutofit/>
          </a:bodyPr>
          <a:lstStyle/>
          <a:p>
            <a:pPr algn="l" marL="0" indent="0">
              <a:lnSpc>
                <a:spcPct val="110000"/>
              </a:lnSpc>
              <a:buNone/>
            </a:pPr>
            <a:r>
              <a:rPr lang="es-MX" sz="2500" b="0">
                <a:solidFill>
                  <a:srgbClr val="18213A"/>
                </a:solidFill>
                <a:latin typeface="Arial"/>
              </a:rPr>
              <a:t>Explicar el diff, probar y actualizar el contexto.</a:t>
            </a:r>
          </a:p>
        </p:txBody>
      </p:sp>
      <p:sp>
        <p:nvSpPr>
          <p:cNvPr id="16" name="Texto"/>
          <p:cNvSpPr txBox="1"/>
          <p:nvPr/>
        </p:nvSpPr>
        <p:spPr>
          <a:xfrm>
            <a:off x="838200" y="5715000"/>
            <a:ext cx="10414000" cy="495300"/>
          </a:xfrm>
          <a:prstGeom prst="rect">
            <a:avLst/>
          </a:prstGeom>
          <a:noFill/>
          <a:ln>
            <a:noFill/>
          </a:ln>
        </p:spPr>
        <p:txBody>
          <a:bodyPr wrap="square" lIns="0" tIns="0" rIns="0" bIns="0" anchor="t">
            <a:noAutofit/>
          </a:bodyPr>
          <a:lstStyle/>
          <a:p>
            <a:pPr algn="l" marL="0" indent="0">
              <a:lnSpc>
                <a:spcPct val="110000"/>
              </a:lnSpc>
              <a:buNone/>
            </a:pPr>
            <a:r>
              <a:rPr lang="es-MX" sz="2500" b="1">
                <a:solidFill>
                  <a:srgbClr val="25204E"/>
                </a:solidFill>
                <a:latin typeface="Arial"/>
              </a:rPr>
              <a:t>La responsabilidad sobre el resultado sigue siendo mía.</a:t>
            </a:r>
          </a:p>
        </p:txBody>
      </p:sp>
      <p:sp>
        <p:nvSpPr>
          <p:cNvPr id="500" name="Fuente y sección"/>
          <p:cNvSpPr txBox="1"/>
          <p:nvPr/>
        </p:nvSpPr>
        <p:spPr>
          <a:xfrm>
            <a:off x="838200" y="6553200"/>
            <a:ext cx="9271000" cy="228600"/>
          </a:xfrm>
          <a:prstGeom prst="rect">
            <a:avLst/>
          </a:prstGeom>
          <a:noFill/>
          <a:ln>
            <a:noFill/>
          </a:ln>
        </p:spPr>
        <p:txBody>
          <a:bodyPr wrap="square" lIns="0" tIns="0" rIns="0" bIns="0" anchor="t">
            <a:noAutofit/>
          </a:bodyPr>
          <a:lstStyle/>
          <a:p>
            <a:pPr algn="l" marL="0" indent="0">
              <a:lnSpc>
                <a:spcPct val="110000"/>
              </a:lnSpc>
              <a:buNone/>
            </a:pPr>
            <a:r>
              <a:rPr lang="es-MX" sz="1100" b="0">
                <a:solidFill>
                  <a:srgbClr val="FFFFFF"/>
                </a:solidFill>
                <a:latin typeface="Arial"/>
              </a:rPr>
              <a:t>Mi aplicación de los capítulos 1 al 5</a:t>
            </a:r>
          </a:p>
        </p:txBody>
      </p:sp>
      <p:sp>
        <p:nvSpPr>
          <p:cNvPr id="501" name="Número de diapositiva"/>
          <p:cNvSpPr txBox="1"/>
          <p:nvPr/>
        </p:nvSpPr>
        <p:spPr>
          <a:xfrm>
            <a:off x="10795000" y="6540500"/>
            <a:ext cx="508000" cy="228600"/>
          </a:xfrm>
          <a:prstGeom prst="rect">
            <a:avLst/>
          </a:prstGeom>
          <a:noFill/>
          <a:ln>
            <a:noFill/>
          </a:ln>
        </p:spPr>
        <p:txBody>
          <a:bodyPr wrap="square" lIns="0" tIns="0" rIns="0" bIns="0" anchor="t">
            <a:noAutofit/>
          </a:bodyPr>
          <a:lstStyle/>
          <a:p>
            <a:pPr algn="r" marL="0" indent="0">
              <a:lnSpc>
                <a:spcPct val="110000"/>
              </a:lnSpc>
              <a:buNone/>
            </a:pPr>
            <a:r>
              <a:rPr lang="es-MX" sz="1100" b="0">
                <a:solidFill>
                  <a:srgbClr val="FFFFFF"/>
                </a:solidFill>
                <a:latin typeface="Arial"/>
              </a:rPr>
              <a:t>17</a:t>
            </a:r>
          </a:p>
        </p:txBody>
      </p:sp>
    </p:spTree>
    <p:extLst>
      <p:ext uri="{BB962C8B-B14F-4D97-AF65-F5344CB8AC3E}">
        <ns2:creationId val="3588295322"/>
      </p:ext>
    </p:extLst>
  </p:cSld>
  <p:clrMapOvr>
    <a:masterClrMapping/>
  </p:clrMapOvr>
</p:sld>
</file>

<file path=ppt/slides/slide18.xml><?xml version="1.0" encoding="utf-8"?>
<p:sld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Título"/>
          <p:cNvSpPr txBox="1"/>
          <p:nvPr/>
        </p:nvSpPr>
        <p:spPr>
          <a:xfrm>
            <a:off x="838200" y="673100"/>
            <a:ext cx="10668000" cy="1016000"/>
          </a:xfrm>
          <a:prstGeom prst="rect">
            <a:avLst/>
          </a:prstGeom>
          <a:noFill/>
          <a:ln>
            <a:noFill/>
          </a:ln>
        </p:spPr>
        <p:txBody>
          <a:bodyPr wrap="square" lIns="0" tIns="0" rIns="0" bIns="0" anchor="t">
            <a:noAutofit/>
          </a:bodyPr>
          <a:lstStyle/>
          <a:p>
            <a:pPr algn="l" marL="0" indent="0">
              <a:lnSpc>
                <a:spcPct val="110000"/>
              </a:lnSpc>
              <a:buNone/>
            </a:pPr>
            <a:r>
              <a:rPr lang="es-MX" sz="3200" b="1">
                <a:solidFill>
                  <a:srgbClr val="25204E"/>
                </a:solidFill>
                <a:latin typeface="Arial"/>
              </a:rPr>
              <a:t>El aprendizaje que quiero conservar</a:t>
            </a:r>
          </a:p>
        </p:txBody>
      </p:sp>
      <p:sp>
        <p:nvSpPr>
          <p:cNvPr id="10" name="Texto"/>
          <p:cNvSpPr txBox="1"/>
          <p:nvPr/>
        </p:nvSpPr>
        <p:spPr>
          <a:xfrm>
            <a:off x="838200" y="1917700"/>
            <a:ext cx="5334000" cy="558800"/>
          </a:xfrm>
          <a:prstGeom prst="rect">
            <a:avLst/>
          </a:prstGeom>
          <a:noFill/>
          <a:ln>
            <a:noFill/>
          </a:ln>
        </p:spPr>
        <p:txBody>
          <a:bodyPr wrap="square" lIns="0" tIns="0" rIns="0" bIns="0" anchor="t">
            <a:noAutofit/>
          </a:bodyPr>
          <a:lstStyle/>
          <a:p>
            <a:pPr algn="l" marL="0" indent="0">
              <a:lnSpc>
                <a:spcPct val="110000"/>
              </a:lnSpc>
              <a:buNone/>
            </a:pPr>
            <a:r>
              <a:rPr lang="es-MX" sz="2700" b="1">
                <a:solidFill>
                  <a:srgbClr val="25204E"/>
                </a:solidFill>
                <a:latin typeface="Arial"/>
              </a:rPr>
              <a:t>La práctica que forma criterio</a:t>
            </a:r>
          </a:p>
        </p:txBody>
      </p:sp>
      <p:sp>
        <p:nvSpPr>
          <p:cNvPr id="11" name="Texto"/>
          <p:cNvSpPr txBox="1"/>
          <p:nvPr/>
        </p:nvSpPr>
        <p:spPr>
          <a:xfrm>
            <a:off x="838200" y="2946400"/>
            <a:ext cx="4953000" cy="2413000"/>
          </a:xfrm>
          <a:prstGeom prst="rect">
            <a:avLst/>
          </a:prstGeom>
          <a:noFill/>
          <a:ln>
            <a:noFill/>
          </a:ln>
        </p:spPr>
        <p:txBody>
          <a:bodyPr wrap="square" lIns="0" tIns="0" rIns="0" bIns="0" anchor="t">
            <a:noAutofit/>
          </a:bodyPr>
          <a:lstStyle/>
          <a:p>
            <a:pPr algn="l" marL="0" indent="0">
              <a:lnSpc>
                <a:spcPct val="110000"/>
              </a:lnSpc>
              <a:buNone/>
            </a:pPr>
            <a:r>
              <a:rPr lang="es-MX" sz="2600" b="0">
                <a:solidFill>
                  <a:srgbClr val="18213A"/>
                </a:solidFill>
                <a:latin typeface="Arial"/>
              </a:rPr>
              <a:t>Leer código ajeno</a:t>
            </a:r>
          </a:p>
          <a:p>
            <a:pPr algn="l" marL="0" indent="0">
              <a:lnSpc>
                <a:spcPct val="110000"/>
              </a:lnSpc>
              <a:buNone/>
            </a:pPr>
            <a:r>
              <a:rPr lang="es-MX" sz="2600" b="0">
                <a:solidFill>
                  <a:srgbClr val="18213A"/>
                </a:solidFill>
                <a:latin typeface="Arial"/>
              </a:rPr>
              <a:t>Investigar un fallo</a:t>
            </a:r>
          </a:p>
          <a:p>
            <a:pPr algn="l" marL="0" indent="0">
              <a:lnSpc>
                <a:spcPct val="110000"/>
              </a:lnSpc>
              <a:buNone/>
            </a:pPr>
            <a:r>
              <a:rPr lang="es-MX" sz="2600" b="0">
                <a:solidFill>
                  <a:srgbClr val="18213A"/>
                </a:solidFill>
                <a:latin typeface="Arial"/>
              </a:rPr>
              <a:t>Recibir una revisión</a:t>
            </a:r>
          </a:p>
          <a:p>
            <a:pPr algn="l" marL="0" indent="0">
              <a:lnSpc>
                <a:spcPct val="110000"/>
              </a:lnSpc>
              <a:buNone/>
            </a:pPr>
            <a:r>
              <a:rPr lang="es-MX" sz="2600" b="0">
                <a:solidFill>
                  <a:srgbClr val="18213A"/>
                </a:solidFill>
                <a:latin typeface="Arial"/>
              </a:rPr>
              <a:t>Mantener una decisión</a:t>
            </a:r>
          </a:p>
        </p:txBody>
      </p:sp>
      <p:sp>
        <p:nvSpPr>
          <p:cNvPr id="12" name="Texto"/>
          <p:cNvSpPr txBox="1"/>
          <p:nvPr/>
        </p:nvSpPr>
        <p:spPr>
          <a:xfrm>
            <a:off x="6604000" y="1917700"/>
            <a:ext cx="4953000" cy="812800"/>
          </a:xfrm>
          <a:prstGeom prst="rect">
            <a:avLst/>
          </a:prstGeom>
          <a:noFill/>
          <a:ln>
            <a:noFill/>
          </a:ln>
        </p:spPr>
        <p:txBody>
          <a:bodyPr wrap="square" lIns="0" tIns="0" rIns="0" bIns="0" anchor="t">
            <a:noAutofit/>
          </a:bodyPr>
          <a:lstStyle/>
          <a:p>
            <a:pPr algn="l" marL="0" indent="0">
              <a:lnSpc>
                <a:spcPct val="110000"/>
              </a:lnSpc>
              <a:buNone/>
            </a:pPr>
            <a:r>
              <a:rPr lang="es-MX" sz="2700" b="1">
                <a:solidFill>
                  <a:srgbClr val="00AEEF"/>
                </a:solidFill>
                <a:latin typeface="Arial"/>
              </a:rPr>
              <a:t>Mi práctica con IA</a:t>
            </a:r>
          </a:p>
        </p:txBody>
      </p:sp>
      <p:sp>
        <p:nvSpPr>
          <p:cNvPr id="13" name="Texto"/>
          <p:cNvSpPr txBox="1"/>
          <p:nvPr/>
        </p:nvSpPr>
        <p:spPr>
          <a:xfrm>
            <a:off x="6604000" y="2946400"/>
            <a:ext cx="4953000" cy="2413000"/>
          </a:xfrm>
          <a:prstGeom prst="rect">
            <a:avLst/>
          </a:prstGeom>
          <a:noFill/>
          <a:ln>
            <a:noFill/>
          </a:ln>
        </p:spPr>
        <p:txBody>
          <a:bodyPr wrap="square" lIns="0" tIns="0" rIns="0" bIns="0" anchor="t">
            <a:noAutofit/>
          </a:bodyPr>
          <a:lstStyle/>
          <a:p>
            <a:pPr algn="l" marL="0" indent="0">
              <a:lnSpc>
                <a:spcPct val="110000"/>
              </a:lnSpc>
              <a:buNone/>
            </a:pPr>
            <a:r>
              <a:rPr lang="es-MX" sz="2600" b="0">
                <a:solidFill>
                  <a:srgbClr val="18213A"/>
                </a:solidFill>
                <a:latin typeface="Arial"/>
              </a:rPr>
              <a:t>Formular mi hipótesis primero</a:t>
            </a:r>
          </a:p>
          <a:p>
            <a:pPr algn="l" marL="0" indent="0">
              <a:lnSpc>
                <a:spcPct val="110000"/>
              </a:lnSpc>
              <a:buNone/>
            </a:pPr>
            <a:r>
              <a:rPr lang="es-MX" sz="2600" b="0">
                <a:solidFill>
                  <a:srgbClr val="18213A"/>
                </a:solidFill>
                <a:latin typeface="Arial"/>
              </a:rPr>
              <a:t>Comprobar las explicaciones</a:t>
            </a:r>
          </a:p>
          <a:p>
            <a:pPr algn="l" marL="0" indent="0">
              <a:lnSpc>
                <a:spcPct val="110000"/>
              </a:lnSpc>
              <a:buNone/>
            </a:pPr>
            <a:r>
              <a:rPr lang="es-MX" sz="2600" b="0">
                <a:solidFill>
                  <a:srgbClr val="18213A"/>
                </a:solidFill>
                <a:latin typeface="Arial"/>
              </a:rPr>
              <a:t>Defender mis decisiones</a:t>
            </a:r>
          </a:p>
          <a:p>
            <a:pPr algn="l" marL="0" indent="0">
              <a:lnSpc>
                <a:spcPct val="110000"/>
              </a:lnSpc>
              <a:buNone/>
            </a:pPr>
            <a:r>
              <a:rPr lang="es-MX" sz="2600" b="0">
                <a:solidFill>
                  <a:srgbClr val="18213A"/>
                </a:solidFill>
                <a:latin typeface="Arial"/>
              </a:rPr>
              <a:t>Revisar el efecto del cambio</a:t>
            </a:r>
          </a:p>
        </p:txBody>
      </p:sp>
      <p:sp>
        <p:nvSpPr>
          <p:cNvPr id="500" name="Fuente y sección"/>
          <p:cNvSpPr txBox="1"/>
          <p:nvPr/>
        </p:nvSpPr>
        <p:spPr>
          <a:xfrm>
            <a:off x="838200" y="6553200"/>
            <a:ext cx="9271000" cy="228600"/>
          </a:xfrm>
          <a:prstGeom prst="rect">
            <a:avLst/>
          </a:prstGeom>
          <a:noFill/>
          <a:ln>
            <a:noFill/>
          </a:ln>
        </p:spPr>
        <p:txBody>
          <a:bodyPr wrap="square" lIns="0" tIns="0" rIns="0" bIns="0" anchor="t">
            <a:noAutofit/>
          </a:bodyPr>
          <a:lstStyle/>
          <a:p>
            <a:pPr algn="l" marL="0" indent="0">
              <a:lnSpc>
                <a:spcPct val="110000"/>
              </a:lnSpc>
              <a:buNone/>
            </a:pPr>
            <a:r>
              <a:rPr lang="es-MX" sz="1100" b="0">
                <a:solidFill>
                  <a:srgbClr val="FFFFFF"/>
                </a:solidFill>
                <a:latin typeface="Arial"/>
              </a:rPr>
              <a:t>Mi reflexión sobre crecer con IA</a:t>
            </a:r>
          </a:p>
        </p:txBody>
      </p:sp>
      <p:sp>
        <p:nvSpPr>
          <p:cNvPr id="501" name="Número de diapositiva"/>
          <p:cNvSpPr txBox="1"/>
          <p:nvPr/>
        </p:nvSpPr>
        <p:spPr>
          <a:xfrm>
            <a:off x="10795000" y="6540500"/>
            <a:ext cx="508000" cy="228600"/>
          </a:xfrm>
          <a:prstGeom prst="rect">
            <a:avLst/>
          </a:prstGeom>
          <a:noFill/>
          <a:ln>
            <a:noFill/>
          </a:ln>
        </p:spPr>
        <p:txBody>
          <a:bodyPr wrap="square" lIns="0" tIns="0" rIns="0" bIns="0" anchor="t">
            <a:noAutofit/>
          </a:bodyPr>
          <a:lstStyle/>
          <a:p>
            <a:pPr algn="r" marL="0" indent="0">
              <a:lnSpc>
                <a:spcPct val="110000"/>
              </a:lnSpc>
              <a:buNone/>
            </a:pPr>
            <a:r>
              <a:rPr lang="es-MX" sz="1100" b="0">
                <a:solidFill>
                  <a:srgbClr val="FFFFFF"/>
                </a:solidFill>
                <a:latin typeface="Arial"/>
              </a:rPr>
              <a:t>18</a:t>
            </a:r>
          </a:p>
        </p:txBody>
      </p:sp>
    </p:spTree>
    <p:extLst>
      <p:ext uri="{BB962C8B-B14F-4D97-AF65-F5344CB8AC3E}">
        <ns2:creationId val="3588295322"/>
      </p:ext>
    </p:extLst>
  </p:cSld>
  <p:clrMapOvr>
    <a:masterClrMapping/>
  </p:clrMapOvr>
</p:sld>
</file>

<file path=ppt/slides/slide19.xml><?xml version="1.0" encoding="utf-8"?>
<p:sld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Título"/>
          <p:cNvSpPr txBox="1"/>
          <p:nvPr/>
        </p:nvSpPr>
        <p:spPr>
          <a:xfrm>
            <a:off x="838200" y="673100"/>
            <a:ext cx="10668000" cy="1016000"/>
          </a:xfrm>
          <a:prstGeom prst="rect">
            <a:avLst/>
          </a:prstGeom>
          <a:noFill/>
          <a:ln>
            <a:noFill/>
          </a:ln>
        </p:spPr>
        <p:txBody>
          <a:bodyPr wrap="square" lIns="0" tIns="0" rIns="0" bIns="0" anchor="t">
            <a:noAutofit/>
          </a:bodyPr>
          <a:lstStyle/>
          <a:p>
            <a:pPr algn="l" marL="0" indent="0">
              <a:lnSpc>
                <a:spcPct val="110000"/>
              </a:lnSpc>
              <a:buNone/>
            </a:pPr>
            <a:r>
              <a:rPr lang="es-MX" sz="3200" b="1">
                <a:solidFill>
                  <a:srgbClr val="25204E"/>
                </a:solidFill>
                <a:latin typeface="Arial"/>
              </a:rPr>
              <a:t>Mi siguiente paso como junior</a:t>
            </a:r>
          </a:p>
        </p:txBody>
      </p:sp>
      <p:sp>
        <p:nvSpPr>
          <p:cNvPr id="10" name="Texto"/>
          <p:cNvSpPr txBox="1"/>
          <p:nvPr/>
        </p:nvSpPr>
        <p:spPr>
          <a:xfrm>
            <a:off x="838200" y="1828800"/>
            <a:ext cx="10160000" cy="1460500"/>
          </a:xfrm>
          <a:prstGeom prst="rect">
            <a:avLst/>
          </a:prstGeom>
          <a:noFill/>
          <a:ln>
            <a:noFill/>
          </a:ln>
        </p:spPr>
        <p:txBody>
          <a:bodyPr wrap="square" lIns="0" tIns="0" rIns="0" bIns="0" anchor="t">
            <a:noAutofit/>
          </a:bodyPr>
          <a:lstStyle/>
          <a:p>
            <a:pPr algn="l" marL="0" indent="0">
              <a:lnSpc>
                <a:spcPct val="110000"/>
              </a:lnSpc>
              <a:buNone/>
            </a:pPr>
            <a:r>
              <a:rPr lang="es-MX" sz="4200" b="1">
                <a:solidFill>
                  <a:srgbClr val="25204E"/>
                </a:solidFill>
                <a:latin typeface="Arial"/>
              </a:rPr>
              <a:t>Quiero poder explicar</a:t>
            </a:r>
          </a:p>
          <a:p>
            <a:pPr algn="l" marL="0" indent="0">
              <a:lnSpc>
                <a:spcPct val="110000"/>
              </a:lnSpc>
              <a:buNone/>
            </a:pPr>
            <a:r>
              <a:rPr lang="es-MX" sz="4200" b="1">
                <a:solidFill>
                  <a:srgbClr val="25204E"/>
                </a:solidFill>
                <a:latin typeface="Arial"/>
              </a:rPr>
              <a:t>y sostener lo que construyo.</a:t>
            </a:r>
          </a:p>
        </p:txBody>
      </p:sp>
      <p:sp>
        <p:nvSpPr>
          <p:cNvPr id="11" name="Texto"/>
          <p:cNvSpPr txBox="1"/>
          <p:nvPr/>
        </p:nvSpPr>
        <p:spPr>
          <a:xfrm>
            <a:off x="838200" y="3733800"/>
            <a:ext cx="10160000" cy="558800"/>
          </a:xfrm>
          <a:prstGeom prst="rect">
            <a:avLst/>
          </a:prstGeom>
          <a:noFill/>
          <a:ln>
            <a:noFill/>
          </a:ln>
        </p:spPr>
        <p:txBody>
          <a:bodyPr wrap="square" lIns="0" tIns="0" rIns="0" bIns="0" anchor="t">
            <a:noAutofit/>
          </a:bodyPr>
          <a:lstStyle/>
          <a:p>
            <a:pPr algn="l" marL="0" indent="0">
              <a:lnSpc>
                <a:spcPct val="110000"/>
              </a:lnSpc>
              <a:buNone/>
            </a:pPr>
            <a:r>
              <a:rPr lang="es-MX" sz="2700" b="1">
                <a:solidFill>
                  <a:srgbClr val="00AEEF"/>
                </a:solidFill>
                <a:latin typeface="Arial"/>
              </a:rPr>
              <a:t>En mi próximo cambio voy a dejar:</a:t>
            </a:r>
          </a:p>
        </p:txBody>
      </p:sp>
      <p:sp>
        <p:nvSpPr>
          <p:cNvPr id="12" name="Texto"/>
          <p:cNvSpPr txBox="1"/>
          <p:nvPr/>
        </p:nvSpPr>
        <p:spPr>
          <a:xfrm>
            <a:off x="838200" y="4521200"/>
            <a:ext cx="10160000" cy="1524000"/>
          </a:xfrm>
          <a:prstGeom prst="rect">
            <a:avLst/>
          </a:prstGeom>
          <a:noFill/>
          <a:ln>
            <a:noFill/>
          </a:ln>
        </p:spPr>
        <p:txBody>
          <a:bodyPr wrap="square" lIns="0" tIns="0" rIns="0" bIns="0" anchor="t">
            <a:noAutofit/>
          </a:bodyPr>
          <a:lstStyle/>
          <a:p>
            <a:pPr algn="l" marL="0" indent="0">
              <a:lnSpc>
                <a:spcPct val="110000"/>
              </a:lnSpc>
              <a:buNone/>
            </a:pPr>
            <a:r>
              <a:rPr lang="es-MX" sz="2700" b="0">
                <a:solidFill>
                  <a:srgbClr val="18213A"/>
                </a:solidFill>
                <a:latin typeface="Arial"/>
              </a:rPr>
              <a:t>Una explicación clara del comportamiento.</a:t>
            </a:r>
          </a:p>
          <a:p>
            <a:pPr algn="l" marL="0" indent="0">
              <a:lnSpc>
                <a:spcPct val="110000"/>
              </a:lnSpc>
              <a:buNone/>
            </a:pPr>
            <a:r>
              <a:rPr lang="es-MX" sz="2700" b="0">
                <a:solidFill>
                  <a:srgbClr val="18213A"/>
                </a:solidFill>
                <a:latin typeface="Arial"/>
              </a:rPr>
              <a:t>Una prueba que proteja lo importante.</a:t>
            </a:r>
          </a:p>
          <a:p>
            <a:pPr algn="l" marL="0" indent="0">
              <a:lnSpc>
                <a:spcPct val="110000"/>
              </a:lnSpc>
              <a:buNone/>
            </a:pPr>
            <a:r>
              <a:rPr lang="es-MX" sz="2700" b="0">
                <a:solidFill>
                  <a:srgbClr val="18213A"/>
                </a:solidFill>
                <a:latin typeface="Arial"/>
              </a:rPr>
              <a:t>Contexto útil para la siguiente persona.</a:t>
            </a:r>
          </a:p>
        </p:txBody>
      </p:sp>
      <p:sp>
        <p:nvSpPr>
          <p:cNvPr id="500" name="Fuente y sección"/>
          <p:cNvSpPr txBox="1"/>
          <p:nvPr/>
        </p:nvSpPr>
        <p:spPr>
          <a:xfrm>
            <a:off x="838200" y="6553200"/>
            <a:ext cx="9271000" cy="228600"/>
          </a:xfrm>
          <a:prstGeom prst="rect">
            <a:avLst/>
          </a:prstGeom>
          <a:noFill/>
          <a:ln>
            <a:noFill/>
          </a:ln>
        </p:spPr>
        <p:txBody>
          <a:bodyPr wrap="square" lIns="0" tIns="0" rIns="0" bIns="0" anchor="t">
            <a:noAutofit/>
          </a:bodyPr>
          <a:lstStyle/>
          <a:p>
            <a:pPr algn="l" marL="0" indent="0">
              <a:lnSpc>
                <a:spcPct val="110000"/>
              </a:lnSpc>
              <a:buNone/>
            </a:pPr>
            <a:r>
              <a:rPr lang="es-MX" sz="1100" b="0">
                <a:solidFill>
                  <a:srgbClr val="FFFFFF"/>
                </a:solidFill>
                <a:latin typeface="Arial"/>
              </a:rPr>
              <a:t>Conclusión personal</a:t>
            </a:r>
          </a:p>
        </p:txBody>
      </p:sp>
      <p:sp>
        <p:nvSpPr>
          <p:cNvPr id="501" name="Número de diapositiva"/>
          <p:cNvSpPr txBox="1"/>
          <p:nvPr/>
        </p:nvSpPr>
        <p:spPr>
          <a:xfrm>
            <a:off x="10795000" y="6540500"/>
            <a:ext cx="508000" cy="228600"/>
          </a:xfrm>
          <a:prstGeom prst="rect">
            <a:avLst/>
          </a:prstGeom>
          <a:noFill/>
          <a:ln>
            <a:noFill/>
          </a:ln>
        </p:spPr>
        <p:txBody>
          <a:bodyPr wrap="square" lIns="0" tIns="0" rIns="0" bIns="0" anchor="t">
            <a:noAutofit/>
          </a:bodyPr>
          <a:lstStyle/>
          <a:p>
            <a:pPr algn="r" marL="0" indent="0">
              <a:lnSpc>
                <a:spcPct val="110000"/>
              </a:lnSpc>
              <a:buNone/>
            </a:pPr>
            <a:r>
              <a:rPr lang="es-MX" sz="1100" b="0">
                <a:solidFill>
                  <a:srgbClr val="FFFFFF"/>
                </a:solidFill>
                <a:latin typeface="Arial"/>
              </a:rPr>
              <a:t>19</a:t>
            </a:r>
          </a:p>
        </p:txBody>
      </p:sp>
    </p:spTree>
    <p:extLst>
      <p:ext uri="{BB962C8B-B14F-4D97-AF65-F5344CB8AC3E}">
        <ns2:creationId val="3588295322"/>
      </p:ext>
    </p:extLst>
  </p:cSld>
  <p:clrMapOvr>
    <a:masterClrMapping/>
  </p:clrMapOvr>
</p:sld>
</file>

<file path=ppt/slides/slide20.xml><?xml version="1.0" encoding="utf-8"?>
<p:sld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Título"/>
          <p:cNvSpPr txBox="1"/>
          <p:nvPr/>
        </p:nvSpPr>
        <p:spPr>
          <a:xfrm>
            <a:off x="838200" y="673100"/>
            <a:ext cx="10668000" cy="1016000"/>
          </a:xfrm>
          <a:prstGeom prst="rect">
            <a:avLst/>
          </a:prstGeom>
          <a:noFill/>
          <a:ln>
            <a:noFill/>
          </a:ln>
        </p:spPr>
        <p:txBody>
          <a:bodyPr wrap="square" lIns="0" tIns="0" rIns="0" bIns="0" anchor="t">
            <a:noAutofit/>
          </a:bodyPr>
          <a:lstStyle/>
          <a:p>
            <a:pPr algn="l" marL="0" indent="0">
              <a:lnSpc>
                <a:spcPct val="110000"/>
              </a:lnSpc>
              <a:buNone/>
            </a:pPr>
            <a:r>
              <a:rPr lang="es-MX" sz="3200" b="1">
                <a:solidFill>
                  <a:srgbClr val="25204E"/>
                </a:solidFill>
                <a:latin typeface="Arial"/>
              </a:rPr>
              <a:t>Lecturas e imágenes</a:t>
            </a:r>
          </a:p>
        </p:txBody>
      </p:sp>
      <p:sp>
        <p:nvSpPr>
          <p:cNvPr id="10" name="Texto"/>
          <p:cNvSpPr txBox="1"/>
          <p:nvPr/>
        </p:nvSpPr>
        <p:spPr>
          <a:xfrm>
            <a:off x="838200" y="1803400"/>
            <a:ext cx="7620000" cy="508000"/>
          </a:xfrm>
          <a:prstGeom prst="rect">
            <a:avLst/>
          </a:prstGeom>
          <a:noFill/>
          <a:ln>
            <a:noFill/>
          </a:ln>
        </p:spPr>
        <p:txBody>
          <a:bodyPr wrap="square" lIns="0" tIns="0" rIns="0" bIns="0" anchor="t">
            <a:noAutofit/>
          </a:bodyPr>
          <a:lstStyle/>
          <a:p>
            <a:pPr algn="l" marL="0" indent="0">
              <a:lnSpc>
                <a:spcPct val="110000"/>
              </a:lnSpc>
              <a:buNone/>
            </a:pPr>
            <a:r>
              <a:rPr lang="es-MX" sz="2900" b="1">
                <a:solidFill>
                  <a:srgbClr val="25204E"/>
                </a:solidFill>
                <a:latin typeface="Arial"/>
              </a:rPr>
              <a:t>Nathaniel Schutta y Dan Vega</a:t>
            </a:r>
          </a:p>
        </p:txBody>
      </p:sp>
      <p:sp>
        <p:nvSpPr>
          <p:cNvPr id="11" name="Texto"/>
          <p:cNvSpPr txBox="1"/>
          <p:nvPr/>
        </p:nvSpPr>
        <p:spPr>
          <a:xfrm>
            <a:off x="838200" y="2501900"/>
            <a:ext cx="8890000" cy="1041400"/>
          </a:xfrm>
          <a:prstGeom prst="rect">
            <a:avLst/>
          </a:prstGeom>
          <a:noFill/>
          <a:ln>
            <a:noFill/>
          </a:ln>
        </p:spPr>
        <p:txBody>
          <a:bodyPr wrap="square" lIns="0" tIns="0" rIns="0" bIns="0" anchor="t">
            <a:noAutofit/>
          </a:bodyPr>
          <a:lstStyle/>
          <a:p>
            <a:pPr algn="l" marL="0" indent="0">
              <a:lnSpc>
                <a:spcPct val="110000"/>
              </a:lnSpc>
              <a:buNone/>
            </a:pPr>
            <a:r>
              <a:rPr lang="es-MX" sz="2600" b="0">
                <a:solidFill>
                  <a:srgbClr val="18213A"/>
                </a:solidFill>
                <a:latin typeface="Arial"/>
              </a:rPr>
              <a:t>Fundamentos de la ingeniería de software</a:t>
            </a:r>
          </a:p>
          <a:p>
            <a:pPr algn="l" marL="0" indent="0">
              <a:lnSpc>
                <a:spcPct val="110000"/>
              </a:lnSpc>
              <a:buNone/>
            </a:pPr>
            <a:r>
              <a:rPr lang="es-MX" sz="2600" b="0">
                <a:solidFill>
                  <a:srgbClr val="18213A"/>
                </a:solidFill>
                <a:latin typeface="Arial"/>
              </a:rPr>
              <a:t>O’Reilly, 2026. Prefacio y capítulos 1 al 5.</a:t>
            </a:r>
          </a:p>
        </p:txBody>
      </p:sp>
      <p:sp>
        <p:nvSpPr>
          <p:cNvPr id="12" name="Texto"/>
          <p:cNvSpPr txBox="1"/>
          <p:nvPr/>
        </p:nvSpPr>
        <p:spPr>
          <a:xfrm>
            <a:off x="838200" y="3962400"/>
            <a:ext cx="4572000" cy="444500"/>
          </a:xfrm>
          <a:prstGeom prst="rect">
            <a:avLst/>
          </a:prstGeom>
          <a:noFill/>
          <a:ln>
            <a:noFill/>
          </a:ln>
        </p:spPr>
        <p:txBody>
          <a:bodyPr wrap="square" lIns="0" tIns="0" rIns="0" bIns="0" anchor="t">
            <a:noAutofit/>
          </a:bodyPr>
          <a:lstStyle/>
          <a:p>
            <a:pPr algn="l" marL="0" indent="0">
              <a:lnSpc>
                <a:spcPct val="110000"/>
              </a:lnSpc>
              <a:buNone/>
            </a:pPr>
            <a:r>
              <a:rPr lang="es-MX" sz="2300" b="1">
                <a:solidFill>
                  <a:srgbClr val="00AEEF"/>
                </a:solidFill>
                <a:latin typeface="Arial"/>
              </a:rPr>
              <a:t>Figuras del libro</a:t>
            </a:r>
          </a:p>
        </p:txBody>
      </p:sp>
      <p:sp>
        <p:nvSpPr>
          <p:cNvPr id="13" name="Texto"/>
          <p:cNvSpPr txBox="1"/>
          <p:nvPr/>
        </p:nvSpPr>
        <p:spPr>
          <a:xfrm>
            <a:off x="838200" y="4546600"/>
            <a:ext cx="4826000" cy="1016000"/>
          </a:xfrm>
          <a:prstGeom prst="rect">
            <a:avLst/>
          </a:prstGeom>
          <a:noFill/>
          <a:ln>
            <a:noFill/>
          </a:ln>
        </p:spPr>
        <p:txBody>
          <a:bodyPr wrap="square" lIns="0" tIns="0" rIns="0" bIns="0" anchor="t">
            <a:noAutofit/>
          </a:bodyPr>
          <a:lstStyle/>
          <a:p>
            <a:pPr algn="l" marL="0" indent="0">
              <a:lnSpc>
                <a:spcPct val="110000"/>
              </a:lnSpc>
              <a:buNone/>
            </a:pPr>
            <a:r>
              <a:rPr lang="es-MX" sz="2000" b="0">
                <a:solidFill>
                  <a:srgbClr val="18213A"/>
                </a:solidFill>
                <a:latin typeface="Arial"/>
              </a:rPr>
              <a:t>P-1, 2-2, 2-12, 4-2, 4-5 y 5-1.</a:t>
            </a:r>
          </a:p>
          <a:p>
            <a:pPr algn="l" marL="0" indent="0">
              <a:lnSpc>
                <a:spcPct val="110000"/>
              </a:lnSpc>
              <a:buNone/>
            </a:pPr>
            <a:r>
              <a:rPr lang="es-MX" sz="2000" b="0">
                <a:solidFill>
                  <a:srgbClr val="18213A"/>
                </a:solidFill>
                <a:latin typeface="Arial"/>
              </a:rPr>
              <a:t>Edición suministrada por el expositor.</a:t>
            </a:r>
          </a:p>
        </p:txBody>
      </p:sp>
      <p:sp>
        <p:nvSpPr>
          <p:cNvPr id="14" name="Texto"/>
          <p:cNvSpPr txBox="1"/>
          <p:nvPr/>
        </p:nvSpPr>
        <p:spPr>
          <a:xfrm>
            <a:off x="6477000" y="3962400"/>
            <a:ext cx="4953000" cy="444500"/>
          </a:xfrm>
          <a:prstGeom prst="rect">
            <a:avLst/>
          </a:prstGeom>
          <a:noFill/>
          <a:ln>
            <a:noFill/>
          </a:ln>
        </p:spPr>
        <p:txBody>
          <a:bodyPr wrap="square" lIns="0" tIns="0" rIns="0" bIns="0" anchor="t">
            <a:noAutofit/>
          </a:bodyPr>
          <a:lstStyle/>
          <a:p>
            <a:pPr algn="l" marL="0" indent="0">
              <a:lnSpc>
                <a:spcPct val="110000"/>
              </a:lnSpc>
              <a:buNone/>
            </a:pPr>
            <a:r>
              <a:rPr lang="es-MX" sz="2300" b="1">
                <a:solidFill>
                  <a:srgbClr val="00AEEF"/>
                </a:solidFill>
                <a:latin typeface="Arial"/>
              </a:rPr>
              <a:t>Imágenes de herramientas</a:t>
            </a:r>
          </a:p>
        </p:txBody>
      </p:sp>
      <p:sp>
        <p:nvSpPr>
          <p:cNvPr id="15" name="Texto"/>
          <p:cNvSpPr txBox="1"/>
          <p:nvPr/>
        </p:nvSpPr>
        <p:spPr>
          <a:xfrm>
            <a:off x="6477000" y="4546600"/>
            <a:ext cx="4953000" cy="1270000"/>
          </a:xfrm>
          <a:prstGeom prst="rect">
            <a:avLst/>
          </a:prstGeom>
          <a:noFill/>
          <a:ln>
            <a:noFill/>
          </a:ln>
        </p:spPr>
        <p:txBody>
          <a:bodyPr wrap="square" lIns="0" tIns="0" rIns="0" bIns="0" anchor="t">
            <a:noAutofit/>
          </a:bodyPr>
          <a:lstStyle/>
          <a:p>
            <a:pPr algn="l" marL="0" indent="0">
              <a:lnSpc>
                <a:spcPct val="110000"/>
              </a:lnSpc>
              <a:buNone/>
            </a:pPr>
            <a:r>
              <a:rPr lang="es-MX" sz="2000" b="0">
                <a:solidFill>
                  <a:srgbClr val="18213A"/>
                </a:solidFill>
                <a:latin typeface="Arial"/>
              </a:rPr>
              <a:t>Repositorios oficiales de Anthropic,</a:t>
            </a:r>
          </a:p>
          <a:p>
            <a:pPr algn="l" marL="0" indent="0">
              <a:lnSpc>
                <a:spcPct val="110000"/>
              </a:lnSpc>
              <a:buNone/>
            </a:pPr>
            <a:r>
              <a:rPr lang="es-MX" sz="2000" b="0">
                <a:solidFill>
                  <a:srgbClr val="18213A"/>
                </a:solidFill>
                <a:latin typeface="Arial"/>
              </a:rPr>
              <a:t>OpenAI y JetBrains. Sitio de JUnit.</a:t>
            </a:r>
          </a:p>
          <a:p>
            <a:pPr algn="l" marL="0" indent="0">
              <a:lnSpc>
                <a:spcPct val="110000"/>
              </a:lnSpc>
              <a:buNone/>
            </a:pPr>
            <a:r>
              <a:rPr lang="es-MX" sz="2000" b="0">
                <a:solidFill>
                  <a:srgbClr val="18213A"/>
                </a:solidFill>
                <a:latin typeface="Arial"/>
              </a:rPr>
              <a:t>Enlaces completos en las notas.</a:t>
            </a:r>
          </a:p>
        </p:txBody>
      </p:sp>
      <p:sp>
        <p:nvSpPr>
          <p:cNvPr id="500" name="Fuente y sección"/>
          <p:cNvSpPr txBox="1"/>
          <p:nvPr/>
        </p:nvSpPr>
        <p:spPr>
          <a:xfrm>
            <a:off x="838200" y="6553200"/>
            <a:ext cx="9271000" cy="228600"/>
          </a:xfrm>
          <a:prstGeom prst="rect">
            <a:avLst/>
          </a:prstGeom>
          <a:noFill/>
          <a:ln>
            <a:noFill/>
          </a:ln>
        </p:spPr>
        <p:txBody>
          <a:bodyPr wrap="square" lIns="0" tIns="0" rIns="0" bIns="0" anchor="t">
            <a:noAutofit/>
          </a:bodyPr>
          <a:lstStyle/>
          <a:p>
            <a:pPr algn="l" marL="0" indent="0">
              <a:lnSpc>
                <a:spcPct val="110000"/>
              </a:lnSpc>
              <a:buNone/>
            </a:pPr>
            <a:r>
              <a:rPr lang="es-MX" sz="1100" b="0">
                <a:solidFill>
                  <a:srgbClr val="FFFFFF"/>
                </a:solidFill>
                <a:latin typeface="Arial"/>
              </a:rPr>
              <a:t>Fuentes de la presentación</a:t>
            </a:r>
          </a:p>
        </p:txBody>
      </p:sp>
      <p:sp>
        <p:nvSpPr>
          <p:cNvPr id="501" name="Número de diapositiva"/>
          <p:cNvSpPr txBox="1"/>
          <p:nvPr/>
        </p:nvSpPr>
        <p:spPr>
          <a:xfrm>
            <a:off x="10795000" y="6540500"/>
            <a:ext cx="508000" cy="228600"/>
          </a:xfrm>
          <a:prstGeom prst="rect">
            <a:avLst/>
          </a:prstGeom>
          <a:noFill/>
          <a:ln>
            <a:noFill/>
          </a:ln>
        </p:spPr>
        <p:txBody>
          <a:bodyPr wrap="square" lIns="0" tIns="0" rIns="0" bIns="0" anchor="t">
            <a:noAutofit/>
          </a:bodyPr>
          <a:lstStyle/>
          <a:p>
            <a:pPr algn="r" marL="0" indent="0">
              <a:lnSpc>
                <a:spcPct val="110000"/>
              </a:lnSpc>
              <a:buNone/>
            </a:pPr>
            <a:r>
              <a:rPr lang="es-MX" sz="1100" b="0">
                <a:solidFill>
                  <a:srgbClr val="FFFFFF"/>
                </a:solidFill>
                <a:latin typeface="Arial"/>
              </a:rPr>
              <a:t>20</a:t>
            </a:r>
          </a:p>
        </p:txBody>
      </p:sp>
    </p:spTree>
    <p:extLst>
      <p:ext uri="{BB962C8B-B14F-4D97-AF65-F5344CB8AC3E}">
        <ns2:creationId val="358829532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d_de_SW1" id="{70172473-D669-2748-9941-802B32E6B5A8}" vid="{226BE898-9EFA-6B49-A64C-34C8CBF11AD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9BDC2F062B49834E8B8BCC5230D5C0EA" ma:contentTypeVersion="10" ma:contentTypeDescription="Crear nuevo documento." ma:contentTypeScope="" ma:versionID="73c7217403446f5389f8b3300fe2413b">
  <xsd:schema xmlns:xsd="http://www.w3.org/2001/XMLSchema" xmlns:xs="http://www.w3.org/2001/XMLSchema" xmlns:p="http://schemas.microsoft.com/office/2006/metadata/properties" xmlns:ns2="5f406d5f-c1fb-4a01-8703-3099957becfb" xmlns:ns3="1ebf2b9e-c698-469b-9638-bb9cb53ee4c8" targetNamespace="http://schemas.microsoft.com/office/2006/metadata/properties" ma:root="true" ma:fieldsID="68e41afb6e273e62e6f6f11e123b56ed" ns2:_="" ns3:_="">
    <xsd:import namespace="5f406d5f-c1fb-4a01-8703-3099957becfb"/>
    <xsd:import namespace="1ebf2b9e-c698-469b-9638-bb9cb53ee4c8"/>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SearchProperties" minOccurs="0"/>
                <xsd:element ref="ns3:lcf76f155ced4ddcb4097134ff3c332f" minOccurs="0"/>
                <xsd:element ref="ns2:TaxCatchAll" minOccurs="0"/>
                <xsd:element ref="ns3:MediaServiceDateTaken"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406d5f-c1fb-4a01-8703-3099957becfb" elementFormDefault="qualified">
    <xsd:import namespace="http://schemas.microsoft.com/office/2006/documentManagement/types"/>
    <xsd:import namespace="http://schemas.microsoft.com/office/infopath/2007/PartnerControls"/>
    <xsd:element name="_dlc_DocId" ma:index="8" nillable="true" ma:displayName="Valor de Id. de documento" ma:description="El valor del identificador de documento asignado a este elemento." ma:indexed="true" ma:internalName="_dlc_DocId" ma:readOnly="true">
      <xsd:simpleType>
        <xsd:restriction base="dms:Text"/>
      </xsd:simpleType>
    </xsd:element>
    <xsd:element name="_dlc_DocIdUrl" ma:index="9" nillable="true" ma:displayName="Id. de documento" ma:description="Vínculo permanente a este documento."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Identificador persistente" ma:description="Mantener el identificador al agregar." ma:hidden="true" ma:internalName="_dlc_DocIdPersistId" ma:readOnly="true">
      <xsd:simpleType>
        <xsd:restriction base="dms:Boolean"/>
      </xsd:simpleType>
    </xsd:element>
    <xsd:element name="TaxCatchAll" ma:index="16" nillable="true" ma:displayName="Taxonomy Catch All Column" ma:hidden="true" ma:list="{1b72d325-b510-43b3-bec4-48772d632db7}" ma:internalName="TaxCatchAll" ma:showField="CatchAllData" ma:web="5f406d5f-c1fb-4a01-8703-3099957becf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1ebf2b9e-c698-469b-9638-bb9cb53ee4c8"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lcf76f155ced4ddcb4097134ff3c332f" ma:index="15" nillable="true" ma:taxonomy="true" ma:internalName="lcf76f155ced4ddcb4097134ff3c332f" ma:taxonomyFieldName="MediaServiceImageTags" ma:displayName="Etiquetas de imagen" ma:readOnly="false" ma:fieldId="{5cf76f15-5ced-4ddc-b409-7134ff3c332f}" ma:taxonomyMulti="true" ma:sspId="72911d82-c88e-48a9-ac58-a3444eab15c5"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ct:contentTypeSchema xmlns:ct="http://schemas.microsoft.com/office/2006/metadata/contentType" xmlns:ma="http://schemas.microsoft.com/office/2006/metadata/properties/metaAttributes" ct:_="" ma:_="" ma:contentTypeName="Documento" ma:contentTypeID="0x010100656A2565A1489141919311EEE87BCDE0" ma:contentTypeVersion="3" ma:contentTypeDescription="Crear nuevo documento." ma:contentTypeScope="" ma:versionID="3c8a2ccc2882e8260dbec157902a4fad">
  <xsd:schema xmlns:xsd="http://www.w3.org/2001/XMLSchema" xmlns:xs="http://www.w3.org/2001/XMLSchema" xmlns:p="http://schemas.microsoft.com/office/2006/metadata/properties" xmlns:ns2="6efdf0d8-1505-4cf1-99ee-ba322a624065" targetNamespace="http://schemas.microsoft.com/office/2006/metadata/properties" ma:root="true" ma:fieldsID="9408b1b10120f37f2c44f3671a84b6bb" ns2:_="">
    <xsd:import namespace="6efdf0d8-1505-4cf1-99ee-ba322a624065"/>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fdf0d8-1505-4cf1-99ee-ba322a62406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E081AC4-8E8A-46B0-92E9-3A99E46DBA27}"/>
</file>

<file path=customXml/itemProps2.xml><?xml version="1.0" encoding="utf-8"?>
<ds:datastoreItem xmlns:ds="http://schemas.openxmlformats.org/officeDocument/2006/customXml" ds:itemID="{19336C9A-15F5-4F89-94FB-76BA94F2F15E}"/>
</file>

<file path=customXml/itemProps3.xml><?xml version="1.0" encoding="utf-8"?>
<ds:datastoreItem xmlns:ds="http://schemas.openxmlformats.org/officeDocument/2006/customXml" ds:itemID="{EF35E50E-8F65-415E-94AF-9E6516FD172A}">
  <ds:schemaRefs>
    <ds:schemaRef ds:uri="http://schemas.microsoft.com/sharepoint/v3/contenttype/forms"/>
  </ds:schemaRefs>
</ds:datastoreItem>
</file>

<file path=customXml/itemProps4.xml><?xml version="1.0" encoding="utf-8"?>
<ds:datastoreItem xmlns:ds="http://schemas.openxmlformats.org/officeDocument/2006/customXml" ds:itemID="{287F3AC1-ED53-46E9-9623-9D5364320D75}">
  <ds:schemaRefs>
    <ds:schemaRef ds:uri="http://schemas.microsoft.com/office/2006/metadata/properties"/>
    <ds:schemaRef ds:uri="http://schemas.microsoft.com/office/infopath/2007/PartnerControls"/>
    <ds:schemaRef ds:uri="5f406d5f-c1fb-4a01-8703-3099957becfb"/>
    <ds:schemaRef ds:uri="1ebf2b9e-c698-469b-9638-bb9cb53ee4c8"/>
  </ds:schemaRefs>
</ds:datastoreItem>
</file>

<file path=docProps/app.xml><?xml version="1.0" encoding="utf-8"?>
<ns0:Properties xmlns:ns0="http://schemas.openxmlformats.org/officeDocument/2006/extended-properties" xmlns:ns1="http://schemas.openxmlformats.org/officeDocument/2006/docPropsVTypes">
  <ns0:Template>Tema de Office</ns0:Template>
  <ns0:TotalTime>20</ns0:TotalTime>
  <ns0:Words>278</ns0:Words>
  <ns0:Application>Microsoft Office PowerPoint</ns0:Application>
  <ns0:PresentationFormat>Panorámica</ns0:PresentationFormat>
  <ns0:Paragraphs>36</ns0:Paragraphs>
  <ns0:Slides>20</ns0:Slides>
  <ns0:Notes>0</ns0:Notes>
  <ns0:HiddenSlides>0</ns0:HiddenSlides>
  <ns0:MMClips>0</ns0:MMClips>
  <ns0:ScaleCrop>false</ns0:ScaleCrop>
  <ns0:HeadingPairs>
    <ns1:vector size="6" baseType="variant">
      <ns1:variant>
        <ns1:lpstr>Fuentes usadas</ns1:lpstr>
      </ns1:variant>
      <ns1:variant>
        <ns1:i4>4</ns1:i4>
      </ns1:variant>
      <ns1:variant>
        <ns1:lpstr>Tema</ns1:lpstr>
      </ns1:variant>
      <ns1:variant>
        <ns1:i4>1</ns1:i4>
      </ns1:variant>
      <ns1:variant>
        <ns1:lpstr>Títulos de diapositiva</ns1:lpstr>
      </ns1:variant>
      <ns1:variant>
        <ns1:i4>8</ns1:i4>
      </ns1:variant>
    </ns1:vector>
  </ns0:HeadingPairs>
  <ns0:TitlesOfParts>
    <ns1:vector size="13" baseType="lpstr">
      <ns1:lpstr>Arial</ns1:lpstr>
      <ns1:lpstr>Calibri</ns1:lpstr>
      <ns1:lpstr>Montserrat</ns1:lpstr>
      <ns1:lpstr>R-Flex Black</ns1:lpstr>
      <ns1:lpstr>Tema de Office</ns1:lpstr>
      <ns1:lpstr>Título de la monografía </ns1:lpstr>
      <ns1:lpstr>Introducción </ns1:lpstr>
      <ns1:lpstr>Antecedentes</ns1:lpstr>
      <ns1:lpstr>Objetivo </ns1:lpstr>
      <ns1:lpstr>Problemáticas </ns1:lpstr>
      <ns1:lpstr>Justificación </ns1:lpstr>
      <ns1:lpstr>Información adicional </ns1:lpstr>
      <ns1:lpstr>Título de la monografía </ns1:lpstr>
    </ns1:vector>
  </ns0:TitlesOfParts>
  <ns0:Company/>
  <ns0:LinksUpToDate>false</ns0:LinksUpToDate>
  <ns0:SharedDoc>false</ns0:SharedDoc>
  <ns0:HyperlinksChanged>false</ns0:HyperlinksChanged>
  <ns0:AppVersion>16.0000</ns0:AppVersion>
</ns0:Properties>
</file>

<file path=docProps/core.xml><?xml version="1.0" encoding="utf-8"?>
<ns0:coreProperties xmlns:dc="http://purl.org/dc/elements/1.1/" xmlns:ns0="http://schemas.openxmlformats.org/package/2006/metadata/core-properties" xmlns:ns2="http://purl.org/dc/terms/" xmlns:xsi="http://www.w3.org/2001/XMLSchema-instance">
  <dc:title>Aprender ingeniería en la era de la IA</dc:title>
  <dc:creator>Fernando</dc:creator>
  <ns0:lastModifiedBy>Paulina Isabel Carrillo Espadas</ns0:lastModifiedBy>
  <ns0:revision>5</ns0:revision>
  <ns2:created xsi:type="dcterms:W3CDTF">2023-09-03T22:38:37Z</ns2:created>
  <ns2:modified xsi:type="dcterms:W3CDTF">2025-11-19T14:29:28Z</ns2:modified>
</ns0: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0x010100656A2565A1489141919311EEE87BCDE0</vt:lpwstr>
  </property>
  <property fmtid="{D5CDD505-2E9C-101B-9397-08002B2CF9AE}" pid="3" name="_dlc_DocIdItemGuid">
    <vt:lpwstr>ce766c73-8f77-4b88-a020-d4c3c39a56ae</vt:lpwstr>
  </property>
  <property fmtid="{D5CDD505-2E9C-101B-9397-08002B2CF9AE}" pid="4" name="MediaServiceImageTags">
    <vt:lpwstr/>
  </property>
</Properties>
</file>